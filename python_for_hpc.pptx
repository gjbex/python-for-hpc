
<file path=[Content_Types].xml><?xml version="1.0" encoding="utf-8"?>
<Types xmlns="http://schemas.openxmlformats.org/package/2006/content-types">
  <Default Extension="bin" ContentType="application/vnd.openxmlformats-officedocument.oleObject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6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34"/>
  </p:notesMasterIdLst>
  <p:sldIdLst>
    <p:sldId id="256" r:id="rId2"/>
    <p:sldId id="467" r:id="rId3"/>
    <p:sldId id="475" r:id="rId4"/>
    <p:sldId id="468" r:id="rId5"/>
    <p:sldId id="469" r:id="rId6"/>
    <p:sldId id="259" r:id="rId7"/>
    <p:sldId id="358" r:id="rId8"/>
    <p:sldId id="359" r:id="rId9"/>
    <p:sldId id="360" r:id="rId10"/>
    <p:sldId id="361" r:id="rId11"/>
    <p:sldId id="439" r:id="rId12"/>
    <p:sldId id="257" r:id="rId13"/>
    <p:sldId id="464" r:id="rId14"/>
    <p:sldId id="465" r:id="rId15"/>
    <p:sldId id="466" r:id="rId16"/>
    <p:sldId id="362" r:id="rId17"/>
    <p:sldId id="363" r:id="rId18"/>
    <p:sldId id="364" r:id="rId19"/>
    <p:sldId id="365" r:id="rId20"/>
    <p:sldId id="366" r:id="rId21"/>
    <p:sldId id="423" r:id="rId22"/>
    <p:sldId id="422" r:id="rId23"/>
    <p:sldId id="430" r:id="rId24"/>
    <p:sldId id="452" r:id="rId25"/>
    <p:sldId id="454" r:id="rId26"/>
    <p:sldId id="455" r:id="rId27"/>
    <p:sldId id="456" r:id="rId28"/>
    <p:sldId id="457" r:id="rId29"/>
    <p:sldId id="458" r:id="rId30"/>
    <p:sldId id="459" r:id="rId31"/>
    <p:sldId id="460" r:id="rId32"/>
    <p:sldId id="462" r:id="rId33"/>
    <p:sldId id="463" r:id="rId34"/>
    <p:sldId id="461" r:id="rId35"/>
    <p:sldId id="367" r:id="rId36"/>
    <p:sldId id="370" r:id="rId37"/>
    <p:sldId id="371" r:id="rId38"/>
    <p:sldId id="372" r:id="rId39"/>
    <p:sldId id="373" r:id="rId40"/>
    <p:sldId id="476" r:id="rId41"/>
    <p:sldId id="425" r:id="rId42"/>
    <p:sldId id="426" r:id="rId43"/>
    <p:sldId id="427" r:id="rId44"/>
    <p:sldId id="477" r:id="rId45"/>
    <p:sldId id="375" r:id="rId46"/>
    <p:sldId id="376" r:id="rId47"/>
    <p:sldId id="377" r:id="rId48"/>
    <p:sldId id="478" r:id="rId49"/>
    <p:sldId id="378" r:id="rId50"/>
    <p:sldId id="479" r:id="rId51"/>
    <p:sldId id="379" r:id="rId52"/>
    <p:sldId id="480" r:id="rId53"/>
    <p:sldId id="380" r:id="rId54"/>
    <p:sldId id="381" r:id="rId55"/>
    <p:sldId id="382" r:id="rId56"/>
    <p:sldId id="384" r:id="rId57"/>
    <p:sldId id="481" r:id="rId58"/>
    <p:sldId id="385" r:id="rId59"/>
    <p:sldId id="483" r:id="rId60"/>
    <p:sldId id="386" r:id="rId61"/>
    <p:sldId id="482" r:id="rId62"/>
    <p:sldId id="387" r:id="rId63"/>
    <p:sldId id="388" r:id="rId64"/>
    <p:sldId id="484" r:id="rId65"/>
    <p:sldId id="389" r:id="rId66"/>
    <p:sldId id="485" r:id="rId67"/>
    <p:sldId id="390" r:id="rId68"/>
    <p:sldId id="391" r:id="rId69"/>
    <p:sldId id="392" r:id="rId70"/>
    <p:sldId id="434" r:id="rId71"/>
    <p:sldId id="432" r:id="rId72"/>
    <p:sldId id="433" r:id="rId73"/>
    <p:sldId id="438" r:id="rId74"/>
    <p:sldId id="435" r:id="rId75"/>
    <p:sldId id="436" r:id="rId76"/>
    <p:sldId id="437" r:id="rId77"/>
    <p:sldId id="394" r:id="rId78"/>
    <p:sldId id="395" r:id="rId79"/>
    <p:sldId id="397" r:id="rId80"/>
    <p:sldId id="398" r:id="rId81"/>
    <p:sldId id="260" r:id="rId82"/>
    <p:sldId id="261" r:id="rId83"/>
    <p:sldId id="262" r:id="rId84"/>
    <p:sldId id="263" r:id="rId85"/>
    <p:sldId id="264" r:id="rId86"/>
    <p:sldId id="265" r:id="rId87"/>
    <p:sldId id="266" r:id="rId88"/>
    <p:sldId id="267" r:id="rId89"/>
    <p:sldId id="268" r:id="rId90"/>
    <p:sldId id="269" r:id="rId91"/>
    <p:sldId id="270" r:id="rId92"/>
    <p:sldId id="271" r:id="rId93"/>
    <p:sldId id="272" r:id="rId94"/>
    <p:sldId id="273" r:id="rId95"/>
    <p:sldId id="274" r:id="rId96"/>
    <p:sldId id="275" r:id="rId97"/>
    <p:sldId id="276" r:id="rId98"/>
    <p:sldId id="277" r:id="rId99"/>
    <p:sldId id="278" r:id="rId100"/>
    <p:sldId id="279" r:id="rId101"/>
    <p:sldId id="280" r:id="rId102"/>
    <p:sldId id="281" r:id="rId103"/>
    <p:sldId id="282" r:id="rId104"/>
    <p:sldId id="283" r:id="rId105"/>
    <p:sldId id="284" r:id="rId106"/>
    <p:sldId id="285" r:id="rId107"/>
    <p:sldId id="487" r:id="rId108"/>
    <p:sldId id="488" r:id="rId109"/>
    <p:sldId id="489" r:id="rId110"/>
    <p:sldId id="491" r:id="rId111"/>
    <p:sldId id="492" r:id="rId112"/>
    <p:sldId id="486" r:id="rId113"/>
    <p:sldId id="286" r:id="rId114"/>
    <p:sldId id="287" r:id="rId115"/>
    <p:sldId id="288" r:id="rId116"/>
    <p:sldId id="289" r:id="rId117"/>
    <p:sldId id="290" r:id="rId118"/>
    <p:sldId id="291" r:id="rId119"/>
    <p:sldId id="428" r:id="rId120"/>
    <p:sldId id="292" r:id="rId121"/>
    <p:sldId id="293" r:id="rId122"/>
    <p:sldId id="294" r:id="rId123"/>
    <p:sldId id="295" r:id="rId124"/>
    <p:sldId id="296" r:id="rId125"/>
    <p:sldId id="297" r:id="rId126"/>
    <p:sldId id="298" r:id="rId127"/>
    <p:sldId id="299" r:id="rId128"/>
    <p:sldId id="300" r:id="rId129"/>
    <p:sldId id="301" r:id="rId130"/>
    <p:sldId id="302" r:id="rId131"/>
    <p:sldId id="303" r:id="rId132"/>
    <p:sldId id="304" r:id="rId133"/>
    <p:sldId id="305" r:id="rId134"/>
    <p:sldId id="306" r:id="rId135"/>
    <p:sldId id="307" r:id="rId136"/>
    <p:sldId id="308" r:id="rId137"/>
    <p:sldId id="470" r:id="rId138"/>
    <p:sldId id="471" r:id="rId139"/>
    <p:sldId id="472" r:id="rId140"/>
    <p:sldId id="473" r:id="rId141"/>
    <p:sldId id="474" r:id="rId142"/>
    <p:sldId id="309" r:id="rId143"/>
    <p:sldId id="310" r:id="rId144"/>
    <p:sldId id="311" r:id="rId145"/>
    <p:sldId id="312" r:id="rId146"/>
    <p:sldId id="314" r:id="rId147"/>
    <p:sldId id="440" r:id="rId148"/>
    <p:sldId id="441" r:id="rId149"/>
    <p:sldId id="442" r:id="rId150"/>
    <p:sldId id="443" r:id="rId151"/>
    <p:sldId id="444" r:id="rId152"/>
    <p:sldId id="445" r:id="rId153"/>
    <p:sldId id="446" r:id="rId154"/>
    <p:sldId id="447" r:id="rId155"/>
    <p:sldId id="448" r:id="rId156"/>
    <p:sldId id="449" r:id="rId157"/>
    <p:sldId id="450" r:id="rId158"/>
    <p:sldId id="451" r:id="rId159"/>
    <p:sldId id="315" r:id="rId160"/>
    <p:sldId id="317" r:id="rId161"/>
    <p:sldId id="318" r:id="rId162"/>
    <p:sldId id="319" r:id="rId163"/>
    <p:sldId id="320" r:id="rId164"/>
    <p:sldId id="321" r:id="rId165"/>
    <p:sldId id="323" r:id="rId166"/>
    <p:sldId id="324" r:id="rId167"/>
    <p:sldId id="325" r:id="rId168"/>
    <p:sldId id="327" r:id="rId169"/>
    <p:sldId id="328" r:id="rId170"/>
    <p:sldId id="329" r:id="rId171"/>
    <p:sldId id="330" r:id="rId172"/>
    <p:sldId id="331" r:id="rId173"/>
    <p:sldId id="332" r:id="rId174"/>
    <p:sldId id="333" r:id="rId175"/>
    <p:sldId id="334" r:id="rId176"/>
    <p:sldId id="335" r:id="rId177"/>
    <p:sldId id="336" r:id="rId178"/>
    <p:sldId id="337" r:id="rId179"/>
    <p:sldId id="338" r:id="rId180"/>
    <p:sldId id="339" r:id="rId181"/>
    <p:sldId id="341" r:id="rId182"/>
    <p:sldId id="342" r:id="rId183"/>
    <p:sldId id="343" r:id="rId184"/>
    <p:sldId id="344" r:id="rId185"/>
    <p:sldId id="346" r:id="rId186"/>
    <p:sldId id="347" r:id="rId187"/>
    <p:sldId id="348" r:id="rId188"/>
    <p:sldId id="349" r:id="rId189"/>
    <p:sldId id="350" r:id="rId190"/>
    <p:sldId id="352" r:id="rId191"/>
    <p:sldId id="353" r:id="rId192"/>
    <p:sldId id="355" r:id="rId193"/>
    <p:sldId id="356" r:id="rId194"/>
    <p:sldId id="357" r:id="rId195"/>
    <p:sldId id="399" r:id="rId196"/>
    <p:sldId id="401" r:id="rId197"/>
    <p:sldId id="402" r:id="rId198"/>
    <p:sldId id="403" r:id="rId199"/>
    <p:sldId id="404" r:id="rId200"/>
    <p:sldId id="405" r:id="rId201"/>
    <p:sldId id="407" r:id="rId202"/>
    <p:sldId id="408" r:id="rId203"/>
    <p:sldId id="409" r:id="rId204"/>
    <p:sldId id="410" r:id="rId205"/>
    <p:sldId id="411" r:id="rId206"/>
    <p:sldId id="412" r:id="rId207"/>
    <p:sldId id="414" r:id="rId208"/>
    <p:sldId id="415" r:id="rId209"/>
    <p:sldId id="417" r:id="rId210"/>
    <p:sldId id="418" r:id="rId211"/>
    <p:sldId id="419" r:id="rId212"/>
    <p:sldId id="421" r:id="rId213"/>
    <p:sldId id="429" r:id="rId214"/>
    <p:sldId id="493" r:id="rId215"/>
    <p:sldId id="494" r:id="rId216"/>
    <p:sldId id="506" r:id="rId217"/>
    <p:sldId id="507" r:id="rId218"/>
    <p:sldId id="316" r:id="rId219"/>
    <p:sldId id="496" r:id="rId220"/>
    <p:sldId id="497" r:id="rId221"/>
    <p:sldId id="498" r:id="rId222"/>
    <p:sldId id="499" r:id="rId223"/>
    <p:sldId id="500" r:id="rId224"/>
    <p:sldId id="501" r:id="rId225"/>
    <p:sldId id="354" r:id="rId226"/>
    <p:sldId id="502" r:id="rId227"/>
    <p:sldId id="503" r:id="rId228"/>
    <p:sldId id="504" r:id="rId229"/>
    <p:sldId id="508" r:id="rId230"/>
    <p:sldId id="505" r:id="rId231"/>
    <p:sldId id="509" r:id="rId232"/>
    <p:sldId id="510" r:id="rId233"/>
  </p:sldIdLst>
  <p:sldSz cx="9144000" cy="6858000" type="screen4x3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EE691EC-7CF6-4979-9A6A-9A35B49E4738}">
          <p14:sldIdLst>
            <p14:sldId id="256"/>
            <p14:sldId id="467"/>
            <p14:sldId id="475"/>
            <p14:sldId id="468"/>
            <p14:sldId id="469"/>
          </p14:sldIdLst>
        </p14:section>
        <p14:section name="General considerations" id="{4DDCD02B-A7D5-4A15-927E-BA81421526EF}">
          <p14:sldIdLst>
            <p14:sldId id="259"/>
            <p14:sldId id="358"/>
            <p14:sldId id="359"/>
            <p14:sldId id="360"/>
            <p14:sldId id="361"/>
            <p14:sldId id="439"/>
            <p14:sldId id="257"/>
            <p14:sldId id="464"/>
            <p14:sldId id="465"/>
            <p14:sldId id="466"/>
          </p14:sldIdLst>
        </p14:section>
        <p14:section name="Profiling" id="{28072165-746E-4C3D-BACC-4A387DDE6D5B}">
          <p14:sldIdLst>
            <p14:sldId id="362"/>
            <p14:sldId id="363"/>
            <p14:sldId id="364"/>
            <p14:sldId id="365"/>
            <p14:sldId id="366"/>
            <p14:sldId id="423"/>
            <p14:sldId id="422"/>
            <p14:sldId id="430"/>
          </p14:sldIdLst>
        </p14:section>
        <p14:section name="numba" id="{936FE4C3-7D58-4AE1-90C8-8F1FF9C68E3F}">
          <p14:sldIdLst>
            <p14:sldId id="452"/>
            <p14:sldId id="454"/>
            <p14:sldId id="455"/>
            <p14:sldId id="456"/>
            <p14:sldId id="457"/>
            <p14:sldId id="458"/>
            <p14:sldId id="459"/>
            <p14:sldId id="460"/>
            <p14:sldId id="462"/>
            <p14:sldId id="463"/>
            <p14:sldId id="461"/>
          </p14:sldIdLst>
        </p14:section>
        <p14:section name="Cython" id="{D1604F56-A848-456D-AF37-5CE56D10944E}">
          <p14:sldIdLst>
            <p14:sldId id="367"/>
            <p14:sldId id="370"/>
            <p14:sldId id="371"/>
            <p14:sldId id="372"/>
            <p14:sldId id="373"/>
            <p14:sldId id="476"/>
            <p14:sldId id="425"/>
            <p14:sldId id="426"/>
            <p14:sldId id="427"/>
            <p14:sldId id="477"/>
            <p14:sldId id="375"/>
            <p14:sldId id="376"/>
            <p14:sldId id="377"/>
            <p14:sldId id="478"/>
            <p14:sldId id="378"/>
            <p14:sldId id="479"/>
            <p14:sldId id="379"/>
            <p14:sldId id="480"/>
            <p14:sldId id="380"/>
            <p14:sldId id="381"/>
            <p14:sldId id="382"/>
            <p14:sldId id="384"/>
            <p14:sldId id="481"/>
            <p14:sldId id="385"/>
            <p14:sldId id="483"/>
            <p14:sldId id="386"/>
            <p14:sldId id="482"/>
            <p14:sldId id="387"/>
            <p14:sldId id="388"/>
            <p14:sldId id="484"/>
            <p14:sldId id="389"/>
            <p14:sldId id="485"/>
            <p14:sldId id="390"/>
            <p14:sldId id="391"/>
            <p14:sldId id="392"/>
            <p14:sldId id="434"/>
            <p14:sldId id="432"/>
            <p14:sldId id="433"/>
            <p14:sldId id="438"/>
            <p14:sldId id="435"/>
            <p14:sldId id="436"/>
            <p14:sldId id="437"/>
            <p14:sldId id="394"/>
            <p14:sldId id="395"/>
            <p14:sldId id="397"/>
            <p14:sldId id="398"/>
          </p14:sldIdLst>
        </p14:section>
        <p14:section name="C/C++/Fortran" id="{9003E247-B276-48B1-BE13-CFF27EDEC61B}">
          <p14:sldIdLst>
            <p14:sldId id="260"/>
            <p14:sldId id="261"/>
            <p14:sldId id="262"/>
          </p14:sldIdLst>
        </p14:section>
        <p14:section name="ctypes" id="{D6425959-CD34-4C1C-8285-AE7110288112}">
          <p14:sldIdLst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SWIG" id="{6A49016A-3A18-43BE-AA0C-15FF69A63AB1}">
          <p14:sldIdLst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pybind11" id="{49D6A804-DB66-421D-A09C-66938EBEF6C9}">
          <p14:sldIdLst>
            <p14:sldId id="285"/>
            <p14:sldId id="487"/>
            <p14:sldId id="488"/>
            <p14:sldId id="489"/>
            <p14:sldId id="491"/>
            <p14:sldId id="492"/>
          </p14:sldIdLst>
        </p14:section>
        <p14:section name="f2py" id="{095162A2-C276-4CC2-9306-AB212616D42D}">
          <p14:sldIdLst>
            <p14:sldId id="486"/>
            <p14:sldId id="286"/>
            <p14:sldId id="287"/>
            <p14:sldId id="288"/>
            <p14:sldId id="289"/>
            <p14:sldId id="290"/>
            <p14:sldId id="291"/>
            <p14:sldId id="428"/>
          </p14:sldIdLst>
        </p14:section>
        <p14:section name="Concurrent programming" id="{D3CF6C5A-47F4-4A06-B557-049B5CCFD1DA}">
          <p14:sldIdLst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470"/>
            <p14:sldId id="471"/>
            <p14:sldId id="472"/>
            <p14:sldId id="473"/>
            <p14:sldId id="474"/>
            <p14:sldId id="309"/>
            <p14:sldId id="310"/>
            <p14:sldId id="311"/>
            <p14:sldId id="312"/>
            <p14:sldId id="314"/>
          </p14:sldIdLst>
        </p14:section>
        <p14:section name="Dask" id="{099061A2-4121-4D7D-B1B3-2EF39C3AFEB0}">
          <p14:sldIdLst>
            <p14:sldId id="440"/>
            <p14:sldId id="441"/>
            <p14:sldId id="442"/>
            <p14:sldId id="443"/>
            <p14:sldId id="444"/>
            <p14:sldId id="445"/>
            <p14:sldId id="446"/>
            <p14:sldId id="447"/>
            <p14:sldId id="448"/>
            <p14:sldId id="449"/>
            <p14:sldId id="450"/>
            <p14:sldId id="451"/>
          </p14:sldIdLst>
        </p14:section>
        <p14:section name="Distributed programming" id="{F70DB4E6-899A-45C6-8FD7-74023C38F037}">
          <p14:sldIdLst>
            <p14:sldId id="315"/>
            <p14:sldId id="317"/>
            <p14:sldId id="318"/>
            <p14:sldId id="319"/>
            <p14:sldId id="320"/>
            <p14:sldId id="321"/>
            <p14:sldId id="323"/>
            <p14:sldId id="324"/>
            <p14:sldId id="325"/>
            <p14:sldId id="327"/>
            <p14:sldId id="328"/>
            <p14:sldId id="329"/>
            <p14:sldId id="330"/>
            <p14:sldId id="331"/>
            <p14:sldId id="332"/>
            <p14:sldId id="333"/>
            <p14:sldId id="334"/>
            <p14:sldId id="335"/>
            <p14:sldId id="336"/>
            <p14:sldId id="337"/>
            <p14:sldId id="338"/>
            <p14:sldId id="339"/>
            <p14:sldId id="341"/>
            <p14:sldId id="342"/>
            <p14:sldId id="343"/>
            <p14:sldId id="344"/>
            <p14:sldId id="346"/>
            <p14:sldId id="347"/>
            <p14:sldId id="348"/>
            <p14:sldId id="349"/>
            <p14:sldId id="350"/>
            <p14:sldId id="352"/>
            <p14:sldId id="353"/>
            <p14:sldId id="355"/>
            <p14:sldId id="356"/>
            <p14:sldId id="357"/>
          </p14:sldIdLst>
        </p14:section>
        <p14:section name="pyspark" id="{9A49B3CF-1134-4699-B25B-D01D5269622C}">
          <p14:sldIdLst>
            <p14:sldId id="399"/>
            <p14:sldId id="401"/>
            <p14:sldId id="402"/>
            <p14:sldId id="403"/>
            <p14:sldId id="404"/>
            <p14:sldId id="405"/>
            <p14:sldId id="407"/>
            <p14:sldId id="408"/>
            <p14:sldId id="409"/>
            <p14:sldId id="410"/>
            <p14:sldId id="411"/>
            <p14:sldId id="412"/>
            <p14:sldId id="414"/>
            <p14:sldId id="415"/>
            <p14:sldId id="417"/>
            <p14:sldId id="418"/>
            <p14:sldId id="419"/>
            <p14:sldId id="421"/>
            <p14:sldId id="429"/>
            <p14:sldId id="493"/>
            <p14:sldId id="494"/>
            <p14:sldId id="506"/>
            <p14:sldId id="507"/>
            <p14:sldId id="316"/>
            <p14:sldId id="496"/>
            <p14:sldId id="497"/>
            <p14:sldId id="498"/>
            <p14:sldId id="499"/>
            <p14:sldId id="500"/>
            <p14:sldId id="501"/>
            <p14:sldId id="354"/>
            <p14:sldId id="502"/>
            <p14:sldId id="503"/>
            <p14:sldId id="504"/>
            <p14:sldId id="508"/>
            <p14:sldId id="505"/>
            <p14:sldId id="509"/>
            <p14:sldId id="51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39" autoAdjust="0"/>
    <p:restoredTop sz="94660" autoAdjust="0"/>
  </p:normalViewPr>
  <p:slideViewPr>
    <p:cSldViewPr snapToGrid="0">
      <p:cViewPr varScale="1">
        <p:scale>
          <a:sx n="74" d="100"/>
          <a:sy n="74" d="100"/>
        </p:scale>
        <p:origin x="1651" y="28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6492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3920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slide" Target="slides/slide22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37" Type="http://schemas.openxmlformats.org/officeDocument/2006/relationships/theme" Target="theme/theme1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slide" Target="slides/slide226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8" Type="http://schemas.openxmlformats.org/officeDocument/2006/relationships/tableStyles" Target="tableStyles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slide" Target="slides/slide227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slide" Target="slides/slide228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slide" Target="slides/slide229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0" Type="http://schemas.openxmlformats.org/officeDocument/2006/relationships/slide" Target="slides/slide219.xml"/><Relationship Id="rId225" Type="http://schemas.openxmlformats.org/officeDocument/2006/relationships/slide" Target="slides/slide224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36" Type="http://schemas.openxmlformats.org/officeDocument/2006/relationships/viewProps" Target="viewProps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32" Type="http://schemas.openxmlformats.org/officeDocument/2006/relationships/slide" Target="slides/slide231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slide" Target="slides/slide23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presProps" Target="presProps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oleObject" Target="Book1" TargetMode="External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oleObject" Target="Book1" TargetMode="External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oleObject" Target="Book1" TargetMode="External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oleObject" Target="Book1" TargetMode="Externa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C:\Workdir\Book1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file:///Z:\GitHub\Python-for-HPC\source-code\multiprocessing\julia_shmem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Sheet1!$F$1</c:f>
              <c:strCache>
                <c:ptCount val="1"/>
                <c:pt idx="0">
                  <c:v>speedup DGEMM</c:v>
                </c:pt>
              </c:strCache>
            </c:strRef>
          </c:tx>
          <c:xVal>
            <c:numRef>
              <c:f>Sheet1!$A$2:$A$8</c:f>
              <c:numCache>
                <c:formatCode>General</c:formatCode>
                <c:ptCount val="7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10</c:v>
                </c:pt>
                <c:pt idx="5">
                  <c:v>16</c:v>
                </c:pt>
                <c:pt idx="6">
                  <c:v>20</c:v>
                </c:pt>
              </c:numCache>
            </c:numRef>
          </c:xVal>
          <c:yVal>
            <c:numRef>
              <c:f>Sheet1!$F$2:$F$8</c:f>
              <c:numCache>
                <c:formatCode>General</c:formatCode>
                <c:ptCount val="7"/>
                <c:pt idx="0">
                  <c:v>1</c:v>
                </c:pt>
                <c:pt idx="1">
                  <c:v>1.9704597996403801</c:v>
                </c:pt>
                <c:pt idx="2">
                  <c:v>3.6064880112834978</c:v>
                </c:pt>
                <c:pt idx="3">
                  <c:v>6.6646394439617715</c:v>
                </c:pt>
                <c:pt idx="4">
                  <c:v>8.2183415470323542</c:v>
                </c:pt>
                <c:pt idx="5">
                  <c:v>12.04616834170854</c:v>
                </c:pt>
                <c:pt idx="6">
                  <c:v>15.635955972278841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E0EE-4029-98CB-8B716AF0A7B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48627696"/>
        <c:axId val="348628480"/>
      </c:scatterChart>
      <c:valAx>
        <c:axId val="348627696"/>
        <c:scaling>
          <c:orientation val="minMax"/>
          <c:max val="20"/>
        </c:scaling>
        <c:delete val="0"/>
        <c:axPos val="b"/>
        <c:numFmt formatCode="General" sourceLinked="1"/>
        <c:majorTickMark val="out"/>
        <c:minorTickMark val="none"/>
        <c:tickLblPos val="nextTo"/>
        <c:crossAx val="348628480"/>
        <c:crosses val="autoZero"/>
        <c:crossBetween val="midCat"/>
        <c:majorUnit val="4"/>
      </c:valAx>
      <c:valAx>
        <c:axId val="34862848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348627696"/>
        <c:crosses val="autoZero"/>
        <c:crossBetween val="midCat"/>
      </c:valAx>
    </c:plotArea>
    <c:plotVisOnly val="1"/>
    <c:dispBlanksAs val="gap"/>
    <c:showDLblsOverMax val="0"/>
  </c:chart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Sheet1!$G$1</c:f>
              <c:strCache>
                <c:ptCount val="1"/>
                <c:pt idx="0">
                  <c:v>efficiency DGEMM</c:v>
                </c:pt>
              </c:strCache>
            </c:strRef>
          </c:tx>
          <c:xVal>
            <c:numRef>
              <c:f>Sheet1!$A$2:$A$8</c:f>
              <c:numCache>
                <c:formatCode>General</c:formatCode>
                <c:ptCount val="7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10</c:v>
                </c:pt>
                <c:pt idx="5">
                  <c:v>16</c:v>
                </c:pt>
                <c:pt idx="6">
                  <c:v>20</c:v>
                </c:pt>
              </c:numCache>
            </c:numRef>
          </c:xVal>
          <c:yVal>
            <c:numRef>
              <c:f>Sheet1!$G$2:$G$8</c:f>
              <c:numCache>
                <c:formatCode>General</c:formatCode>
                <c:ptCount val="7"/>
                <c:pt idx="0">
                  <c:v>1</c:v>
                </c:pt>
                <c:pt idx="1">
                  <c:v>0.98522989982019005</c:v>
                </c:pt>
                <c:pt idx="2">
                  <c:v>0.90162200282087446</c:v>
                </c:pt>
                <c:pt idx="3">
                  <c:v>0.83307993049522144</c:v>
                </c:pt>
                <c:pt idx="4">
                  <c:v>0.8218341547032354</c:v>
                </c:pt>
                <c:pt idx="5">
                  <c:v>0.75288552135678377</c:v>
                </c:pt>
                <c:pt idx="6">
                  <c:v>0.78179779861394205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B8FD-418F-B72E-E66A51EAF11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48631224"/>
        <c:axId val="348629656"/>
      </c:scatterChart>
      <c:valAx>
        <c:axId val="348631224"/>
        <c:scaling>
          <c:orientation val="minMax"/>
          <c:max val="20"/>
        </c:scaling>
        <c:delete val="0"/>
        <c:axPos val="b"/>
        <c:numFmt formatCode="General" sourceLinked="1"/>
        <c:majorTickMark val="out"/>
        <c:minorTickMark val="none"/>
        <c:tickLblPos val="nextTo"/>
        <c:crossAx val="348629656"/>
        <c:crosses val="autoZero"/>
        <c:crossBetween val="midCat"/>
        <c:majorUnit val="4"/>
      </c:valAx>
      <c:valAx>
        <c:axId val="348629656"/>
        <c:scaling>
          <c:orientation val="minMax"/>
          <c:max val="1"/>
        </c:scaling>
        <c:delete val="0"/>
        <c:axPos val="l"/>
        <c:majorGridlines/>
        <c:numFmt formatCode="#,##0.0" sourceLinked="0"/>
        <c:majorTickMark val="out"/>
        <c:minorTickMark val="none"/>
        <c:tickLblPos val="nextTo"/>
        <c:crossAx val="348631224"/>
        <c:crosses val="autoZero"/>
        <c:crossBetween val="midCat"/>
      </c:valAx>
    </c:plotArea>
    <c:plotVisOnly val="1"/>
    <c:dispBlanksAs val="gap"/>
    <c:showDLblsOverMax val="0"/>
  </c:chart>
  <c:spPr>
    <a:solidFill>
      <a:schemeClr val="bg1"/>
    </a:solidFill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Sheet1!$D$1</c:f>
              <c:strCache>
                <c:ptCount val="1"/>
                <c:pt idx="0">
                  <c:v>speedup SVD</c:v>
                </c:pt>
              </c:strCache>
            </c:strRef>
          </c:tx>
          <c:xVal>
            <c:numRef>
              <c:f>Sheet1!$A$2:$A$8</c:f>
              <c:numCache>
                <c:formatCode>General</c:formatCode>
                <c:ptCount val="7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10</c:v>
                </c:pt>
                <c:pt idx="5">
                  <c:v>16</c:v>
                </c:pt>
                <c:pt idx="6">
                  <c:v>20</c:v>
                </c:pt>
              </c:numCache>
            </c:numRef>
          </c:xVal>
          <c:yVal>
            <c:numRef>
              <c:f>Sheet1!$D$2:$D$8</c:f>
              <c:numCache>
                <c:formatCode>General</c:formatCode>
                <c:ptCount val="7"/>
                <c:pt idx="0">
                  <c:v>1</c:v>
                </c:pt>
                <c:pt idx="1">
                  <c:v>1.4550597108736645</c:v>
                </c:pt>
                <c:pt idx="2">
                  <c:v>2.0846465556055831</c:v>
                </c:pt>
                <c:pt idx="3">
                  <c:v>2.4484399788471709</c:v>
                </c:pt>
                <c:pt idx="4">
                  <c:v>2.5245365321701199</c:v>
                </c:pt>
                <c:pt idx="5">
                  <c:v>2.5750834260289208</c:v>
                </c:pt>
                <c:pt idx="6">
                  <c:v>2.5314379442318207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2851-4DFB-B720-C03C414B03A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49533472"/>
        <c:axId val="349531904"/>
      </c:scatterChart>
      <c:valAx>
        <c:axId val="349533472"/>
        <c:scaling>
          <c:orientation val="minMax"/>
          <c:max val="20"/>
        </c:scaling>
        <c:delete val="0"/>
        <c:axPos val="b"/>
        <c:numFmt formatCode="General" sourceLinked="1"/>
        <c:majorTickMark val="out"/>
        <c:minorTickMark val="none"/>
        <c:tickLblPos val="nextTo"/>
        <c:crossAx val="349531904"/>
        <c:crosses val="autoZero"/>
        <c:crossBetween val="midCat"/>
        <c:majorUnit val="4"/>
      </c:valAx>
      <c:valAx>
        <c:axId val="349531904"/>
        <c:scaling>
          <c:orientation val="minMax"/>
          <c:min val="1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349533472"/>
        <c:crosses val="autoZero"/>
        <c:crossBetween val="midCat"/>
      </c:valAx>
    </c:plotArea>
    <c:plotVisOnly val="1"/>
    <c:dispBlanksAs val="gap"/>
    <c:showDLblsOverMax val="0"/>
  </c:chart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Sheet1!$E$1</c:f>
              <c:strCache>
                <c:ptCount val="1"/>
                <c:pt idx="0">
                  <c:v>efficiency SVD</c:v>
                </c:pt>
              </c:strCache>
            </c:strRef>
          </c:tx>
          <c:xVal>
            <c:numRef>
              <c:f>Sheet1!$A$2:$A$8</c:f>
              <c:numCache>
                <c:formatCode>General</c:formatCode>
                <c:ptCount val="7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10</c:v>
                </c:pt>
                <c:pt idx="5">
                  <c:v>16</c:v>
                </c:pt>
                <c:pt idx="6">
                  <c:v>20</c:v>
                </c:pt>
              </c:numCache>
            </c:numRef>
          </c:xVal>
          <c:yVal>
            <c:numRef>
              <c:f>Sheet1!$E$2:$E$8</c:f>
              <c:numCache>
                <c:formatCode>General</c:formatCode>
                <c:ptCount val="7"/>
                <c:pt idx="0">
                  <c:v>1</c:v>
                </c:pt>
                <c:pt idx="1">
                  <c:v>0.72752985543683224</c:v>
                </c:pt>
                <c:pt idx="2">
                  <c:v>0.52116163890139577</c:v>
                </c:pt>
                <c:pt idx="3">
                  <c:v>0.30605499735589636</c:v>
                </c:pt>
                <c:pt idx="4">
                  <c:v>0.25245365321701196</c:v>
                </c:pt>
                <c:pt idx="5">
                  <c:v>0.16094271412680755</c:v>
                </c:pt>
                <c:pt idx="6">
                  <c:v>0.12657189721159104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DD80-4DCB-909C-7358A94749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49531512"/>
        <c:axId val="349532296"/>
      </c:scatterChart>
      <c:valAx>
        <c:axId val="349531512"/>
        <c:scaling>
          <c:orientation val="minMax"/>
          <c:max val="20"/>
        </c:scaling>
        <c:delete val="0"/>
        <c:axPos val="b"/>
        <c:numFmt formatCode="General" sourceLinked="1"/>
        <c:majorTickMark val="out"/>
        <c:minorTickMark val="none"/>
        <c:tickLblPos val="nextTo"/>
        <c:crossAx val="349532296"/>
        <c:crosses val="autoZero"/>
        <c:crossBetween val="midCat"/>
        <c:majorUnit val="4"/>
      </c:valAx>
      <c:valAx>
        <c:axId val="349532296"/>
        <c:scaling>
          <c:orientation val="minMax"/>
          <c:max val="1"/>
        </c:scaling>
        <c:delete val="0"/>
        <c:axPos val="l"/>
        <c:majorGridlines/>
        <c:numFmt formatCode="#,##0.0" sourceLinked="0"/>
        <c:majorTickMark val="out"/>
        <c:minorTickMark val="none"/>
        <c:tickLblPos val="nextTo"/>
        <c:crossAx val="349531512"/>
        <c:crosses val="autoZero"/>
        <c:crossBetween val="midCat"/>
      </c:valAx>
    </c:plotArea>
    <c:plotVisOnly val="1"/>
    <c:dispBlanksAs val="gap"/>
    <c:showDLblsOverMax val="0"/>
  </c:chart>
  <c:spPr>
    <a:solidFill>
      <a:schemeClr val="bg1"/>
    </a:solidFill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speedup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</c:numCache>
            </c:numRef>
          </c:xVal>
          <c:yVal>
            <c:numRef>
              <c:f>Sheet1!$C$2:$C$6</c:f>
              <c:numCache>
                <c:formatCode>0.0</c:formatCode>
                <c:ptCount val="5"/>
                <c:pt idx="0">
                  <c:v>1</c:v>
                </c:pt>
                <c:pt idx="1">
                  <c:v>1.9298245614035088</c:v>
                </c:pt>
                <c:pt idx="2">
                  <c:v>3.2352941176470589</c:v>
                </c:pt>
                <c:pt idx="3">
                  <c:v>5.2380952380952381</c:v>
                </c:pt>
                <c:pt idx="4">
                  <c:v>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8DD7-4F5A-B09E-317E46772E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49533864"/>
        <c:axId val="349530728"/>
      </c:scatterChart>
      <c:valAx>
        <c:axId val="349533864"/>
        <c:scaling>
          <c:logBase val="2"/>
          <c:orientation val="minMax"/>
          <c:max val="16"/>
          <c:min val="1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LID4096"/>
          </a:p>
        </c:txPr>
        <c:crossAx val="349530728"/>
        <c:crosses val="autoZero"/>
        <c:crossBetween val="midCat"/>
      </c:valAx>
      <c:valAx>
        <c:axId val="349530728"/>
        <c:scaling>
          <c:logBase val="2"/>
          <c:orientation val="minMax"/>
          <c:min val="1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LID4096"/>
          </a:p>
        </c:txPr>
        <c:crossAx val="34953386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LID4096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speedup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xVal>
            <c:numRef>
              <c:f>Sheet1!$A$2:$A$10</c:f>
              <c:numCache>
                <c:formatCode>General</c:formatCode>
                <c:ptCount val="9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12</c:v>
                </c:pt>
                <c:pt idx="5">
                  <c:v>16</c:v>
                </c:pt>
                <c:pt idx="6">
                  <c:v>18</c:v>
                </c:pt>
                <c:pt idx="7">
                  <c:v>24</c:v>
                </c:pt>
                <c:pt idx="8">
                  <c:v>36</c:v>
                </c:pt>
              </c:numCache>
            </c:numRef>
          </c:xVal>
          <c:yVal>
            <c:numRef>
              <c:f>Sheet1!$C$2:$C$10</c:f>
              <c:numCache>
                <c:formatCode>0.00</c:formatCode>
                <c:ptCount val="9"/>
                <c:pt idx="0">
                  <c:v>1</c:v>
                </c:pt>
                <c:pt idx="1">
                  <c:v>1.8227513227513228</c:v>
                </c:pt>
                <c:pt idx="2">
                  <c:v>3.704301075268817</c:v>
                </c:pt>
                <c:pt idx="3">
                  <c:v>7.3297872340425529</c:v>
                </c:pt>
                <c:pt idx="4">
                  <c:v>10.936507936507937</c:v>
                </c:pt>
                <c:pt idx="5">
                  <c:v>13.509803921568627</c:v>
                </c:pt>
                <c:pt idx="6">
                  <c:v>16.023255813953487</c:v>
                </c:pt>
                <c:pt idx="7">
                  <c:v>19.685714285714287</c:v>
                </c:pt>
                <c:pt idx="8">
                  <c:v>25.518518518518519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B60D-4A73-9267-68ADEC9037B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8965344"/>
        <c:axId val="375320432"/>
      </c:scatterChart>
      <c:valAx>
        <c:axId val="488965344"/>
        <c:scaling>
          <c:orientation val="minMax"/>
          <c:max val="36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LID4096"/>
          </a:p>
        </c:txPr>
        <c:crossAx val="375320432"/>
        <c:crosses val="autoZero"/>
        <c:crossBetween val="midCat"/>
        <c:majorUnit val="6"/>
      </c:valAx>
      <c:valAx>
        <c:axId val="37532043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LID4096"/>
          </a:p>
        </c:txPr>
        <c:crossAx val="48896534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LID4096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4317B7A-E8DE-4FBD-AEF9-0A336AE35E18}" type="datetimeFigureOut">
              <a:rPr lang="en-US" smtClean="0"/>
              <a:t>2025-12-09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009A026-B604-4FFB-ABB3-62A1984CDB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63903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009A026-B604-4FFB-ABB3-62A1984CDBB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45431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009A026-B604-4FFB-ABB3-62A1984CDBBB}" type="slidenum">
              <a:rPr lang="en-US" smtClean="0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6315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F01351-0FBC-4BFE-A131-744147DE214D}" type="datetime1">
              <a:rPr lang="nl-BE" smtClean="0"/>
              <a:t>9/12/2025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48821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C39788-F451-4A6F-98CA-3E38B464C43D}" type="datetime1">
              <a:rPr lang="nl-BE" smtClean="0"/>
              <a:t>9/12/2025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920590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CCEFE4-73CB-4549-BDD3-E70F86A4FE60}" type="datetime1">
              <a:rPr lang="nl-BE" smtClean="0"/>
              <a:t>9/12/2025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48972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D1A47-ED67-40F8-94B6-021E48B65EDE}" type="datetime1">
              <a:rPr lang="nl-BE" smtClean="0"/>
              <a:t>9/12/2025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202673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5CC31-35DC-44C6-BEBC-6EE175532C5C}" type="datetime1">
              <a:rPr lang="nl-BE" smtClean="0"/>
              <a:t>9/12/2025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250738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7D250F-48F0-45C7-A90C-073734C2740A}" type="datetime1">
              <a:rPr lang="nl-BE" smtClean="0"/>
              <a:t>9/12/2025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858675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4C6363-092C-4ED6-90B5-754AA82AC53E}" type="datetime1">
              <a:rPr lang="nl-BE" smtClean="0"/>
              <a:t>9/12/2025</a:t>
            </a:fld>
            <a:endParaRPr lang="nl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48423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7A436-C776-4C16-BA7F-AD1BB80E9E62}" type="datetime1">
              <a:rPr lang="nl-BE" smtClean="0"/>
              <a:t>9/12/2025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337029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16A094-E09B-4E15-A3BC-B103EFFDEB09}" type="datetime1">
              <a:rPr lang="nl-BE" smtClean="0"/>
              <a:t>9/12/2025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151116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6176C1-DE15-4277-8379-70249C1A83BC}" type="datetime1">
              <a:rPr lang="nl-BE" smtClean="0"/>
              <a:t>9/12/2025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997957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4D88EE-67C0-42B6-9D09-78F95A2F760E}" type="datetime1">
              <a:rPr lang="nl-BE" smtClean="0"/>
              <a:t>9/12/2025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969141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C125FA-7F9D-459E-BBC6-34E36D13C58C}" type="datetime1">
              <a:rPr lang="nl-BE" smtClean="0"/>
              <a:t>9/12/2025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A8D7BD-8F5D-4544-8D4B-27B7BC6C32C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233233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Geertjan.bex@uhasselt.be" TargetMode="External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hyperlink" Target="https://creativecommons.org/licenses/by/4.0/deed.ast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://bit.ly/2RChBRa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://scipy.org/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://packages.pypy.org/" TargetMode="External"/><Relationship Id="rId2" Type="http://schemas.openxmlformats.org/officeDocument/2006/relationships/hyperlink" Target="http://pypy.org/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numexpr.readthedocs.io/en/latest/index.html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Python-for-HPC/tree/master/source-code/numba" TargetMode="Externa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Python-for-HPC/tree/master/source-code/cython" TargetMode="Externa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wmf"/><Relationship Id="rId3" Type="http://schemas.openxmlformats.org/officeDocument/2006/relationships/image" Target="../media/image11.png"/><Relationship Id="rId7" Type="http://schemas.openxmlformats.org/officeDocument/2006/relationships/oleObject" Target="../embeddings/oleObject2.bin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3.png"/><Relationship Id="rId5" Type="http://schemas.openxmlformats.org/officeDocument/2006/relationships/image" Target="../media/image12.wmf"/><Relationship Id="rId4" Type="http://schemas.openxmlformats.org/officeDocument/2006/relationships/oleObject" Target="../embeddings/oleObject1.bin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hyperlink" Target="http://docs.cython.org/" TargetMode="External"/><Relationship Id="rId2" Type="http://schemas.openxmlformats.org/officeDocument/2006/relationships/hyperlink" Target="http://cython.org/" TargetMode="Externa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Python-for-HPC/tree/master/source-code/interfaciing-c-c%2B%2B-fortran" TargetMode="External"/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slide" Target="slide98.xml"/><Relationship Id="rId2" Type="http://schemas.openxmlformats.org/officeDocument/2006/relationships/slide" Target="slide84.xml"/><Relationship Id="rId1" Type="http://schemas.openxmlformats.org/officeDocument/2006/relationships/slideLayout" Target="../slideLayouts/slideLayout2.xml"/><Relationship Id="rId4" Type="http://schemas.openxmlformats.org/officeDocument/2006/relationships/slide" Target="slide106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gif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0.png"/><Relationship Id="rId4" Type="http://schemas.openxmlformats.org/officeDocument/2006/relationships/image" Target="../media/image30.png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8" Type="http://schemas.openxmlformats.org/officeDocument/2006/relationships/hyperlink" Target="http://docs.python.org/2/library/ctypes.html#ctypes.c_ushort" TargetMode="External"/><Relationship Id="rId13" Type="http://schemas.openxmlformats.org/officeDocument/2006/relationships/hyperlink" Target="http://docs.python.org/2/library/ctypes.html#ctypes.c_longlong" TargetMode="External"/><Relationship Id="rId18" Type="http://schemas.openxmlformats.org/officeDocument/2006/relationships/hyperlink" Target="http://docs.python.org/2/library/ctypes.html#ctypes.c_char_p" TargetMode="External"/><Relationship Id="rId3" Type="http://schemas.openxmlformats.org/officeDocument/2006/relationships/hyperlink" Target="http://docs.python.org/2/library/ctypes.html#ctypes.c_char" TargetMode="External"/><Relationship Id="rId7" Type="http://schemas.openxmlformats.org/officeDocument/2006/relationships/hyperlink" Target="http://docs.python.org/2/library/ctypes.html#ctypes.c_short" TargetMode="External"/><Relationship Id="rId12" Type="http://schemas.openxmlformats.org/officeDocument/2006/relationships/hyperlink" Target="http://docs.python.org/2/library/ctypes.html#ctypes.c_ulong" TargetMode="External"/><Relationship Id="rId17" Type="http://schemas.openxmlformats.org/officeDocument/2006/relationships/hyperlink" Target="http://docs.python.org/2/library/ctypes.html#ctypes.c_longdouble" TargetMode="External"/><Relationship Id="rId2" Type="http://schemas.openxmlformats.org/officeDocument/2006/relationships/hyperlink" Target="http://docs.python.org/2/library/ctypes.html#ctypes.c_bool" TargetMode="External"/><Relationship Id="rId16" Type="http://schemas.openxmlformats.org/officeDocument/2006/relationships/hyperlink" Target="http://docs.python.org/2/library/ctypes.html#ctypes.c_double" TargetMode="External"/><Relationship Id="rId20" Type="http://schemas.openxmlformats.org/officeDocument/2006/relationships/hyperlink" Target="http://docs.python.org/2/library/ctypes.html#ctypes.c_void_p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://docs.python.org/2/library/ctypes.html#ctypes.c_ubyte" TargetMode="External"/><Relationship Id="rId11" Type="http://schemas.openxmlformats.org/officeDocument/2006/relationships/hyperlink" Target="http://docs.python.org/2/library/ctypes.html#ctypes.c_long" TargetMode="External"/><Relationship Id="rId5" Type="http://schemas.openxmlformats.org/officeDocument/2006/relationships/hyperlink" Target="http://docs.python.org/2/library/ctypes.html#ctypes.c_byte" TargetMode="External"/><Relationship Id="rId15" Type="http://schemas.openxmlformats.org/officeDocument/2006/relationships/hyperlink" Target="http://docs.python.org/2/library/ctypes.html#ctypes.c_float" TargetMode="External"/><Relationship Id="rId10" Type="http://schemas.openxmlformats.org/officeDocument/2006/relationships/hyperlink" Target="http://docs.python.org/2/library/ctypes.html#ctypes.c_uint" TargetMode="External"/><Relationship Id="rId19" Type="http://schemas.openxmlformats.org/officeDocument/2006/relationships/hyperlink" Target="http://docs.python.org/2/library/ctypes.html#ctypes.c_wchar_p" TargetMode="External"/><Relationship Id="rId4" Type="http://schemas.openxmlformats.org/officeDocument/2006/relationships/hyperlink" Target="http://docs.python.org/2/library/ctypes.html#ctypes.c_wchar" TargetMode="External"/><Relationship Id="rId9" Type="http://schemas.openxmlformats.org/officeDocument/2006/relationships/hyperlink" Target="http://docs.python.org/2/library/ctypes.html#ctypes.c_int" TargetMode="External"/><Relationship Id="rId14" Type="http://schemas.openxmlformats.org/officeDocument/2006/relationships/hyperlink" Target="http://docs.python.org/2/library/ctypes.html#ctypes.c_ulonglong" TargetMode="Externa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Python-for-HPC/tree/master/source-code/multiprocessing" TargetMode="External"/><Relationship Id="rId1" Type="http://schemas.openxmlformats.org/officeDocument/2006/relationships/slideLayout" Target="../slideLayouts/slideLayout1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6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6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training-material/tree/master/source-code/dask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3" Type="http://schemas.openxmlformats.org/officeDocument/2006/relationships/hyperlink" Target="http://distributed.readthedocs.io/en/latest/" TargetMode="External"/><Relationship Id="rId2" Type="http://schemas.openxmlformats.org/officeDocument/2006/relationships/hyperlink" Target="https://dask.pydata.org/en/latest/" TargetMode="External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training-material/tree/master/Python/SentenceCounter" TargetMode="External"/><Relationship Id="rId2" Type="http://schemas.openxmlformats.org/officeDocument/2006/relationships/hyperlink" Target="https://github.com/gjbex/training-material/tree/master/Python/Mpi4py" TargetMode="External"/><Relationship Id="rId1" Type="http://schemas.openxmlformats.org/officeDocument/2006/relationships/slideLayout" Target="../slideLayouts/slideLayout1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hyperlink" Target="http://www.mpi-forum.org/docs/" TargetMode="External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Python-for-HPC/tree/master/source-code/pyspark" TargetMode="External"/><Relationship Id="rId1" Type="http://schemas.openxmlformats.org/officeDocument/2006/relationships/slideLayout" Target="../slideLayouts/slideLayout1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Python-for-HPC/tree/master/source-code/file-formats" TargetMode="External"/><Relationship Id="rId2" Type="http://schemas.openxmlformats.org/officeDocument/2006/relationships/hyperlink" Target="https://github.com/gjbex/Python-for-HPC/tree/master/source-code/hdf5" TargetMode="External"/><Relationship Id="rId1" Type="http://schemas.openxmlformats.org/officeDocument/2006/relationships/slideLayout" Target="../slideLayouts/slideLayout1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Python </a:t>
            </a:r>
            <a:r>
              <a:rPr lang="en-BE" dirty="0"/>
              <a:t>f</a:t>
            </a:r>
            <a:r>
              <a:rPr lang="en-GB" dirty="0"/>
              <a:t>o</a:t>
            </a:r>
            <a:r>
              <a:rPr lang="en-BE" dirty="0"/>
              <a:t>r</a:t>
            </a:r>
            <a:r>
              <a:rPr lang="en-US" dirty="0"/>
              <a:t> HPC</a:t>
            </a:r>
            <a:endParaRPr lang="nl-B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>
                <a:hlinkClick r:id="rId3"/>
              </a:rPr>
              <a:t>geertjan.bex@uhasselt.be</a:t>
            </a:r>
            <a:r>
              <a:rPr lang="en-US" dirty="0"/>
              <a:t> </a:t>
            </a:r>
            <a:endParaRPr lang="nl-B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</a:t>
            </a:fld>
            <a:endParaRPr lang="nl-B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6B2F034-33EA-4C7C-A523-58947AA285F7}"/>
              </a:ext>
            </a:extLst>
          </p:cNvPr>
          <p:cNvSpPr txBox="1"/>
          <p:nvPr/>
        </p:nvSpPr>
        <p:spPr>
          <a:xfrm>
            <a:off x="1604424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4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8" name="Picture 4">
            <a:extLst>
              <a:ext uri="{FF2B5EF4-FFF2-40B4-BE49-F238E27FC236}">
                <a16:creationId xmlns:a16="http://schemas.microsoft.com/office/drawing/2014/main" id="{D60F4A8A-3144-7324-3020-30DEC69317D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29"/>
          <a:stretch/>
        </p:blipFill>
        <p:spPr bwMode="auto">
          <a:xfrm>
            <a:off x="6562312" y="134093"/>
            <a:ext cx="1534493" cy="1422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Press Materials - PRACE">
            <a:extLst>
              <a:ext uri="{FF2B5EF4-FFF2-40B4-BE49-F238E27FC236}">
                <a16:creationId xmlns:a16="http://schemas.microsoft.com/office/drawing/2014/main" id="{3389910D-966B-D531-8D95-68DDFF0F61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54031" y="424662"/>
            <a:ext cx="1988527" cy="12640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 descr="A black text on an orange background&#10;&#10;AI-generated content may be incorrect.">
            <a:extLst>
              <a:ext uri="{FF2B5EF4-FFF2-40B4-BE49-F238E27FC236}">
                <a16:creationId xmlns:a16="http://schemas.microsoft.com/office/drawing/2014/main" id="{A3643EA8-125A-4F9E-A66C-052256E118B7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831" y="298552"/>
            <a:ext cx="2965185" cy="1150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66091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2895627" y="4941168"/>
            <a:ext cx="363067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hlinkClick r:id="rId2"/>
              </a:rPr>
              <a:t>http://bit.ly/2RChBRa</a:t>
            </a:r>
            <a:r>
              <a:rPr lang="en-US" sz="3000" dirty="0"/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F8FD2A7-2939-49F2-BA8D-343BF9C4A5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7108" y="1592796"/>
            <a:ext cx="3069785" cy="3069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110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02CBA6C-8CC5-4E6E-8119-6BF0A81630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3</a:t>
            </a:fld>
            <a:endParaRPr lang="nl-BE"/>
          </a:p>
        </p:txBody>
      </p:sp>
      <p:pic>
        <p:nvPicPr>
          <p:cNvPr id="4" name="Picture 3" descr="Qr code&#10;&#10;Description automatically generated">
            <a:extLst>
              <a:ext uri="{FF2B5EF4-FFF2-40B4-BE49-F238E27FC236}">
                <a16:creationId xmlns:a16="http://schemas.microsoft.com/office/drawing/2014/main" id="{DC9BACF6-BD25-4DF6-9043-F95F8BA2BD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8251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 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Shell commands are rendered as</a:t>
            </a:r>
          </a:p>
          <a:p>
            <a:endParaRPr lang="en-US" dirty="0"/>
          </a:p>
          <a:p>
            <a:pPr lvl="1"/>
            <a:r>
              <a:rPr lang="en-US" dirty="0"/>
              <a:t>Do </a:t>
            </a:r>
            <a:r>
              <a:rPr lang="en-US" i="1" dirty="0"/>
              <a:t>not</a:t>
            </a:r>
            <a:r>
              <a:rPr lang="en-US" dirty="0"/>
              <a:t> type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en-US" dirty="0"/>
              <a:t>, it represents your shell prompt!</a:t>
            </a:r>
          </a:p>
          <a:p>
            <a:r>
              <a:rPr lang="en-US" dirty="0" err="1"/>
              <a:t>iPython</a:t>
            </a:r>
            <a:r>
              <a:rPr lang="en-US" dirty="0"/>
              <a:t> interpreter is rendered 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1731" y="2354900"/>
            <a:ext cx="4144083" cy="30008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35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python  –m </a:t>
            </a:r>
            <a:r>
              <a:rPr lang="en-US" sz="135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doctest</a:t>
            </a:r>
            <a:r>
              <a:rPr lang="en-US" sz="135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data_parsing.py</a:t>
            </a:r>
            <a:endParaRPr lang="nl-BE" sz="135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2A05A-A776-4391-ACD7-D6BC34D3145C}" type="slidenum">
              <a:rPr lang="nl-BE" smtClean="0"/>
              <a:t>4</a:t>
            </a:fld>
            <a:endParaRPr lang="nl-BE"/>
          </a:p>
        </p:txBody>
      </p:sp>
      <p:sp>
        <p:nvSpPr>
          <p:cNvPr id="9" name="TextBox 8"/>
          <p:cNvSpPr txBox="1"/>
          <p:nvPr/>
        </p:nvSpPr>
        <p:spPr>
          <a:xfrm>
            <a:off x="2141730" y="3803877"/>
            <a:ext cx="4456669" cy="30008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350" b="1" dirty="0">
                <a:solidFill>
                  <a:schemeClr val="accent3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In[3]:</a:t>
            </a:r>
            <a:r>
              <a:rPr lang="en-US" sz="135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names = 'bob </a:t>
            </a:r>
            <a:r>
              <a:rPr lang="en-US" sz="135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alice</a:t>
            </a:r>
            <a:r>
              <a:rPr lang="en-US" sz="135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35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carol'.split</a:t>
            </a:r>
            <a:r>
              <a:rPr lang="en-US" sz="135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()</a:t>
            </a:r>
            <a:endParaRPr lang="nl-BE" sz="135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0462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hello_world.py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81FB36A-02A5-4630-BBFC-835E11A925E7}"/>
              </a:ext>
            </a:extLst>
          </p:cNvPr>
          <p:cNvSpPr txBox="1"/>
          <p:nvPr/>
        </p:nvSpPr>
        <p:spPr>
          <a:xfrm>
            <a:off x="2141730" y="4782038"/>
            <a:ext cx="3964066" cy="1200329"/>
          </a:xfrm>
          <a:prstGeom prst="rect">
            <a:avLst/>
          </a:prstGeom>
          <a:solidFill>
            <a:srgbClr val="FFD966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itchFamily="49" charset="0"/>
                <a:cs typeface="Courier New" pitchFamily="49" charset="0"/>
              </a:rPr>
              <a:t>case dim temp</a:t>
            </a:r>
          </a:p>
          <a:p>
            <a:r>
              <a:rPr lang="en-US" sz="1200" dirty="0">
                <a:latin typeface="Courier New" pitchFamily="49" charset="0"/>
                <a:cs typeface="Courier New" pitchFamily="49" charset="0"/>
              </a:rPr>
              <a:t>1 1 -0.5</a:t>
            </a:r>
          </a:p>
          <a:p>
            <a:r>
              <a:rPr lang="en-US" sz="1200" dirty="0">
                <a:latin typeface="Courier New" pitchFamily="49" charset="0"/>
                <a:cs typeface="Courier New" pitchFamily="49" charset="0"/>
              </a:rPr>
              <a:t>2 1 0.0</a:t>
            </a:r>
          </a:p>
          <a:p>
            <a:r>
              <a:rPr lang="en-US" sz="1200" dirty="0">
                <a:latin typeface="Courier New" pitchFamily="49" charset="0"/>
                <a:cs typeface="Courier New" pitchFamily="49" charset="0"/>
              </a:rPr>
              <a:t>3 1 0.5</a:t>
            </a:r>
          </a:p>
          <a:p>
            <a:r>
              <a:rPr lang="en-US" sz="1200" dirty="0">
                <a:latin typeface="Courier New" pitchFamily="49" charset="0"/>
                <a:cs typeface="Courier New" pitchFamily="49" charset="0"/>
              </a:rPr>
              <a:t>4 2 -0.5</a:t>
            </a:r>
          </a:p>
          <a:p>
            <a:r>
              <a:rPr lang="en-US" sz="12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 II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141731" y="3210022"/>
            <a:ext cx="3964066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#!/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usr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/bin/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env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 python</a:t>
            </a:r>
          </a:p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if __name__ == '__main__':</a:t>
            </a:r>
          </a:p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    print('hello world!')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133938" y="3470596"/>
            <a:ext cx="2717745" cy="2506501"/>
            <a:chOff x="1321249" y="3584213"/>
            <a:chExt cx="3623659" cy="3342002"/>
          </a:xfrm>
        </p:grpSpPr>
        <p:sp>
          <p:nvSpPr>
            <p:cNvPr id="7" name="Oval 6"/>
            <p:cNvSpPr/>
            <p:nvPr/>
          </p:nvSpPr>
          <p:spPr>
            <a:xfrm>
              <a:off x="1331640" y="6652699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9" name="Straight Arrow Connector 8"/>
            <p:cNvCxnSpPr>
              <a:stCxn id="10" idx="1"/>
              <a:endCxn id="7" idx="6"/>
            </p:cNvCxnSpPr>
            <p:nvPr/>
          </p:nvCxnSpPr>
          <p:spPr>
            <a:xfrm flipH="1">
              <a:off x="1691681" y="5873961"/>
              <a:ext cx="2016222" cy="915496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707903" y="5535407"/>
              <a:ext cx="1237005" cy="67710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fragment</a:t>
              </a:r>
              <a:br>
                <a:rPr lang="en-US" sz="1350" dirty="0"/>
              </a:br>
              <a:r>
                <a:rPr lang="en-US" sz="1350" dirty="0"/>
                <a:t>not shown</a:t>
              </a:r>
              <a:endParaRPr lang="nl-BE" sz="1350" dirty="0"/>
            </a:p>
          </p:txBody>
        </p:sp>
        <p:sp>
          <p:nvSpPr>
            <p:cNvPr id="11" name="Oval 10"/>
            <p:cNvSpPr/>
            <p:nvPr/>
          </p:nvSpPr>
          <p:spPr>
            <a:xfrm>
              <a:off x="1321249" y="35842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12" name="Straight Arrow Connector 11"/>
            <p:cNvCxnSpPr>
              <a:stCxn id="10" idx="1"/>
              <a:endCxn id="11" idx="6"/>
            </p:cNvCxnSpPr>
            <p:nvPr/>
          </p:nvCxnSpPr>
          <p:spPr>
            <a:xfrm flipH="1" flipV="1">
              <a:off x="1681290" y="3720972"/>
              <a:ext cx="2026613" cy="2152990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06909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3" grpId="0" animBg="1"/>
      <p:bldP spid="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considerations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881401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 of the box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Python is interpreted</a:t>
            </a:r>
          </a:p>
          <a:p>
            <a:pPr lvl="1"/>
            <a:r>
              <a:rPr lang="en-US" dirty="0"/>
              <a:t>Python is slow</a:t>
            </a:r>
          </a:p>
          <a:p>
            <a:pPr lvl="1"/>
            <a:r>
              <a:rPr lang="en-US" dirty="0"/>
              <a:t>Python is really slow</a:t>
            </a:r>
          </a:p>
          <a:p>
            <a:r>
              <a:rPr lang="en-US" dirty="0"/>
              <a:t>Okay for one-offs, prototypes, short runtimes</a:t>
            </a:r>
          </a:p>
          <a:p>
            <a:r>
              <a:rPr lang="en-US" b="1" i="1" dirty="0">
                <a:solidFill>
                  <a:srgbClr val="FF0000"/>
                </a:solidFill>
              </a:rPr>
              <a:t>Not okay</a:t>
            </a:r>
            <a:r>
              <a:rPr lang="en-US" dirty="0"/>
              <a:t> for computationally intensive tasks!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3167" y="4705980"/>
            <a:ext cx="6649193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Don't use vanilla Python for computations!!!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2897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performance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413711" y="2134011"/>
            <a:ext cx="5974713" cy="424731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init_matrix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m = []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i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m.append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([])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j in range(n): 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        m[i].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append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random.random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())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return m</a:t>
            </a:r>
          </a:p>
          <a:p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matmul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(a, b, c):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n =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len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i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j in range(n):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        c[i][j] = 0.0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k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        c[i][j] += a[i][k]*b[k][j]</a:t>
            </a:r>
          </a:p>
        </p:txBody>
      </p:sp>
      <p:sp>
        <p:nvSpPr>
          <p:cNvPr id="6" name="TextBox 5"/>
          <p:cNvSpPr txBox="1"/>
          <p:nvPr/>
        </p:nvSpPr>
        <p:spPr>
          <a:xfrm rot="-1800000">
            <a:off x="3473500" y="3207549"/>
            <a:ext cx="2604174" cy="120032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rgbClr val="FF0000"/>
                </a:solidFill>
              </a:rPr>
              <a:t>Naïve!</a:t>
            </a:r>
            <a:endParaRPr lang="nl-BE" sz="7200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5849851" y="4309870"/>
                <a:ext cx="2970621" cy="66864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/>
                        </a:rPr>
                        <m:t>𝐶</m:t>
                      </m:r>
                      <m:r>
                        <a:rPr lang="en-US" b="0" i="1" smtClean="0">
                          <a:latin typeface="Cambria Math"/>
                        </a:rPr>
                        <m:t>=</m:t>
                      </m:r>
                      <m:r>
                        <a:rPr lang="en-US" b="0" i="1" smtClean="0">
                          <a:latin typeface="Cambria Math"/>
                        </a:rPr>
                        <m:t>𝐴</m:t>
                      </m:r>
                      <m:r>
                        <a:rPr lang="en-US" b="0" i="1" smtClean="0">
                          <a:latin typeface="Cambria Math"/>
                          <a:ea typeface="Cambria Math"/>
                        </a:rPr>
                        <m:t>∙</m:t>
                      </m:r>
                      <m:r>
                        <a:rPr lang="en-US" b="0" i="1" smtClean="0">
                          <a:latin typeface="Cambria Math"/>
                          <a:ea typeface="Cambria Math"/>
                        </a:rPr>
                        <m:t>𝐵</m:t>
                      </m:r>
                    </m:oMath>
                  </m:oMathPara>
                </a14:m>
                <a:endParaRPr lang="en-US" b="0" dirty="0">
                  <a:ea typeface="Cambria Math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B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/>
                            </a:rPr>
                            <m:t>𝑖𝑗</m:t>
                          </m:r>
                        </m:sub>
                      </m:sSub>
                      <m:r>
                        <a:rPr lang="en-US" b="0" i="1" smtClean="0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latin typeface="Cambria Math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latin typeface="Cambria Math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/>
                        </a:rPr>
                        <m:t>+</m:t>
                      </m:r>
                      <m:r>
                        <a:rPr lang="en-US" b="0" i="1" smtClean="0">
                          <a:latin typeface="Cambria Math"/>
                          <a:ea typeface="Cambria Math"/>
                        </a:rPr>
                        <m:t>⋯+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/>
                              <a:ea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latin typeface="Cambria Math"/>
                              <a:ea typeface="Cambria Math"/>
                            </a:rPr>
                            <m:t>𝑖𝑁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/>
                              <a:ea typeface="Cambria Math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latin typeface="Cambria Math"/>
                              <a:ea typeface="Cambria Math"/>
                            </a:rPr>
                            <m:t>𝑁𝑗</m:t>
                          </m:r>
                        </m:sub>
                      </m:sSub>
                    </m:oMath>
                  </m:oMathPara>
                </a14:m>
                <a:endParaRPr lang="nl-BE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9851" y="4309870"/>
                <a:ext cx="2970621" cy="668645"/>
              </a:xfrm>
              <a:prstGeom prst="rect">
                <a:avLst/>
              </a:prstGeom>
              <a:blipFill>
                <a:blip r:embed="rId2"/>
                <a:stretch>
                  <a:fillRect b="-267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/>
          <p:cNvSpPr txBox="1"/>
          <p:nvPr/>
        </p:nvSpPr>
        <p:spPr>
          <a:xfrm>
            <a:off x="5794066" y="2411596"/>
            <a:ext cx="302640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Represent matrix as list of lists</a:t>
            </a:r>
            <a:endParaRPr lang="nl-BE" dirty="0"/>
          </a:p>
        </p:txBody>
      </p:sp>
      <p:grpSp>
        <p:nvGrpSpPr>
          <p:cNvPr id="16" name="Group 15"/>
          <p:cNvGrpSpPr/>
          <p:nvPr/>
        </p:nvGrpSpPr>
        <p:grpSpPr>
          <a:xfrm>
            <a:off x="349549" y="2299093"/>
            <a:ext cx="2019592" cy="3227431"/>
            <a:chOff x="349549" y="2299093"/>
            <a:chExt cx="2019592" cy="3227431"/>
          </a:xfrm>
        </p:grpSpPr>
        <p:sp>
          <p:nvSpPr>
            <p:cNvPr id="9" name="TextBox 8"/>
            <p:cNvSpPr txBox="1"/>
            <p:nvPr/>
          </p:nvSpPr>
          <p:spPr>
            <a:xfrm>
              <a:off x="349549" y="2299093"/>
              <a:ext cx="20195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500 ×  500 matrices</a:t>
              </a:r>
              <a:endParaRPr lang="nl-BE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99714" y="2852936"/>
              <a:ext cx="15192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Python: 0.09 s</a:t>
              </a:r>
              <a:endParaRPr lang="nl-BE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99714" y="5157192"/>
              <a:ext cx="13445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Python: 32 s</a:t>
              </a:r>
              <a:endParaRPr lang="nl-BE" dirty="0"/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599714" y="3244334"/>
            <a:ext cx="1091966" cy="2637584"/>
            <a:chOff x="599714" y="3244334"/>
            <a:chExt cx="1091966" cy="2637584"/>
          </a:xfrm>
        </p:grpSpPr>
        <p:sp>
          <p:nvSpPr>
            <p:cNvPr id="12" name="TextBox 11"/>
            <p:cNvSpPr txBox="1"/>
            <p:nvPr/>
          </p:nvSpPr>
          <p:spPr>
            <a:xfrm>
              <a:off x="599714" y="3244334"/>
              <a:ext cx="10919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C: 0.014 s</a:t>
              </a:r>
              <a:endParaRPr lang="nl-BE" dirty="0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99714" y="5512586"/>
              <a:ext cx="9749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C: 0.49 s</a:t>
              </a:r>
              <a:endParaRPr lang="nl-BE" dirty="0"/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599714" y="3635732"/>
            <a:ext cx="1657954" cy="2601580"/>
            <a:chOff x="599714" y="3635732"/>
            <a:chExt cx="1657954" cy="2601580"/>
          </a:xfrm>
        </p:grpSpPr>
        <p:sp>
          <p:nvSpPr>
            <p:cNvPr id="14" name="TextBox 13"/>
            <p:cNvSpPr txBox="1"/>
            <p:nvPr/>
          </p:nvSpPr>
          <p:spPr>
            <a:xfrm>
              <a:off x="599714" y="3635732"/>
              <a:ext cx="16579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Fortran: 0.012 s</a:t>
              </a:r>
              <a:endParaRPr lang="nl-BE" dirty="0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99714" y="5867980"/>
              <a:ext cx="15409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Fortran: 0.11 s</a:t>
              </a:r>
              <a:endParaRPr lang="nl-BE" dirty="0"/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94945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Libraries for numeric computation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28800"/>
            <a:ext cx="8229600" cy="4525963"/>
          </a:xfrm>
        </p:spPr>
        <p:txBody>
          <a:bodyPr>
            <a:normAutofit fontScale="70000" lnSpcReduction="20000"/>
          </a:bodyPr>
          <a:lstStyle/>
          <a:p>
            <a:r>
              <a:rPr lang="en-US" dirty="0" err="1"/>
              <a:t>NumPy</a:t>
            </a:r>
            <a:endParaRPr lang="en-US" dirty="0"/>
          </a:p>
          <a:p>
            <a:pPr lvl="1"/>
            <a:r>
              <a:rPr lang="en-US" dirty="0"/>
              <a:t>Fast arrays</a:t>
            </a:r>
          </a:p>
          <a:p>
            <a:pPr lvl="1"/>
            <a:r>
              <a:rPr lang="en-US" dirty="0"/>
              <a:t>Matrix operations (BLAS-like)</a:t>
            </a:r>
          </a:p>
          <a:p>
            <a:pPr lvl="1"/>
            <a:r>
              <a:rPr lang="en-US" dirty="0"/>
              <a:t>Fast Fourier Transform</a:t>
            </a:r>
          </a:p>
          <a:p>
            <a:pPr lvl="1"/>
            <a:r>
              <a:rPr lang="en-US" dirty="0"/>
              <a:t>Mathematical functions defined on arrays</a:t>
            </a:r>
          </a:p>
          <a:p>
            <a:pPr lvl="1"/>
            <a:r>
              <a:rPr lang="en-US" dirty="0"/>
              <a:t>Pseudo-random number generation to initialize arrays</a:t>
            </a:r>
          </a:p>
          <a:p>
            <a:pPr lvl="1"/>
            <a:r>
              <a:rPr lang="en-US" dirty="0"/>
              <a:t>Simple statistics</a:t>
            </a:r>
          </a:p>
          <a:p>
            <a:r>
              <a:rPr lang="en-US" dirty="0" err="1"/>
              <a:t>SciPy</a:t>
            </a:r>
            <a:endParaRPr lang="en-US" dirty="0"/>
          </a:p>
          <a:p>
            <a:pPr lvl="1"/>
            <a:r>
              <a:rPr lang="en-US" dirty="0"/>
              <a:t>More mathematical functions</a:t>
            </a:r>
          </a:p>
          <a:p>
            <a:pPr lvl="1"/>
            <a:r>
              <a:rPr lang="en-US" dirty="0"/>
              <a:t>Mathematical &amp; physics constants</a:t>
            </a:r>
          </a:p>
          <a:p>
            <a:pPr lvl="1"/>
            <a:r>
              <a:rPr lang="en-US" dirty="0"/>
              <a:t>Numerical integration</a:t>
            </a:r>
          </a:p>
          <a:p>
            <a:pPr lvl="1"/>
            <a:r>
              <a:rPr lang="en-US" dirty="0"/>
              <a:t>Ordinary differential equations</a:t>
            </a:r>
          </a:p>
          <a:p>
            <a:pPr lvl="1"/>
            <a:r>
              <a:rPr lang="en-US" dirty="0"/>
              <a:t>Optimization</a:t>
            </a:r>
          </a:p>
          <a:p>
            <a:pPr lvl="1"/>
            <a:r>
              <a:rPr lang="en-US" dirty="0"/>
              <a:t>Interpolation</a:t>
            </a:r>
          </a:p>
          <a:p>
            <a:pPr lvl="1"/>
            <a:r>
              <a:rPr lang="en-US" dirty="0"/>
              <a:t>Signal processing</a:t>
            </a:r>
          </a:p>
          <a:p>
            <a:pPr lvl="1"/>
            <a:r>
              <a:rPr lang="en-US" dirty="0"/>
              <a:t>Dense and sparse linear algebra</a:t>
            </a:r>
          </a:p>
          <a:p>
            <a:r>
              <a:rPr lang="en-US" dirty="0"/>
              <a:t>Pandas: data science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3591823" y="5832475"/>
            <a:ext cx="4462312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Don't reinvent the wheel!</a:t>
            </a:r>
            <a:endParaRPr lang="nl-BE" sz="3200" dirty="0"/>
          </a:p>
        </p:txBody>
      </p:sp>
      <p:sp>
        <p:nvSpPr>
          <p:cNvPr id="6" name="TextBox 5"/>
          <p:cNvSpPr txBox="1"/>
          <p:nvPr/>
        </p:nvSpPr>
        <p:spPr>
          <a:xfrm>
            <a:off x="6245216" y="3689734"/>
            <a:ext cx="178100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l-BE" dirty="0">
                <a:hlinkClick r:id="rId2"/>
              </a:rPr>
              <a:t>http://scipy.org/</a:t>
            </a:r>
            <a:r>
              <a:rPr lang="nl-B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354734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using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3" name="TextBox 2"/>
          <p:cNvSpPr txBox="1"/>
          <p:nvPr/>
        </p:nvSpPr>
        <p:spPr>
          <a:xfrm>
            <a:off x="2563885" y="1685707"/>
            <a:ext cx="6526146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init_matrix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(n):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np.random.uniform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1.0, (n, n))</a:t>
            </a:r>
          </a:p>
          <a:p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matmul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(a, b, c):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c =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a@b</a:t>
            </a:r>
            <a:endParaRPr lang="nl-BE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4" name="Group 3"/>
          <p:cNvGrpSpPr/>
          <p:nvPr/>
        </p:nvGrpSpPr>
        <p:grpSpPr>
          <a:xfrm>
            <a:off x="349549" y="1723029"/>
            <a:ext cx="2019592" cy="1787271"/>
            <a:chOff x="349549" y="2299093"/>
            <a:chExt cx="2019592" cy="1787271"/>
          </a:xfrm>
        </p:grpSpPr>
        <p:sp>
          <p:nvSpPr>
            <p:cNvPr id="5" name="TextBox 4"/>
            <p:cNvSpPr txBox="1"/>
            <p:nvPr/>
          </p:nvSpPr>
          <p:spPr>
            <a:xfrm>
              <a:off x="349549" y="2299093"/>
              <a:ext cx="20195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500 ×  500 matrices</a:t>
              </a:r>
              <a:endParaRPr lang="nl-BE" dirty="0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99714" y="2852936"/>
              <a:ext cx="16214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numpy</a:t>
              </a:r>
              <a:r>
                <a:rPr lang="en-US" dirty="0"/>
                <a:t>: 0.011 s</a:t>
              </a:r>
              <a:endParaRPr lang="nl-BE" dirty="0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99714" y="3717032"/>
              <a:ext cx="16214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numpy</a:t>
              </a:r>
              <a:r>
                <a:rPr lang="en-US" dirty="0"/>
                <a:t>: 0.077 s</a:t>
              </a:r>
              <a:endParaRPr lang="nl-BE" dirty="0"/>
            </a:p>
          </p:txBody>
        </p:sp>
      </p:grp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259632" y="3861048"/>
          <a:ext cx="6096000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Language/library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Execution time matrix multiplication (s)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Python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0.49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Fortran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0.11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Python/</a:t>
                      </a:r>
                      <a:r>
                        <a:rPr lang="en-US" dirty="0" err="1"/>
                        <a:t>numpy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0.077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Fortran/BLAS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0.060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11" name="Group 10"/>
          <p:cNvGrpSpPr/>
          <p:nvPr/>
        </p:nvGrpSpPr>
        <p:grpSpPr>
          <a:xfrm>
            <a:off x="7524328" y="4622351"/>
            <a:ext cx="1468036" cy="1152128"/>
            <a:chOff x="7524328" y="4622351"/>
            <a:chExt cx="1468036" cy="1152128"/>
          </a:xfrm>
        </p:grpSpPr>
        <p:sp>
          <p:nvSpPr>
            <p:cNvPr id="9" name="Curved Left Arrow 8"/>
            <p:cNvSpPr/>
            <p:nvPr/>
          </p:nvSpPr>
          <p:spPr>
            <a:xfrm>
              <a:off x="7524328" y="4622351"/>
              <a:ext cx="288032" cy="1152128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884368" y="4869160"/>
              <a:ext cx="110799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415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87265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Intel &amp; Python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Intel distribution for Python</a:t>
            </a:r>
          </a:p>
          <a:p>
            <a:pPr lvl="1"/>
            <a:r>
              <a:rPr lang="en-US" dirty="0"/>
              <a:t>stand-alone installer</a:t>
            </a:r>
          </a:p>
          <a:p>
            <a:pPr lvl="1"/>
            <a:r>
              <a:rPr lang="en-US" dirty="0" err="1"/>
              <a:t>conda</a:t>
            </a: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Optimized libraries, e.g.,</a:t>
            </a:r>
          </a:p>
          <a:p>
            <a:pPr lvl="1"/>
            <a:r>
              <a:rPr lang="en-US" dirty="0" err="1"/>
              <a:t>numpy</a:t>
            </a:r>
            <a:r>
              <a:rPr lang="en-US" dirty="0"/>
              <a:t> optimization/extensions, e.g., </a:t>
            </a:r>
            <a:r>
              <a:rPr lang="en-US" dirty="0" err="1"/>
              <a:t>numpy.random_intel</a:t>
            </a:r>
            <a:endParaRPr lang="en-US" dirty="0"/>
          </a:p>
          <a:p>
            <a:pPr lvl="1"/>
            <a:r>
              <a:rPr lang="en-US" dirty="0"/>
              <a:t>thread scheduling with TBB</a:t>
            </a:r>
          </a:p>
          <a:p>
            <a:pPr lvl="1"/>
            <a:r>
              <a:rPr lang="en-US" dirty="0"/>
              <a:t>optimized mpi4py using Intel MPI</a:t>
            </a:r>
          </a:p>
          <a:p>
            <a:pPr lvl="1"/>
            <a:r>
              <a:rPr lang="en-US" dirty="0"/>
              <a:t>optimized </a:t>
            </a:r>
            <a:r>
              <a:rPr lang="en-US" dirty="0" err="1"/>
              <a:t>scikit</a:t>
            </a:r>
            <a:r>
              <a:rPr lang="en-US" dirty="0"/>
              <a:t>-learn through </a:t>
            </a:r>
            <a:r>
              <a:rPr lang="en-US" dirty="0" err="1"/>
              <a:t>pyDAAL</a:t>
            </a: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741680" y="3059668"/>
            <a:ext cx="7773670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conda</a:t>
            </a:r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create  -n </a:t>
            </a:r>
            <a:r>
              <a:rPr lang="en-US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my_env</a:t>
            </a:r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-c intel  intelpython3_full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6318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Alternative interpreter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PyPy</a:t>
            </a:r>
            <a:r>
              <a:rPr lang="en-US" dirty="0"/>
              <a:t> (</a:t>
            </a:r>
            <a:r>
              <a:rPr lang="en-US" dirty="0">
                <a:hlinkClick r:id="rId2"/>
              </a:rPr>
              <a:t>http://pypy.org/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Just-in-time compilation: faster than python</a:t>
            </a:r>
          </a:p>
          <a:p>
            <a:pPr lvl="2"/>
            <a:r>
              <a:rPr lang="en-US" dirty="0"/>
              <a:t>Programs must run for considerable time</a:t>
            </a:r>
          </a:p>
          <a:p>
            <a:pPr lvl="2"/>
            <a:r>
              <a:rPr lang="en-US" dirty="0"/>
              <a:t>Programs mostly in Python, little use of external libraries (C,…)</a:t>
            </a:r>
          </a:p>
          <a:p>
            <a:pPr lvl="1"/>
            <a:r>
              <a:rPr lang="en-US" dirty="0"/>
              <a:t>Saves memory</a:t>
            </a:r>
          </a:p>
          <a:p>
            <a:pPr lvl="1"/>
            <a:r>
              <a:rPr lang="en-US" dirty="0"/>
              <a:t>Python 2.7.x compatible</a:t>
            </a:r>
          </a:p>
          <a:p>
            <a:pPr lvl="2"/>
            <a:r>
              <a:rPr lang="en-US" dirty="0"/>
              <a:t>Supports most of standard library</a:t>
            </a:r>
          </a:p>
          <a:p>
            <a:pPr lvl="2"/>
            <a:r>
              <a:rPr lang="en-US" dirty="0"/>
              <a:t>Supports many third party libraries</a:t>
            </a:r>
          </a:p>
          <a:p>
            <a:pPr lvl="1"/>
            <a:r>
              <a:rPr lang="en-US" dirty="0"/>
              <a:t>Python 3.10.x support</a:t>
            </a:r>
          </a:p>
          <a:p>
            <a:pPr lvl="1"/>
            <a:r>
              <a:rPr lang="en-US" dirty="0"/>
              <a:t>Compatible packages: </a:t>
            </a:r>
            <a:r>
              <a:rPr lang="en-US" dirty="0">
                <a:hlinkClick r:id="rId3"/>
              </a:rPr>
              <a:t>http://packages.pypy.org/</a:t>
            </a:r>
            <a:r>
              <a:rPr lang="en-US" dirty="0"/>
              <a:t> 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918605" y="5897689"/>
            <a:ext cx="4557851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When lucky, may be 10 </a:t>
            </a:r>
            <a:r>
              <a:rPr lang="en-US" sz="2000" dirty="0">
                <a:sym typeface="Symbol" panose="05050102010706020507" pitchFamily="18" charset="2"/>
              </a:rPr>
              <a:t></a:t>
            </a:r>
            <a:r>
              <a:rPr lang="en-US" sz="2000" dirty="0"/>
              <a:t> faster, free lunch</a:t>
            </a:r>
            <a:endParaRPr lang="nl-BE" sz="20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352238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&amp; </a:t>
            </a:r>
            <a:r>
              <a:rPr lang="en-US" dirty="0" err="1"/>
              <a:t>numexpr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err="1"/>
              <a:t>numexpr</a:t>
            </a:r>
            <a:r>
              <a:rPr lang="en-US" dirty="0"/>
              <a:t> evaluates &amp; compiles </a:t>
            </a:r>
            <a:r>
              <a:rPr lang="en-US" dirty="0" err="1"/>
              <a:t>numpy</a:t>
            </a:r>
            <a:r>
              <a:rPr lang="en-US" dirty="0"/>
              <a:t> expression</a:t>
            </a:r>
          </a:p>
          <a:p>
            <a:pPr lvl="1"/>
            <a:r>
              <a:rPr lang="en-US" dirty="0"/>
              <a:t>can speed up computations</a:t>
            </a:r>
          </a:p>
          <a:p>
            <a:pPr lvl="1"/>
            <a:r>
              <a:rPr lang="en-US" dirty="0"/>
              <a:t>can conserve memory</a:t>
            </a:r>
          </a:p>
          <a:p>
            <a:r>
              <a:rPr lang="en-US" dirty="0"/>
              <a:t>Can use Intel's VML library</a:t>
            </a:r>
          </a:p>
          <a:p>
            <a:pPr lvl="1"/>
            <a:r>
              <a:rPr lang="en-US" dirty="0"/>
              <a:t>automatic multithreading</a:t>
            </a:r>
          </a:p>
          <a:p>
            <a:r>
              <a:rPr lang="en-US" dirty="0"/>
              <a:t>Restrictions</a:t>
            </a:r>
          </a:p>
          <a:p>
            <a:pPr lvl="1"/>
            <a:r>
              <a:rPr lang="en-US" dirty="0"/>
              <a:t>element-wise operators only</a:t>
            </a:r>
          </a:p>
          <a:p>
            <a:pPr lvl="1"/>
            <a:r>
              <a:rPr lang="en-US" dirty="0"/>
              <a:t>(hyper)</a:t>
            </a:r>
            <a:r>
              <a:rPr lang="en-US" dirty="0" err="1"/>
              <a:t>trigoniometric</a:t>
            </a:r>
            <a:r>
              <a:rPr lang="en-US" dirty="0"/>
              <a:t> functions + inverse</a:t>
            </a:r>
          </a:p>
          <a:p>
            <a:pPr lvl="1"/>
            <a:r>
              <a:rPr lang="en-US" dirty="0"/>
              <a:t>logarithmic &amp; exponential,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</a:p>
          <a:p>
            <a:pPr lvl="1"/>
            <a:r>
              <a:rPr lang="en-US" dirty="0"/>
              <a:t>accumulation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en-US" dirty="0"/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prod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74209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numexpr</a:t>
            </a:r>
            <a:r>
              <a:rPr lang="en-US" dirty="0"/>
              <a:t>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where operation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arithmetic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715421" y="2354301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ne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masked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ne.evaluate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('where(a &gt; 0.5, 1.0, -1.0)')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3235" y="3626521"/>
            <a:ext cx="398371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single core: 10 % faster than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np.where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15421" y="4412415"/>
            <a:ext cx="69397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d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ne.evaluate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('3*a + b*c**3')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5245956"/>
            <a:ext cx="363311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single core: 22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faster than </a:t>
            </a:r>
            <a:r>
              <a:rPr lang="en-US" dirty="0" err="1"/>
              <a:t>numpy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986216" y="1899491"/>
            <a:ext cx="220233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1000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1000 matrices</a:t>
            </a:r>
          </a:p>
        </p:txBody>
      </p:sp>
    </p:spTree>
    <p:extLst>
      <p:ext uri="{BB962C8B-B14F-4D97-AF65-F5344CB8AC3E}">
        <p14:creationId xmlns:p14="http://schemas.microsoft.com/office/powerpoint/2010/main" val="2452653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numexpr</a:t>
            </a:r>
            <a:r>
              <a:rPr lang="en-US" dirty="0"/>
              <a:t> documentation</a:t>
            </a:r>
            <a:br>
              <a:rPr lang="en-US" dirty="0"/>
            </a:br>
            <a:r>
              <a:rPr lang="en-US" sz="2000" dirty="0">
                <a:hlinkClick r:id="rId2"/>
              </a:rPr>
              <a:t>https://numexpr.readthedocs.io/en/latest/index.html</a:t>
            </a:r>
            <a:r>
              <a:rPr lang="en-US" sz="20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666862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Profiling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324091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Profiling approaches</a:t>
            </a:r>
            <a:endParaRPr lang="nl-BE" dirty="0"/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r>
              <a:rPr lang="en-US" dirty="0" err="1"/>
              <a:t>Microbenchmarking</a:t>
            </a:r>
            <a:r>
              <a:rPr lang="en-US" dirty="0"/>
              <a:t>, i.e., timing functions</a:t>
            </a:r>
          </a:p>
          <a:p>
            <a:pPr lvl="1"/>
            <a:r>
              <a:rPr lang="en-US" dirty="0"/>
              <a:t>Easy</a:t>
            </a:r>
          </a:p>
          <a:p>
            <a:pPr lvl="1"/>
            <a:r>
              <a:rPr lang="en-US" dirty="0"/>
              <a:t>Can lead to premature optimization</a:t>
            </a:r>
            <a:br>
              <a:rPr lang="en-US" dirty="0"/>
            </a:br>
            <a:r>
              <a:rPr lang="en-US" dirty="0"/>
              <a:t>    = waste of time</a:t>
            </a:r>
          </a:p>
          <a:p>
            <a:r>
              <a:rPr lang="en-US" dirty="0"/>
              <a:t>Profiling with </a:t>
            </a:r>
            <a:r>
              <a:rPr lang="en-US" i="1" dirty="0">
                <a:solidFill>
                  <a:srgbClr val="C00000"/>
                </a:solidFill>
              </a:rPr>
              <a:t>profiling tool</a:t>
            </a:r>
          </a:p>
          <a:p>
            <a:pPr lvl="1"/>
            <a:r>
              <a:rPr lang="en-US" dirty="0"/>
              <a:t>Slightly more complicated</a:t>
            </a:r>
          </a:p>
          <a:p>
            <a:pPr lvl="1"/>
            <a:r>
              <a:rPr lang="en-US" dirty="0"/>
              <a:t>Identifies true bottlenecks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17</a:t>
            </a:fld>
            <a:endParaRPr lang="nl-BE"/>
          </a:p>
        </p:txBody>
      </p:sp>
      <p:sp>
        <p:nvSpPr>
          <p:cNvPr id="7" name="TextBox 6"/>
          <p:cNvSpPr txBox="1"/>
          <p:nvPr/>
        </p:nvSpPr>
        <p:spPr>
          <a:xfrm>
            <a:off x="1893423" y="5877272"/>
            <a:ext cx="5342873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Both are useful, when used appropriately</a:t>
            </a:r>
            <a:endParaRPr lang="nl-BE" sz="2400" dirty="0"/>
          </a:p>
        </p:txBody>
      </p:sp>
      <p:sp>
        <p:nvSpPr>
          <p:cNvPr id="2" name="TextBox 1"/>
          <p:cNvSpPr txBox="1"/>
          <p:nvPr/>
        </p:nvSpPr>
        <p:spPr>
          <a:xfrm>
            <a:off x="1249136" y="1784805"/>
            <a:ext cx="5534015" cy="64633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600" i="1" dirty="0"/>
              <a:t>Never, ever </a:t>
            </a:r>
            <a:r>
              <a:rPr lang="en-US" sz="3600" dirty="0"/>
              <a:t>optimize blindly!</a:t>
            </a:r>
            <a:endParaRPr lang="nl-BE" sz="3600" dirty="0"/>
          </a:p>
        </p:txBody>
      </p:sp>
    </p:spTree>
    <p:extLst>
      <p:ext uri="{BB962C8B-B14F-4D97-AF65-F5344CB8AC3E}">
        <p14:creationId xmlns:p14="http://schemas.microsoft.com/office/powerpoint/2010/main" val="1206524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  <p:bldP spid="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Timing functions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ipython</a:t>
            </a:r>
            <a:r>
              <a:rPr lang="en-US" dirty="0"/>
              <a:t>: use magic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%time</a:t>
            </a:r>
            <a:r>
              <a:rPr lang="en-US" dirty="0"/>
              <a:t> 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timeit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Command line: 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timeit</a:t>
            </a:r>
            <a:r>
              <a:rPr lang="en-US" dirty="0">
                <a:cs typeface="Courier New" panose="02070309020205020404" pitchFamily="49" charset="0"/>
              </a:rPr>
              <a:t> module</a:t>
            </a:r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835696" y="2341056"/>
            <a:ext cx="5832648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In [1]: from primes import primes</a:t>
            </a:r>
          </a:p>
          <a:p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In [2]: %</a:t>
            </a:r>
            <a:r>
              <a:rPr lang="en-US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timeit</a:t>
            </a:r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result = primes(1000)</a:t>
            </a:r>
          </a:p>
          <a:p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10 loops, best of 3: 172 </a:t>
            </a:r>
            <a:r>
              <a:rPr lang="en-US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ms</a:t>
            </a:r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per loop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89354" y="2557080"/>
            <a:ext cx="1671306" cy="707886"/>
            <a:chOff x="224095" y="3729226"/>
            <a:chExt cx="1671306" cy="707886"/>
          </a:xfrm>
        </p:grpSpPr>
        <p:sp>
          <p:nvSpPr>
            <p:cNvPr id="7" name="TextBox 6"/>
            <p:cNvSpPr txBox="1"/>
            <p:nvPr/>
          </p:nvSpPr>
          <p:spPr>
            <a:xfrm>
              <a:off x="224095" y="3729226"/>
              <a:ext cx="1051891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multiple</a:t>
              </a:r>
              <a:br>
                <a:rPr lang="en-US" sz="2000" dirty="0">
                  <a:solidFill>
                    <a:srgbClr val="C00000"/>
                  </a:solidFill>
                </a:rPr>
              </a:br>
              <a:r>
                <a:rPr lang="en-US" sz="2000" dirty="0">
                  <a:solidFill>
                    <a:srgbClr val="C00000"/>
                  </a:solidFill>
                </a:rPr>
                <a:t>runs</a:t>
              </a:r>
              <a:endParaRPr lang="nl-BE" sz="2000" dirty="0">
                <a:solidFill>
                  <a:srgbClr val="C00000"/>
                </a:solidFill>
              </a:endParaRPr>
            </a:p>
          </p:txBody>
        </p:sp>
        <p:cxnSp>
          <p:nvCxnSpPr>
            <p:cNvPr id="8" name="Straight Arrow Connector 7"/>
            <p:cNvCxnSpPr>
              <a:stCxn id="7" idx="3"/>
            </p:cNvCxnSpPr>
            <p:nvPr/>
          </p:nvCxnSpPr>
          <p:spPr>
            <a:xfrm>
              <a:off x="1275986" y="4083169"/>
              <a:ext cx="619415" cy="137919"/>
            </a:xfrm>
            <a:prstGeom prst="straightConnector1">
              <a:avLst/>
            </a:prstGeom>
            <a:ln w="2222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3995936" y="3274114"/>
            <a:ext cx="1503745" cy="688126"/>
            <a:chOff x="-480863" y="905674"/>
            <a:chExt cx="1503745" cy="688126"/>
          </a:xfrm>
        </p:grpSpPr>
        <p:sp>
          <p:nvSpPr>
            <p:cNvPr id="10" name="TextBox 9"/>
            <p:cNvSpPr txBox="1"/>
            <p:nvPr/>
          </p:nvSpPr>
          <p:spPr>
            <a:xfrm>
              <a:off x="-480863" y="1193690"/>
              <a:ext cx="1503745" cy="4001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0070C0"/>
                  </a:solidFill>
                </a:rPr>
                <a:t>timing result</a:t>
              </a:r>
              <a:endParaRPr lang="nl-BE" sz="2000" dirty="0">
                <a:solidFill>
                  <a:srgbClr val="0070C0"/>
                </a:solidFill>
              </a:endParaRPr>
            </a:p>
          </p:txBody>
        </p:sp>
        <p:cxnSp>
          <p:nvCxnSpPr>
            <p:cNvPr id="11" name="Straight Arrow Connector 10"/>
            <p:cNvCxnSpPr>
              <a:stCxn id="10" idx="0"/>
              <a:endCxn id="5" idx="2"/>
            </p:cNvCxnSpPr>
            <p:nvPr/>
          </p:nvCxnSpPr>
          <p:spPr>
            <a:xfrm flipV="1">
              <a:off x="271010" y="905674"/>
              <a:ext cx="4211" cy="288016"/>
            </a:xfrm>
            <a:prstGeom prst="straightConnector1">
              <a:avLst/>
            </a:prstGeom>
            <a:ln w="22225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261362" y="5086925"/>
            <a:ext cx="8559110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$ python -m </a:t>
            </a:r>
            <a:r>
              <a:rPr lang="en-US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timeit</a:t>
            </a:r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'from primes import primes' 'primes(1000)'</a:t>
            </a:r>
          </a:p>
          <a:p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10 loops, best of 3: 174 </a:t>
            </a:r>
            <a:r>
              <a:rPr lang="en-US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msec</a:t>
            </a:r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per loop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1460534" y="4303549"/>
            <a:ext cx="1069776" cy="781635"/>
            <a:chOff x="224095" y="3885436"/>
            <a:chExt cx="1069776" cy="781635"/>
          </a:xfrm>
        </p:grpSpPr>
        <p:sp>
          <p:nvSpPr>
            <p:cNvPr id="17" name="TextBox 16"/>
            <p:cNvSpPr txBox="1"/>
            <p:nvPr/>
          </p:nvSpPr>
          <p:spPr>
            <a:xfrm>
              <a:off x="224095" y="3885436"/>
              <a:ext cx="981359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module</a:t>
              </a:r>
              <a:br>
                <a:rPr lang="en-US" sz="2000" dirty="0">
                  <a:solidFill>
                    <a:srgbClr val="C00000"/>
                  </a:solidFill>
                </a:rPr>
              </a:br>
              <a:r>
                <a:rPr lang="en-US" sz="2000" dirty="0">
                  <a:solidFill>
                    <a:srgbClr val="C00000"/>
                  </a:solidFill>
                </a:rPr>
                <a:t>to use</a:t>
              </a:r>
              <a:endParaRPr lang="nl-BE" sz="2000" dirty="0">
                <a:solidFill>
                  <a:srgbClr val="C00000"/>
                </a:solidFill>
              </a:endParaRPr>
            </a:p>
          </p:txBody>
        </p:sp>
        <p:cxnSp>
          <p:nvCxnSpPr>
            <p:cNvPr id="18" name="Straight Arrow Connector 17"/>
            <p:cNvCxnSpPr>
              <a:stCxn id="17" idx="3"/>
            </p:cNvCxnSpPr>
            <p:nvPr/>
          </p:nvCxnSpPr>
          <p:spPr>
            <a:xfrm>
              <a:off x="1205454" y="4239379"/>
              <a:ext cx="88417" cy="427692"/>
            </a:xfrm>
            <a:prstGeom prst="straightConnector1">
              <a:avLst/>
            </a:prstGeom>
            <a:ln w="2222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3836798" y="4323293"/>
            <a:ext cx="4079386" cy="761891"/>
            <a:chOff x="3836798" y="4323293"/>
            <a:chExt cx="4079386" cy="761891"/>
          </a:xfrm>
        </p:grpSpPr>
        <p:grpSp>
          <p:nvGrpSpPr>
            <p:cNvPr id="20" name="Group 19"/>
            <p:cNvGrpSpPr/>
            <p:nvPr/>
          </p:nvGrpSpPr>
          <p:grpSpPr>
            <a:xfrm>
              <a:off x="3836798" y="4323293"/>
              <a:ext cx="4079386" cy="761891"/>
              <a:chOff x="224095" y="3905180"/>
              <a:chExt cx="4079386" cy="761891"/>
            </a:xfrm>
          </p:grpSpPr>
          <p:sp>
            <p:nvSpPr>
              <p:cNvPr id="21" name="TextBox 20"/>
              <p:cNvSpPr txBox="1"/>
              <p:nvPr/>
            </p:nvSpPr>
            <p:spPr>
              <a:xfrm>
                <a:off x="224095" y="3905180"/>
                <a:ext cx="407938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solidFill>
                      <a:srgbClr val="0070C0"/>
                    </a:solidFill>
                  </a:rPr>
                  <a:t>statements to execute, string per line</a:t>
                </a:r>
                <a:endParaRPr lang="nl-BE" sz="2000" dirty="0">
                  <a:solidFill>
                    <a:srgbClr val="0070C0"/>
                  </a:solidFill>
                </a:endParaRPr>
              </a:p>
            </p:txBody>
          </p:sp>
          <p:cxnSp>
            <p:nvCxnSpPr>
              <p:cNvPr id="22" name="Straight Arrow Connector 21"/>
              <p:cNvCxnSpPr>
                <a:stCxn id="21" idx="2"/>
              </p:cNvCxnSpPr>
              <p:nvPr/>
            </p:nvCxnSpPr>
            <p:spPr>
              <a:xfrm flipH="1">
                <a:off x="1823393" y="4305290"/>
                <a:ext cx="440395" cy="361781"/>
              </a:xfrm>
              <a:prstGeom prst="straightConnector1">
                <a:avLst/>
              </a:prstGeom>
              <a:ln w="22225">
                <a:solidFill>
                  <a:srgbClr val="0070C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5" name="Straight Arrow Connector 24"/>
            <p:cNvCxnSpPr>
              <a:stCxn id="21" idx="2"/>
            </p:cNvCxnSpPr>
            <p:nvPr/>
          </p:nvCxnSpPr>
          <p:spPr>
            <a:xfrm>
              <a:off x="5876491" y="4723403"/>
              <a:ext cx="1503821" cy="361781"/>
            </a:xfrm>
            <a:prstGeom prst="straightConnector1">
              <a:avLst/>
            </a:prstGeom>
            <a:ln w="22225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TextBox 29"/>
          <p:cNvSpPr txBox="1"/>
          <p:nvPr/>
        </p:nvSpPr>
        <p:spPr>
          <a:xfrm>
            <a:off x="5601507" y="5949280"/>
            <a:ext cx="2786917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Don't forget indentation!</a:t>
            </a:r>
            <a:endParaRPr lang="nl-BE" sz="2000" dirty="0"/>
          </a:p>
        </p:txBody>
      </p:sp>
    </p:spTree>
    <p:extLst>
      <p:ext uri="{BB962C8B-B14F-4D97-AF65-F5344CB8AC3E}">
        <p14:creationId xmlns:p14="http://schemas.microsoft.com/office/powerpoint/2010/main" val="8180557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15" grpId="0" animBg="1"/>
      <p:bldP spid="30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Profiler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the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cProfile</a:t>
            </a:r>
            <a:r>
              <a:rPr lang="en-US" dirty="0"/>
              <a:t> module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19</a:t>
            </a:fld>
            <a:endParaRPr lang="nl-BE"/>
          </a:p>
        </p:txBody>
      </p:sp>
      <p:sp>
        <p:nvSpPr>
          <p:cNvPr id="6" name="TextBox 5"/>
          <p:cNvSpPr txBox="1"/>
          <p:nvPr/>
        </p:nvSpPr>
        <p:spPr>
          <a:xfrm>
            <a:off x="107504" y="3140968"/>
            <a:ext cx="8928992" cy="2800767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$ python -m </a:t>
            </a:r>
            <a:r>
              <a:rPr lang="en-US" sz="16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cProfile</a:t>
            </a:r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-s time  primes.py 1000</a:t>
            </a:r>
          </a:p>
          <a:p>
            <a:endParaRPr lang="en-US" sz="1600" b="1" dirty="0">
              <a:solidFill>
                <a:schemeClr val="bg2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2914 function calls (2878 primitive calls) in 0.261 seconds</a:t>
            </a:r>
          </a:p>
          <a:p>
            <a:endParaRPr lang="en-US" sz="1600" b="1" dirty="0">
              <a:solidFill>
                <a:schemeClr val="bg2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Ordered by: internal time</a:t>
            </a:r>
          </a:p>
          <a:p>
            <a:endParaRPr lang="en-US" sz="1600" b="1" dirty="0">
              <a:solidFill>
                <a:schemeClr val="bg2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</a:t>
            </a:r>
            <a:r>
              <a:rPr lang="en-US" sz="16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ncalls</a:t>
            </a:r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tottime</a:t>
            </a:r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percall</a:t>
            </a:r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cumtime</a:t>
            </a:r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percall</a:t>
            </a:r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filename:lineno</a:t>
            </a:r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(function)</a:t>
            </a:r>
          </a:p>
          <a:p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    1    0.250    0.250    0.251    0.251 primes.py:6(primes)</a:t>
            </a:r>
          </a:p>
          <a:p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    1    0.002    0.002    0.002    0.002 {built-in method loads}</a:t>
            </a:r>
          </a:p>
          <a:p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 1194    0.001    0.000    0.001    0.000 {'append' of 'list'}</a:t>
            </a:r>
          </a:p>
          <a:p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   43    0.001    0.000    0.001    0.000 {'join' of '</a:t>
            </a:r>
            <a:r>
              <a:rPr lang="en-US" sz="16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'}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539552" y="2204864"/>
            <a:ext cx="1679370" cy="937845"/>
            <a:chOff x="224095" y="3885436"/>
            <a:chExt cx="1679370" cy="937845"/>
          </a:xfrm>
        </p:grpSpPr>
        <p:sp>
          <p:nvSpPr>
            <p:cNvPr id="8" name="TextBox 7"/>
            <p:cNvSpPr txBox="1"/>
            <p:nvPr/>
          </p:nvSpPr>
          <p:spPr>
            <a:xfrm>
              <a:off x="224095" y="3885436"/>
              <a:ext cx="167937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module to use</a:t>
              </a:r>
              <a:endParaRPr lang="nl-BE" sz="2000" dirty="0">
                <a:solidFill>
                  <a:srgbClr val="C00000"/>
                </a:solidFill>
              </a:endParaRPr>
            </a:p>
          </p:txBody>
        </p:sp>
        <p:cxnSp>
          <p:nvCxnSpPr>
            <p:cNvPr id="9" name="Straight Arrow Connector 8"/>
            <p:cNvCxnSpPr>
              <a:stCxn id="8" idx="2"/>
            </p:cNvCxnSpPr>
            <p:nvPr/>
          </p:nvCxnSpPr>
          <p:spPr>
            <a:xfrm>
              <a:off x="1063780" y="4285546"/>
              <a:ext cx="327567" cy="537735"/>
            </a:xfrm>
            <a:prstGeom prst="straightConnector1">
              <a:avLst/>
            </a:prstGeom>
            <a:ln w="2222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2267744" y="2204864"/>
            <a:ext cx="1227900" cy="937845"/>
            <a:chOff x="224095" y="3885436"/>
            <a:chExt cx="1227900" cy="937845"/>
          </a:xfrm>
        </p:grpSpPr>
        <p:sp>
          <p:nvSpPr>
            <p:cNvPr id="11" name="TextBox 10"/>
            <p:cNvSpPr txBox="1"/>
            <p:nvPr/>
          </p:nvSpPr>
          <p:spPr>
            <a:xfrm>
              <a:off x="224095" y="3885436"/>
              <a:ext cx="122790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0070C0"/>
                  </a:solidFill>
                </a:rPr>
                <a:t>sort order</a:t>
              </a:r>
              <a:endParaRPr lang="nl-BE" sz="2000" dirty="0">
                <a:solidFill>
                  <a:srgbClr val="0070C0"/>
                </a:solidFill>
              </a:endParaRPr>
            </a:p>
          </p:txBody>
        </p:sp>
        <p:cxnSp>
          <p:nvCxnSpPr>
            <p:cNvPr id="12" name="Straight Arrow Connector 11"/>
            <p:cNvCxnSpPr>
              <a:stCxn id="11" idx="2"/>
            </p:cNvCxnSpPr>
            <p:nvPr/>
          </p:nvCxnSpPr>
          <p:spPr>
            <a:xfrm>
              <a:off x="838045" y="4285546"/>
              <a:ext cx="553300" cy="537735"/>
            </a:xfrm>
            <a:prstGeom prst="straightConnector1">
              <a:avLst/>
            </a:prstGeom>
            <a:ln w="22225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507508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 profiles: </a:t>
            </a:r>
            <a:r>
              <a:rPr lang="en-US" dirty="0" err="1"/>
              <a:t>snakeviz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the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cProfile</a:t>
            </a:r>
            <a:r>
              <a:rPr lang="en-US" dirty="0"/>
              <a:t> module, save profile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20</a:t>
            </a:fld>
            <a:endParaRPr lang="nl-BE"/>
          </a:p>
        </p:txBody>
      </p:sp>
      <p:sp>
        <p:nvSpPr>
          <p:cNvPr id="6" name="TextBox 5"/>
          <p:cNvSpPr txBox="1"/>
          <p:nvPr/>
        </p:nvSpPr>
        <p:spPr>
          <a:xfrm>
            <a:off x="1054934" y="3128150"/>
            <a:ext cx="6867400" cy="584775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$ python -m </a:t>
            </a:r>
            <a:r>
              <a:rPr lang="en-US" sz="16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cProfile</a:t>
            </a:r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-s time  -o </a:t>
            </a:r>
            <a:r>
              <a:rPr lang="en-US" sz="16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primes.prof</a:t>
            </a:r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\</a:t>
            </a:r>
            <a:b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  primes.py 1000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4754836" y="2385904"/>
            <a:ext cx="1279517" cy="742246"/>
            <a:chOff x="224095" y="3885436"/>
            <a:chExt cx="1279517" cy="742246"/>
          </a:xfrm>
        </p:grpSpPr>
        <p:sp>
          <p:nvSpPr>
            <p:cNvPr id="17" name="TextBox 16"/>
            <p:cNvSpPr txBox="1"/>
            <p:nvPr/>
          </p:nvSpPr>
          <p:spPr>
            <a:xfrm>
              <a:off x="224095" y="3885436"/>
              <a:ext cx="1279517" cy="400110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output file</a:t>
              </a:r>
              <a:endParaRPr lang="nl-BE" sz="2000" dirty="0">
                <a:solidFill>
                  <a:srgbClr val="C00000"/>
                </a:solidFill>
              </a:endParaRPr>
            </a:p>
          </p:txBody>
        </p:sp>
        <p:cxnSp>
          <p:nvCxnSpPr>
            <p:cNvPr id="18" name="Straight Arrow Connector 17"/>
            <p:cNvCxnSpPr>
              <a:stCxn id="17" idx="2"/>
            </p:cNvCxnSpPr>
            <p:nvPr/>
          </p:nvCxnSpPr>
          <p:spPr>
            <a:xfrm>
              <a:off x="863854" y="4285546"/>
              <a:ext cx="341897" cy="342136"/>
            </a:xfrm>
            <a:prstGeom prst="straightConnector1">
              <a:avLst/>
            </a:prstGeom>
            <a:ln w="2222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36" y="3872418"/>
            <a:ext cx="3201540" cy="295219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054934" y="4332105"/>
            <a:ext cx="3240360" cy="338554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16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snakeviz</a:t>
            </a:r>
            <a:r>
              <a:rPr lang="en-US" sz="16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primes.prof</a:t>
            </a:r>
            <a:endParaRPr lang="en-US" sz="1600" b="1" dirty="0">
              <a:solidFill>
                <a:schemeClr val="bg2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20" name="Group 19"/>
          <p:cNvGrpSpPr/>
          <p:nvPr/>
        </p:nvGrpSpPr>
        <p:grpSpPr>
          <a:xfrm>
            <a:off x="1391055" y="5583670"/>
            <a:ext cx="4829067" cy="461665"/>
            <a:chOff x="1391055" y="5583670"/>
            <a:chExt cx="4829067" cy="461665"/>
          </a:xfrm>
        </p:grpSpPr>
        <p:sp>
          <p:nvSpPr>
            <p:cNvPr id="13" name="TextBox 12"/>
            <p:cNvSpPr txBox="1"/>
            <p:nvPr/>
          </p:nvSpPr>
          <p:spPr>
            <a:xfrm>
              <a:off x="1391055" y="5583670"/>
              <a:ext cx="28775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call stack "inside-out"</a:t>
              </a:r>
              <a:endParaRPr lang="nl-BE" sz="2400" dirty="0"/>
            </a:p>
          </p:txBody>
        </p:sp>
        <p:cxnSp>
          <p:nvCxnSpPr>
            <p:cNvPr id="15" name="Straight Arrow Connector 14"/>
            <p:cNvCxnSpPr>
              <a:stCxn id="13" idx="3"/>
            </p:cNvCxnSpPr>
            <p:nvPr/>
          </p:nvCxnSpPr>
          <p:spPr>
            <a:xfrm flipV="1">
              <a:off x="4268574" y="5583670"/>
              <a:ext cx="1951548" cy="23083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707013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line_profiler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07504" y="2547560"/>
            <a:ext cx="8928992" cy="3970318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14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kernprof</a:t>
            </a:r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-l  -v  primes.py 1000</a:t>
            </a:r>
          </a:p>
          <a:p>
            <a:r>
              <a:rPr lang="en-US" sz="14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imer</a:t>
            </a:r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unit: 1e-06 s</a:t>
            </a:r>
          </a:p>
          <a:p>
            <a:endParaRPr lang="en-US" sz="1400" b="1" dirty="0">
              <a:solidFill>
                <a:schemeClr val="bg2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Total time: 1.01724 s</a:t>
            </a:r>
          </a:p>
          <a:p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File: /home/gjb/Documents/Projects/training-material/Python/Profiling/primes.py</a:t>
            </a:r>
          </a:p>
          <a:p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Function: primes at line 4</a:t>
            </a:r>
          </a:p>
          <a:p>
            <a:endParaRPr lang="en-US" sz="1400" b="1" dirty="0">
              <a:solidFill>
                <a:schemeClr val="bg2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Line #      Hits         Time  Per Hit   % Time  Line Contents</a:t>
            </a:r>
          </a:p>
          <a:p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==============================================================</a:t>
            </a:r>
          </a:p>
          <a:p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 4                                           @profile</a:t>
            </a:r>
          </a:p>
          <a:p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 5                                           </a:t>
            </a:r>
            <a:r>
              <a:rPr lang="en-US" sz="14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primes(</a:t>
            </a:r>
            <a:r>
              <a:rPr lang="en-US" sz="14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kmax</a:t>
            </a:r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):</a:t>
            </a:r>
          </a:p>
          <a:p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 6         1            2      2.0      0.0      </a:t>
            </a:r>
            <a:r>
              <a:rPr lang="en-US" sz="14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max_size</a:t>
            </a:r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= 1000000</a:t>
            </a:r>
          </a:p>
          <a:p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 7         1        72903  72903.0      7.2      p = array('</a:t>
            </a:r>
            <a:r>
              <a:rPr lang="en-US" sz="14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', [0]*</a:t>
            </a:r>
            <a:r>
              <a:rPr lang="en-US" sz="14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max_size</a:t>
            </a:r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 8         1            4      4.0      0.0      result = []</a:t>
            </a:r>
          </a:p>
          <a:p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 9         1            2      2.0      0.0      if </a:t>
            </a:r>
            <a:r>
              <a:rPr lang="en-US" sz="14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kmax</a:t>
            </a:r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&gt; </a:t>
            </a:r>
            <a:r>
              <a:rPr lang="en-US" sz="14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max_size</a:t>
            </a:r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10                                                   </a:t>
            </a:r>
            <a:r>
              <a:rPr lang="en-US" sz="14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kmax</a:t>
            </a:r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400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max_size</a:t>
            </a:r>
            <a:endParaRPr lang="en-US" sz="1400" b="1" dirty="0">
              <a:solidFill>
                <a:schemeClr val="bg2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11         1            1      1.0      0.0      k = 0</a:t>
            </a:r>
          </a:p>
          <a:p>
            <a:r>
              <a:rPr lang="en-US" sz="1400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12         1            0      0.0      0.0      n = a2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361270" y="1679552"/>
            <a:ext cx="1311898" cy="937845"/>
            <a:chOff x="224095" y="3885436"/>
            <a:chExt cx="1311898" cy="937845"/>
          </a:xfrm>
        </p:grpSpPr>
        <p:sp>
          <p:nvSpPr>
            <p:cNvPr id="6" name="TextBox 5"/>
            <p:cNvSpPr txBox="1"/>
            <p:nvPr/>
          </p:nvSpPr>
          <p:spPr>
            <a:xfrm>
              <a:off x="224095" y="3885436"/>
              <a:ext cx="131189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line by line</a:t>
              </a:r>
              <a:endParaRPr lang="nl-BE" sz="2000" dirty="0">
                <a:solidFill>
                  <a:srgbClr val="C00000"/>
                </a:solidFill>
              </a:endParaRPr>
            </a:p>
          </p:txBody>
        </p:sp>
        <p:cxnSp>
          <p:nvCxnSpPr>
            <p:cNvPr id="7" name="Straight Arrow Connector 6"/>
            <p:cNvCxnSpPr>
              <a:stCxn id="6" idx="2"/>
            </p:cNvCxnSpPr>
            <p:nvPr/>
          </p:nvCxnSpPr>
          <p:spPr>
            <a:xfrm>
              <a:off x="880044" y="4285546"/>
              <a:ext cx="511303" cy="537735"/>
            </a:xfrm>
            <a:prstGeom prst="straightConnector1">
              <a:avLst/>
            </a:prstGeom>
            <a:ln w="2222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Group 7"/>
          <p:cNvGrpSpPr/>
          <p:nvPr/>
        </p:nvGrpSpPr>
        <p:grpSpPr>
          <a:xfrm>
            <a:off x="2083646" y="1669824"/>
            <a:ext cx="2546979" cy="937845"/>
            <a:chOff x="224095" y="3885436"/>
            <a:chExt cx="2546979" cy="937845"/>
          </a:xfrm>
        </p:grpSpPr>
        <p:sp>
          <p:nvSpPr>
            <p:cNvPr id="9" name="TextBox 8"/>
            <p:cNvSpPr txBox="1"/>
            <p:nvPr/>
          </p:nvSpPr>
          <p:spPr>
            <a:xfrm>
              <a:off x="224095" y="3885436"/>
              <a:ext cx="254697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0070C0"/>
                  </a:solidFill>
                </a:rPr>
                <a:t>show profile on screen</a:t>
              </a:r>
              <a:endParaRPr lang="nl-BE" sz="2000" dirty="0">
                <a:solidFill>
                  <a:srgbClr val="0070C0"/>
                </a:solidFill>
              </a:endParaRPr>
            </a:p>
          </p:txBody>
        </p:sp>
        <p:cxnSp>
          <p:nvCxnSpPr>
            <p:cNvPr id="10" name="Straight Arrow Connector 9"/>
            <p:cNvCxnSpPr>
              <a:stCxn id="9" idx="2"/>
            </p:cNvCxnSpPr>
            <p:nvPr/>
          </p:nvCxnSpPr>
          <p:spPr>
            <a:xfrm flipH="1">
              <a:off x="299997" y="4285546"/>
              <a:ext cx="1197588" cy="537735"/>
            </a:xfrm>
            <a:prstGeom prst="straightConnector1">
              <a:avLst/>
            </a:prstGeom>
            <a:ln w="22225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5072355" y="1669824"/>
            <a:ext cx="3050963" cy="2862895"/>
            <a:chOff x="224095" y="3885436"/>
            <a:chExt cx="3050963" cy="2862895"/>
          </a:xfrm>
        </p:grpSpPr>
        <p:sp>
          <p:nvSpPr>
            <p:cNvPr id="13" name="TextBox 12"/>
            <p:cNvSpPr txBox="1"/>
            <p:nvPr/>
          </p:nvSpPr>
          <p:spPr>
            <a:xfrm>
              <a:off x="224095" y="3885436"/>
              <a:ext cx="305096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00B050"/>
                  </a:solidFill>
                </a:rPr>
                <a:t>decorate function to profile</a:t>
              </a:r>
              <a:endParaRPr lang="nl-BE" sz="2000" dirty="0">
                <a:solidFill>
                  <a:srgbClr val="00B050"/>
                </a:solidFill>
              </a:endParaRPr>
            </a:p>
          </p:txBody>
        </p:sp>
        <p:cxnSp>
          <p:nvCxnSpPr>
            <p:cNvPr id="14" name="Straight Arrow Connector 13"/>
            <p:cNvCxnSpPr>
              <a:stCxn id="13" idx="2"/>
            </p:cNvCxnSpPr>
            <p:nvPr/>
          </p:nvCxnSpPr>
          <p:spPr>
            <a:xfrm flipH="1">
              <a:off x="920242" y="4285546"/>
              <a:ext cx="829335" cy="2462785"/>
            </a:xfrm>
            <a:prstGeom prst="straightConnector1">
              <a:avLst/>
            </a:prstGeom>
            <a:ln w="22225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748437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Optimization workflow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cProfile</a:t>
            </a:r>
            <a:r>
              <a:rPr lang="en-US" dirty="0"/>
              <a:t> identifies functions as hotspots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line_profiler</a:t>
            </a:r>
            <a:r>
              <a:rPr lang="en-US" dirty="0"/>
              <a:t> works on lines of code</a:t>
            </a:r>
          </a:p>
          <a:p>
            <a:pPr lvl="1"/>
            <a:r>
              <a:rPr lang="en-US" dirty="0"/>
              <a:t>more detailed information</a:t>
            </a:r>
          </a:p>
          <a:p>
            <a:pPr lvl="1"/>
            <a:r>
              <a:rPr lang="en-US" dirty="0"/>
              <a:t>(much) more overhead</a:t>
            </a:r>
          </a:p>
          <a:p>
            <a:r>
              <a:rPr lang="en-US" dirty="0"/>
              <a:t>Optimization workflow</a:t>
            </a:r>
          </a:p>
          <a:p>
            <a:pPr lvl="1"/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cProfile</a:t>
            </a:r>
            <a:r>
              <a:rPr lang="en-US" dirty="0"/>
              <a:t> to identify target functions for optimization</a:t>
            </a:r>
          </a:p>
          <a:p>
            <a:pPr lvl="1"/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line_profiler</a:t>
            </a:r>
            <a:r>
              <a:rPr lang="en-US" dirty="0"/>
              <a:t> only on those functions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@profile</a:t>
            </a:r>
            <a:r>
              <a:rPr lang="en-US" dirty="0"/>
              <a:t> decorator</a:t>
            </a:r>
          </a:p>
          <a:p>
            <a:pPr lvl="1"/>
            <a:r>
              <a:rPr lang="en-US" dirty="0"/>
              <a:t>use </a:t>
            </a:r>
            <a:r>
              <a:rPr lang="en-US" dirty="0" err="1"/>
              <a:t>microbenchmarks</a:t>
            </a:r>
            <a:r>
              <a:rPr lang="en-US" dirty="0"/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timeit</a:t>
            </a:r>
            <a:r>
              <a:rPr lang="en-US" dirty="0"/>
              <a:t> to experiment</a:t>
            </a:r>
          </a:p>
          <a:p>
            <a:pPr lvl="1"/>
            <a:r>
              <a:rPr lang="en-US" dirty="0"/>
              <a:t>run tests after each modification (use unit testing &amp; version control)!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79686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you don't profile…</a:t>
            </a:r>
            <a:endParaRPr lang="nl-BE" dirty="0"/>
          </a:p>
        </p:txBody>
      </p:sp>
      <p:pic>
        <p:nvPicPr>
          <p:cNvPr id="1026" name="Picture 2" descr="http://vignette2.wikia.nocookie.net/monopoly/images/9/95/Chance_go_to_jail.jpg/revision/latest?cb=20121122151318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55583" y="2507471"/>
            <a:ext cx="4305300" cy="24765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232293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numba</a:t>
            </a:r>
            <a:r>
              <a:rPr lang="en-US" dirty="0"/>
              <a:t> to speed up Python</a:t>
            </a:r>
            <a:endParaRPr lang="nl-B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BE" sz="1400" dirty="0">
                <a:hlinkClick r:id="rId2"/>
              </a:rPr>
              <a:t>https://github.com/gjbex/Python-for-HPC/tree/master/source-code/numba</a:t>
            </a:r>
            <a:r>
              <a:rPr lang="nl-BE" sz="1400" dirty="0"/>
              <a:t> 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64403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numba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Annotate Python functions with decorators</a:t>
            </a:r>
          </a:p>
          <a:p>
            <a:r>
              <a:rPr lang="en-US" dirty="0"/>
              <a:t>Code (at least partially) transformed to C</a:t>
            </a:r>
          </a:p>
          <a:p>
            <a:pPr lvl="1"/>
            <a:r>
              <a:rPr lang="en-US" dirty="0"/>
              <a:t>fully automatic and transparent</a:t>
            </a:r>
          </a:p>
          <a:p>
            <a:r>
              <a:rPr lang="en-US" dirty="0"/>
              <a:t>For better performance, provide type information</a:t>
            </a:r>
          </a:p>
          <a:p>
            <a:r>
              <a:rPr lang="en-US" dirty="0"/>
              <a:t>Can generate code for GPGPUs</a:t>
            </a:r>
          </a:p>
          <a:p>
            <a:pPr lvl="1"/>
            <a:r>
              <a:rPr lang="en-US" dirty="0"/>
              <a:t>but you'd have to know some CUDA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Motivating example: compute first </a:t>
            </a:r>
            <a:r>
              <a:rPr lang="en-US" i="1" dirty="0"/>
              <a:t>n</a:t>
            </a:r>
            <a:r>
              <a:rPr lang="en-US" dirty="0"/>
              <a:t> prime numbers, return as list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467562" y="4341531"/>
            <a:ext cx="3990388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Return on investment?</a:t>
            </a:r>
            <a:endParaRPr lang="nl-BE" sz="3200" dirty="0"/>
          </a:p>
        </p:txBody>
      </p:sp>
    </p:spTree>
    <p:extLst>
      <p:ext uri="{BB962C8B-B14F-4D97-AF65-F5344CB8AC3E}">
        <p14:creationId xmlns:p14="http://schemas.microsoft.com/office/powerpoint/2010/main" val="29961217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Motivating example: timings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26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533400" y="1676400"/>
            <a:ext cx="6112571" cy="3139321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nl-BE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[1]: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import primes_p</a:t>
            </a:r>
          </a:p>
          <a:p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[2]: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import primes_n</a:t>
            </a:r>
          </a:p>
          <a:p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[3]: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%timeit primes_n.primes(1000)</a:t>
            </a:r>
          </a:p>
          <a:p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5.56 </a:t>
            </a:r>
            <a:r>
              <a:rPr lang="en-US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ms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± 226 µs per loop (mean ± std. dev.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of 7 runs, 1 loop each)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[4]: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%timeit primes_p.primes(1000)</a:t>
            </a:r>
          </a:p>
          <a:p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301 </a:t>
            </a:r>
            <a:r>
              <a:rPr lang="en-US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ms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± 3.25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ms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per loop (mean ± std. dev.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of 7 runs, 1 loop each)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6858000" y="3200400"/>
            <a:ext cx="1920665" cy="1066800"/>
            <a:chOff x="6858000" y="3200400"/>
            <a:chExt cx="1920665" cy="1066800"/>
          </a:xfrm>
        </p:grpSpPr>
        <p:sp>
          <p:nvSpPr>
            <p:cNvPr id="5" name="Curved Left Arrow 4"/>
            <p:cNvSpPr/>
            <p:nvPr/>
          </p:nvSpPr>
          <p:spPr>
            <a:xfrm flipV="1">
              <a:off x="6858000" y="3200400"/>
              <a:ext cx="533400" cy="1066800"/>
            </a:xfrm>
            <a:prstGeom prst="curvedLeftArrow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467600" y="3562290"/>
              <a:ext cx="131106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 dirty="0">
                  <a:solidFill>
                    <a:srgbClr val="C00000"/>
                  </a:solidFill>
                </a:rPr>
                <a:t>54 </a:t>
              </a:r>
              <a:r>
                <a:rPr lang="en-US" sz="2000" b="1" dirty="0">
                  <a:solidFill>
                    <a:srgbClr val="C00000"/>
                  </a:solidFill>
                  <a:sym typeface="Symbol"/>
                </a:rPr>
                <a:t></a:t>
              </a:r>
              <a:r>
                <a:rPr lang="en-US" sz="2000" b="1" dirty="0">
                  <a:solidFill>
                    <a:srgbClr val="C00000"/>
                  </a:solidFill>
                </a:rPr>
                <a:t> faster</a:t>
              </a:r>
              <a:endParaRPr lang="nl-BE" sz="2000" b="1" dirty="0">
                <a:solidFill>
                  <a:srgbClr val="C00000"/>
                </a:solidFill>
              </a:endParaRP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1565669" y="4969253"/>
            <a:ext cx="5043432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 err="1"/>
              <a:t>numba</a:t>
            </a:r>
            <a:r>
              <a:rPr lang="en-US" sz="2400" dirty="0"/>
              <a:t> implementation is much faster!</a:t>
            </a:r>
          </a:p>
          <a:p>
            <a:r>
              <a:rPr lang="en-US" sz="2400" dirty="0"/>
              <a:t>but…</a:t>
            </a:r>
            <a:br>
              <a:rPr lang="en-US" sz="2400" dirty="0"/>
            </a:br>
            <a:r>
              <a:rPr lang="en-US" sz="2400" dirty="0"/>
              <a:t>    how much work to get there?</a:t>
            </a:r>
            <a:br>
              <a:rPr lang="en-US" sz="2400" dirty="0"/>
            </a:br>
            <a:r>
              <a:rPr lang="en-US" sz="2400" dirty="0"/>
              <a:t>    how complicated is it?</a:t>
            </a:r>
            <a:endParaRPr lang="nl-BE" sz="2400" dirty="0"/>
          </a:p>
        </p:txBody>
      </p:sp>
    </p:spTree>
    <p:extLst>
      <p:ext uri="{BB962C8B-B14F-4D97-AF65-F5344CB8AC3E}">
        <p14:creationId xmlns:p14="http://schemas.microsoft.com/office/powerpoint/2010/main" val="262658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Motivating example: code</a:t>
            </a:r>
            <a:endParaRPr lang="nl-B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27</a:t>
            </a:fld>
            <a:endParaRPr lang="en-US"/>
          </a:p>
        </p:txBody>
      </p:sp>
      <p:grpSp>
        <p:nvGrpSpPr>
          <p:cNvPr id="8" name="Group 7"/>
          <p:cNvGrpSpPr/>
          <p:nvPr/>
        </p:nvGrpSpPr>
        <p:grpSpPr>
          <a:xfrm>
            <a:off x="4799136" y="1301265"/>
            <a:ext cx="3887603" cy="5509200"/>
            <a:chOff x="304800" y="1371600"/>
            <a:chExt cx="3887603" cy="5509200"/>
          </a:xfrm>
          <a:solidFill>
            <a:schemeClr val="bg1">
              <a:lumMod val="85000"/>
            </a:schemeClr>
          </a:solidFill>
        </p:grpSpPr>
        <p:sp>
          <p:nvSpPr>
            <p:cNvPr id="3" name="TextBox 2"/>
            <p:cNvSpPr txBox="1"/>
            <p:nvPr/>
          </p:nvSpPr>
          <p:spPr>
            <a:xfrm>
              <a:off x="304800" y="1371600"/>
              <a:ext cx="3887603" cy="55092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import numpy as np</a:t>
              </a:r>
            </a:p>
            <a:p>
              <a:r>
                <a:rPr lang="nl-BE" sz="160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from numba import jit</a:t>
              </a:r>
            </a:p>
            <a:p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60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@jit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def primes(kmax):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p = np.zeros(1000)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result = []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if kmax &gt; 1000: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kmax = 1000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k = 0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n = 2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while k &lt; kmax: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i = 0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while (i &lt; k and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n % p[i] != 0):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i = i + 1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if i == k: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p[k] = n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k = k + 1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result.append(n)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n = n + 1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return result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101335" y="6569239"/>
              <a:ext cx="1091068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primes_n.py</a:t>
              </a:r>
              <a:endParaRPr lang="nl-BE" sz="1400" dirty="0"/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457261" y="1301265"/>
            <a:ext cx="3887603" cy="5020574"/>
            <a:chOff x="4951597" y="1371600"/>
            <a:chExt cx="3887603" cy="5020574"/>
          </a:xfrm>
          <a:solidFill>
            <a:schemeClr val="bg1">
              <a:lumMod val="85000"/>
            </a:schemeClr>
          </a:solidFill>
        </p:grpSpPr>
        <p:sp>
          <p:nvSpPr>
            <p:cNvPr id="4" name="TextBox 3"/>
            <p:cNvSpPr txBox="1"/>
            <p:nvPr/>
          </p:nvSpPr>
          <p:spPr>
            <a:xfrm>
              <a:off x="4951597" y="1371600"/>
              <a:ext cx="3887603" cy="5016758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import numpy as np</a:t>
              </a:r>
            </a:p>
            <a:p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primes(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kmax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p = np.zeros(1000)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result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[]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if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kmax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&gt; 1000: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kmax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1000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k = 0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n = 2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while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k &lt;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kmax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i = 0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while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(i &lt; k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and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n % p[i] != 0):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i = i + 1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if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i == k: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p[k] = n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k = k + 1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result.append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(n)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n = n + 1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return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result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748132" y="6084397"/>
              <a:ext cx="1091068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primes_p.py</a:t>
              </a:r>
              <a:endParaRPr lang="nl-BE" sz="1400"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7823092" y="1690689"/>
            <a:ext cx="1113959" cy="70788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000" dirty="0"/>
              <a:t>That was</a:t>
            </a:r>
            <a:br>
              <a:rPr lang="en-US" sz="2000" dirty="0"/>
            </a:br>
            <a:r>
              <a:rPr lang="en-US" sz="2000" i="1" dirty="0"/>
              <a:t>trivial!</a:t>
            </a:r>
          </a:p>
        </p:txBody>
      </p:sp>
    </p:spTree>
    <p:extLst>
      <p:ext uri="{BB962C8B-B14F-4D97-AF65-F5344CB8AC3E}">
        <p14:creationId xmlns:p14="http://schemas.microsoft.com/office/powerpoint/2010/main" val="35816020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Does it always work?</a:t>
            </a:r>
            <a:endParaRPr lang="nl-B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28</a:t>
            </a:fld>
            <a:endParaRPr lang="en-US"/>
          </a:p>
        </p:txBody>
      </p:sp>
      <p:grpSp>
        <p:nvGrpSpPr>
          <p:cNvPr id="8" name="Group 7"/>
          <p:cNvGrpSpPr/>
          <p:nvPr/>
        </p:nvGrpSpPr>
        <p:grpSpPr>
          <a:xfrm>
            <a:off x="4799136" y="1301265"/>
            <a:ext cx="3887603" cy="5509200"/>
            <a:chOff x="304800" y="1371600"/>
            <a:chExt cx="3887603" cy="5509200"/>
          </a:xfrm>
          <a:solidFill>
            <a:schemeClr val="bg1">
              <a:lumMod val="85000"/>
            </a:schemeClr>
          </a:solidFill>
        </p:grpSpPr>
        <p:sp>
          <p:nvSpPr>
            <p:cNvPr id="3" name="TextBox 2"/>
            <p:cNvSpPr txBox="1"/>
            <p:nvPr/>
          </p:nvSpPr>
          <p:spPr>
            <a:xfrm>
              <a:off x="304800" y="1371600"/>
              <a:ext cx="3887603" cy="55092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nl-BE" sz="160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from array import array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from numba import jit</a:t>
              </a:r>
            </a:p>
            <a:p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@jit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def primes(kmax):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p = </a:t>
              </a:r>
              <a:r>
                <a:rPr lang="nl-BE" sz="160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array('i', [0]*1000)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result = []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if kmax &gt; 1000: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kmax = 1000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k = 0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n = 2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while k &lt; kmax: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i = 0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while (i &lt; k and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n % p[i] != 0):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i = i + 1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if i == k: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p[k] = n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k = k + 1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result.append(n)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n = n + 1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return result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014773" y="6573023"/>
              <a:ext cx="1177630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primes_na.py</a:t>
              </a:r>
              <a:endParaRPr lang="nl-BE" sz="1400" dirty="0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451964" y="1297481"/>
            <a:ext cx="3887603" cy="5513272"/>
            <a:chOff x="304800" y="1371600"/>
            <a:chExt cx="3887603" cy="5513272"/>
          </a:xfrm>
          <a:solidFill>
            <a:schemeClr val="bg1">
              <a:lumMod val="85000"/>
            </a:schemeClr>
          </a:solidFill>
        </p:grpSpPr>
        <p:sp>
          <p:nvSpPr>
            <p:cNvPr id="12" name="TextBox 11"/>
            <p:cNvSpPr txBox="1"/>
            <p:nvPr/>
          </p:nvSpPr>
          <p:spPr>
            <a:xfrm>
              <a:off x="304800" y="1371600"/>
              <a:ext cx="3887603" cy="55092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import numpy as np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from numba import jit</a:t>
              </a:r>
            </a:p>
            <a:p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@jit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def primes(kmax):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p =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np.zeros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(1000)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result = []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if kmax &gt; 1000: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kmax = 1000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k = 0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n = 2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while k &lt; kmax: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i = 0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while (i &lt; k and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n % p[i] != 0):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i = i + 1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if i == k: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p[k] = n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k = k + 1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result.append(n)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n = n + 1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return result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101335" y="6577095"/>
              <a:ext cx="1091068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primes_n.py</a:t>
              </a:r>
              <a:endParaRPr lang="nl-BE" sz="1400" dirty="0"/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3657600" y="2696307"/>
            <a:ext cx="1341357" cy="882085"/>
            <a:chOff x="3657600" y="2696307"/>
            <a:chExt cx="1341357" cy="882085"/>
          </a:xfrm>
        </p:grpSpPr>
        <p:sp>
          <p:nvSpPr>
            <p:cNvPr id="14" name="TextBox 13"/>
            <p:cNvSpPr txBox="1"/>
            <p:nvPr/>
          </p:nvSpPr>
          <p:spPr>
            <a:xfrm>
              <a:off x="3867413" y="2932061"/>
              <a:ext cx="859210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Minor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change</a:t>
              </a:r>
            </a:p>
          </p:txBody>
        </p:sp>
        <p:cxnSp>
          <p:nvCxnSpPr>
            <p:cNvPr id="16" name="Straight Arrow Connector 15"/>
            <p:cNvCxnSpPr/>
            <p:nvPr/>
          </p:nvCxnSpPr>
          <p:spPr>
            <a:xfrm>
              <a:off x="3657600" y="2696307"/>
              <a:ext cx="1341357" cy="0"/>
            </a:xfrm>
            <a:prstGeom prst="straightConnector1">
              <a:avLst/>
            </a:prstGeom>
            <a:ln w="5080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982514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Does it always work: timings?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29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533400" y="1676400"/>
            <a:ext cx="6250429" cy="286232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nl-BE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[1]: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import primes_pa</a:t>
            </a:r>
          </a:p>
          <a:p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[2]: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import primes_na</a:t>
            </a:r>
          </a:p>
          <a:p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[3]: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%timeit primes_na.primes(1000)</a:t>
            </a:r>
          </a:p>
          <a:p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81.9 </a:t>
            </a:r>
            <a:r>
              <a:rPr lang="en-US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ms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± 2.18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ms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per loop (mean ± std. dev.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of 7 runs, 1 loop each)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[4]: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%timeit primes_pa.primes(1000)</a:t>
            </a:r>
          </a:p>
          <a:p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99.3 </a:t>
            </a:r>
            <a:r>
              <a:rPr lang="en-US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ms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± 878 µs per loop (mean ± std. dev.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of 7 runs, 10 loops each)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6858000" y="3200400"/>
            <a:ext cx="1989593" cy="1066800"/>
            <a:chOff x="6858000" y="3200400"/>
            <a:chExt cx="1989593" cy="1066800"/>
          </a:xfrm>
        </p:grpSpPr>
        <p:sp>
          <p:nvSpPr>
            <p:cNvPr id="5" name="Curved Left Arrow 4"/>
            <p:cNvSpPr/>
            <p:nvPr/>
          </p:nvSpPr>
          <p:spPr>
            <a:xfrm flipV="1">
              <a:off x="6858000" y="3200400"/>
              <a:ext cx="533400" cy="1066800"/>
            </a:xfrm>
            <a:prstGeom prst="curvedLeftArrow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467600" y="3562290"/>
              <a:ext cx="137999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 dirty="0">
                  <a:solidFill>
                    <a:srgbClr val="C00000"/>
                  </a:solidFill>
                </a:rPr>
                <a:t>1.2 </a:t>
              </a:r>
              <a:r>
                <a:rPr lang="en-US" sz="2000" b="1" dirty="0">
                  <a:solidFill>
                    <a:srgbClr val="C00000"/>
                  </a:solidFill>
                  <a:sym typeface="Symbol"/>
                </a:rPr>
                <a:t></a:t>
              </a:r>
              <a:r>
                <a:rPr lang="en-US" sz="2000" b="1" dirty="0">
                  <a:solidFill>
                    <a:srgbClr val="C00000"/>
                  </a:solidFill>
                </a:rPr>
                <a:t> faster</a:t>
              </a:r>
              <a:endParaRPr lang="nl-BE" sz="2000" b="1" dirty="0">
                <a:solidFill>
                  <a:srgbClr val="C00000"/>
                </a:solidFill>
              </a:endParaRP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1565669" y="4969253"/>
            <a:ext cx="3625544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 err="1"/>
              <a:t>numba</a:t>
            </a:r>
            <a:r>
              <a:rPr lang="en-US" sz="2400" dirty="0"/>
              <a:t> is just slightly faster,</a:t>
            </a:r>
            <a:br>
              <a:rPr lang="en-US" sz="2400" dirty="0"/>
            </a:br>
            <a:r>
              <a:rPr lang="en-US" sz="2400" dirty="0"/>
              <a:t>there be dragons…</a:t>
            </a:r>
          </a:p>
        </p:txBody>
      </p:sp>
    </p:spTree>
    <p:extLst>
      <p:ext uri="{BB962C8B-B14F-4D97-AF65-F5344CB8AC3E}">
        <p14:creationId xmlns:p14="http://schemas.microsoft.com/office/powerpoint/2010/main" val="317164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Eager JIT</a:t>
            </a:r>
            <a:endParaRPr lang="nl-B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30</a:t>
            </a:fld>
            <a:endParaRPr lang="en-US"/>
          </a:p>
        </p:txBody>
      </p:sp>
      <p:grpSp>
        <p:nvGrpSpPr>
          <p:cNvPr id="9" name="Group 8"/>
          <p:cNvGrpSpPr/>
          <p:nvPr/>
        </p:nvGrpSpPr>
        <p:grpSpPr>
          <a:xfrm>
            <a:off x="135706" y="1513233"/>
            <a:ext cx="8457418" cy="2308324"/>
            <a:chOff x="4951597" y="1371600"/>
            <a:chExt cx="8457418" cy="2308324"/>
          </a:xfrm>
          <a:solidFill>
            <a:schemeClr val="bg1">
              <a:lumMod val="85000"/>
            </a:schemeClr>
          </a:solidFill>
        </p:grpSpPr>
        <p:sp>
          <p:nvSpPr>
            <p:cNvPr id="4" name="TextBox 3"/>
            <p:cNvSpPr txBox="1"/>
            <p:nvPr/>
          </p:nvSpPr>
          <p:spPr>
            <a:xfrm>
              <a:off x="4951597" y="1371600"/>
              <a:ext cx="8454559" cy="2308324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from numba import jit</a:t>
              </a:r>
            </a:p>
            <a:p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@jit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def julia_set(domain, iterations, max_norm, max_iters):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for i, z in enumerate(domain):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while (iterations[i] &lt;= max_iters and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z.real*z.real + z.imag*z.imag &lt;= max_norm*max_norm):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z = z**2 - 0.622772 + 0.42193j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iterations[i] += 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2093527" y="3372147"/>
              <a:ext cx="1315488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julia_numba.py</a:t>
              </a:r>
              <a:endParaRPr lang="nl-BE" sz="1400" dirty="0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135705" y="3985507"/>
            <a:ext cx="8457092" cy="2308324"/>
            <a:chOff x="4951597" y="1371600"/>
            <a:chExt cx="8457092" cy="2308324"/>
          </a:xfrm>
          <a:solidFill>
            <a:schemeClr val="bg1">
              <a:lumMod val="85000"/>
            </a:schemeClr>
          </a:solidFill>
        </p:grpSpPr>
        <p:sp>
          <p:nvSpPr>
            <p:cNvPr id="12" name="TextBox 11"/>
            <p:cNvSpPr txBox="1"/>
            <p:nvPr/>
          </p:nvSpPr>
          <p:spPr>
            <a:xfrm>
              <a:off x="4951597" y="1371600"/>
              <a:ext cx="8454559" cy="2308324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from numba import jit</a:t>
              </a:r>
              <a:r>
                <a:rPr lang="nl-BE" sz="160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, void, int32, float64, complex128</a:t>
              </a:r>
            </a:p>
            <a:p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@jit</a:t>
              </a:r>
              <a:r>
                <a:rPr lang="nl-BE" sz="160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(void(complex128[:], int32[:], float64, int32))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def julia_set(domain, iterations, max_norm, max_iters):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for i, z in enumerate(domain):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while (iterations[i] &lt;= max_iters and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z.real*z.real + z.imag*z.imag &lt;= max_norm*max_norm):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z = z**2 - 0.622772 + 0.42193j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iterations[i] += 1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1609414" y="3372147"/>
              <a:ext cx="1799275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julia_numba_eager.py</a:t>
              </a:r>
              <a:endParaRPr lang="nl-BE" sz="1400" dirty="0"/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6574971" y="4260813"/>
            <a:ext cx="2467634" cy="646331"/>
            <a:chOff x="3043431" y="140677"/>
            <a:chExt cx="2467634" cy="646331"/>
          </a:xfrm>
        </p:grpSpPr>
        <p:sp>
          <p:nvSpPr>
            <p:cNvPr id="14" name="TextBox 13"/>
            <p:cNvSpPr txBox="1"/>
            <p:nvPr/>
          </p:nvSpPr>
          <p:spPr>
            <a:xfrm>
              <a:off x="3579446" y="140677"/>
              <a:ext cx="193161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Function signature</a:t>
              </a:r>
              <a:br>
                <a:rPr lang="en-US" dirty="0">
                  <a:solidFill>
                    <a:srgbClr val="0070C0"/>
                  </a:solidFill>
                </a:rPr>
              </a:br>
              <a:r>
                <a:rPr lang="en-US" dirty="0">
                  <a:solidFill>
                    <a:srgbClr val="0070C0"/>
                  </a:solidFill>
                </a:rPr>
                <a:t>specification</a:t>
              </a:r>
            </a:p>
          </p:txBody>
        </p:sp>
        <p:cxnSp>
          <p:nvCxnSpPr>
            <p:cNvPr id="16" name="Straight Arrow Connector 15"/>
            <p:cNvCxnSpPr>
              <a:stCxn id="14" idx="1"/>
            </p:cNvCxnSpPr>
            <p:nvPr/>
          </p:nvCxnSpPr>
          <p:spPr>
            <a:xfrm flipH="1">
              <a:off x="3043431" y="463843"/>
              <a:ext cx="536015" cy="21295"/>
            </a:xfrm>
            <a:prstGeom prst="straightConnector1">
              <a:avLst/>
            </a:prstGeom>
            <a:ln w="1270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/>
          <p:cNvSpPr txBox="1"/>
          <p:nvPr/>
        </p:nvSpPr>
        <p:spPr>
          <a:xfrm>
            <a:off x="4727418" y="6321366"/>
            <a:ext cx="29396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C00000"/>
                </a:solidFill>
              </a:rPr>
              <a:t>2195 </a:t>
            </a:r>
            <a:r>
              <a:rPr lang="en-US" sz="2000" b="1" dirty="0">
                <a:solidFill>
                  <a:srgbClr val="C00000"/>
                </a:solidFill>
                <a:sym typeface="Symbol"/>
              </a:rPr>
              <a:t></a:t>
            </a:r>
            <a:r>
              <a:rPr lang="en-US" sz="2000" b="1" dirty="0">
                <a:solidFill>
                  <a:srgbClr val="C00000"/>
                </a:solidFill>
              </a:rPr>
              <a:t> faster than Python</a:t>
            </a:r>
            <a:endParaRPr lang="nl-BE" sz="2000" b="1" dirty="0">
              <a:solidFill>
                <a:srgbClr val="C00000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4857261" y="1087861"/>
            <a:ext cx="280980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C00000"/>
                </a:solidFill>
              </a:rPr>
              <a:t>912 </a:t>
            </a:r>
            <a:r>
              <a:rPr lang="en-US" sz="2000" b="1" dirty="0">
                <a:solidFill>
                  <a:srgbClr val="C00000"/>
                </a:solidFill>
                <a:sym typeface="Symbol"/>
              </a:rPr>
              <a:t></a:t>
            </a:r>
            <a:r>
              <a:rPr lang="en-US" sz="2000" b="1" dirty="0">
                <a:solidFill>
                  <a:srgbClr val="C00000"/>
                </a:solidFill>
              </a:rPr>
              <a:t> faster than Python</a:t>
            </a:r>
            <a:endParaRPr lang="nl-BE" sz="2000" b="1" dirty="0">
              <a:solidFill>
                <a:srgbClr val="C00000"/>
              </a:solidFill>
            </a:endParaRPr>
          </a:p>
        </p:txBody>
      </p:sp>
      <p:grpSp>
        <p:nvGrpSpPr>
          <p:cNvPr id="22" name="Group 21"/>
          <p:cNvGrpSpPr/>
          <p:nvPr/>
        </p:nvGrpSpPr>
        <p:grpSpPr>
          <a:xfrm>
            <a:off x="128368" y="2974385"/>
            <a:ext cx="769763" cy="1066800"/>
            <a:chOff x="6513537" y="3200400"/>
            <a:chExt cx="769763" cy="1066800"/>
          </a:xfrm>
        </p:grpSpPr>
        <p:sp>
          <p:nvSpPr>
            <p:cNvPr id="23" name="Curved Left Arrow 22"/>
            <p:cNvSpPr/>
            <p:nvPr/>
          </p:nvSpPr>
          <p:spPr>
            <a:xfrm>
              <a:off x="6858000" y="3200400"/>
              <a:ext cx="386861" cy="1066800"/>
            </a:xfrm>
            <a:prstGeom prst="curvedLeftArrow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6513537" y="3533745"/>
              <a:ext cx="769763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 dirty="0">
                  <a:solidFill>
                    <a:srgbClr val="C00000"/>
                  </a:solidFill>
                </a:rPr>
                <a:t>2.4 </a:t>
              </a:r>
              <a:r>
                <a:rPr lang="en-US" sz="2000" b="1" dirty="0">
                  <a:solidFill>
                    <a:srgbClr val="C00000"/>
                  </a:solidFill>
                  <a:sym typeface="Symbol"/>
                </a:rPr>
                <a:t></a:t>
              </a:r>
              <a:r>
                <a:rPr lang="en-US" sz="2000" b="1" dirty="0">
                  <a:solidFill>
                    <a:srgbClr val="C00000"/>
                  </a:solidFill>
                </a:rPr>
                <a:t> </a:t>
              </a:r>
            </a:p>
            <a:p>
              <a:endParaRPr lang="nl-BE" sz="2000" b="1" dirty="0">
                <a:solidFill>
                  <a:srgbClr val="C0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07985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 mapping</a:t>
            </a:r>
            <a:endParaRPr lang="nl-BE" dirty="0"/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94192797"/>
              </p:ext>
            </p:extLst>
          </p:nvPr>
        </p:nvGraphicFramePr>
        <p:xfrm>
          <a:off x="457200" y="1600200"/>
          <a:ext cx="8229600" cy="2865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Python type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numba</a:t>
                      </a:r>
                      <a:r>
                        <a:rPr lang="en-US" dirty="0"/>
                        <a:t> type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void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int8, uint8, int16, uint16, int32, uint32,</a:t>
                      </a:r>
                      <a:r>
                        <a:rPr lang="en-US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int64, u</a:t>
                      </a:r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int64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float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float32, float64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complex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complex64, complex128</a:t>
                      </a:r>
                      <a:endParaRPr lang="nl-BE" dirty="0">
                        <a:latin typeface="+mn-lt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Courier New" panose="02070309020205020404" pitchFamily="49" charset="0"/>
                        </a:rPr>
                        <a:t>1D array</a:t>
                      </a:r>
                      <a:endParaRPr lang="nl-BE" dirty="0">
                        <a:latin typeface="+mn-lt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Courier New" panose="02070309020205020404" pitchFamily="49" charset="0"/>
                        </a:rPr>
                        <a:t>e.g.,</a:t>
                      </a:r>
                      <a:r>
                        <a:rPr lang="en-US" baseline="0" dirty="0">
                          <a:latin typeface="+mn-lt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float64[:]</a:t>
                      </a:r>
                      <a:endParaRPr lang="nl-BE" dirty="0">
                        <a:latin typeface="+mn-lt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aseline="0" dirty="0">
                          <a:latin typeface="+mn-lt"/>
                          <a:cs typeface="Courier New" panose="02070309020205020404" pitchFamily="49" charset="0"/>
                        </a:rPr>
                        <a:t>2D array</a:t>
                      </a:r>
                      <a:endParaRPr lang="nl-BE" dirty="0">
                        <a:latin typeface="+mn-lt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+mn-lt"/>
                          <a:cs typeface="Courier New" panose="02070309020205020404" pitchFamily="49" charset="0"/>
                        </a:rPr>
                        <a:t>e.g.,</a:t>
                      </a:r>
                      <a:r>
                        <a:rPr lang="en-US" baseline="0" dirty="0">
                          <a:latin typeface="+mn-lt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float64[:, :]</a:t>
                      </a:r>
                      <a:endParaRPr lang="nl-BE" dirty="0">
                        <a:latin typeface="+mn-lt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31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669592" y="5301584"/>
            <a:ext cx="742876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Note: no maximum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2400" dirty="0"/>
              <a:t> in Python 3, </a:t>
            </a:r>
            <a:r>
              <a:rPr lang="en-US" sz="2400" dirty="0" err="1"/>
              <a:t>numba</a:t>
            </a:r>
            <a:r>
              <a:rPr lang="en-US" sz="2400" dirty="0"/>
              <a:t> can overflow!</a:t>
            </a:r>
            <a:endParaRPr lang="nl-BE" sz="2400" dirty="0"/>
          </a:p>
        </p:txBody>
      </p:sp>
    </p:spTree>
    <p:extLst>
      <p:ext uri="{BB962C8B-B14F-4D97-AF65-F5344CB8AC3E}">
        <p14:creationId xmlns:p14="http://schemas.microsoft.com/office/powerpoint/2010/main" val="2722567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</a:t>
            </a:r>
            <a:r>
              <a:rPr lang="en-US" dirty="0" err="1"/>
              <a:t>ufunc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</a:t>
            </a:r>
            <a:r>
              <a:rPr lang="en-US" dirty="0" err="1"/>
              <a:t>ufunc</a:t>
            </a:r>
            <a:endParaRPr lang="en-US" dirty="0"/>
          </a:p>
          <a:p>
            <a:pPr lvl="1"/>
            <a:r>
              <a:rPr lang="en-US" dirty="0"/>
              <a:t>element-wise on </a:t>
            </a:r>
            <a:r>
              <a:rPr lang="en-US" dirty="0" err="1"/>
              <a:t>numpy</a:t>
            </a:r>
            <a:r>
              <a:rPr lang="en-US" dirty="0"/>
              <a:t> arrays</a:t>
            </a:r>
          </a:p>
          <a:p>
            <a:pPr lvl="1"/>
            <a:r>
              <a:rPr lang="en-US" dirty="0"/>
              <a:t>supports reduction, accumulation, broadcasting</a:t>
            </a:r>
          </a:p>
          <a:p>
            <a:pPr lvl="1"/>
            <a:r>
              <a:rPr lang="en-US" dirty="0"/>
              <a:t>can be written in C/</a:t>
            </a:r>
            <a:r>
              <a:rPr lang="en-US" dirty="0" err="1"/>
              <a:t>Cython</a:t>
            </a:r>
            <a:endParaRPr lang="en-US" dirty="0"/>
          </a:p>
          <a:p>
            <a:pPr lvl="2"/>
            <a:r>
              <a:rPr lang="en-US" dirty="0"/>
              <a:t>cumbersome</a:t>
            </a:r>
          </a:p>
          <a:p>
            <a:r>
              <a:rPr lang="en-US" dirty="0" err="1"/>
              <a:t>numba</a:t>
            </a:r>
            <a:endParaRPr lang="en-US" dirty="0"/>
          </a:p>
          <a:p>
            <a:pPr lvl="1"/>
            <a:r>
              <a:rPr lang="en-US" dirty="0"/>
              <a:t>@</a:t>
            </a:r>
            <a:r>
              <a:rPr lang="en-US" dirty="0" err="1"/>
              <a:t>vectorize</a:t>
            </a:r>
            <a:r>
              <a:rPr lang="en-US" dirty="0"/>
              <a:t>: create </a:t>
            </a:r>
            <a:r>
              <a:rPr lang="en-US" dirty="0" err="1"/>
              <a:t>ufunc</a:t>
            </a:r>
            <a:endParaRPr lang="en-US" dirty="0"/>
          </a:p>
          <a:p>
            <a:pPr lvl="1"/>
            <a:r>
              <a:rPr lang="en-US" dirty="0"/>
              <a:t>@</a:t>
            </a:r>
            <a:r>
              <a:rPr lang="en-US" dirty="0" err="1"/>
              <a:t>guvectorize</a:t>
            </a:r>
            <a:r>
              <a:rPr lang="en-US" dirty="0"/>
              <a:t>: create generalized </a:t>
            </a:r>
            <a:r>
              <a:rPr lang="en-US" dirty="0" err="1"/>
              <a:t>ufunc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32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9750759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ufunc</a:t>
            </a:r>
            <a:r>
              <a:rPr lang="en-US" dirty="0"/>
              <a:t>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33</a:t>
            </a:fld>
            <a:endParaRPr lang="nl-BE"/>
          </a:p>
        </p:txBody>
      </p:sp>
      <p:grpSp>
        <p:nvGrpSpPr>
          <p:cNvPr id="5" name="Group 4"/>
          <p:cNvGrpSpPr/>
          <p:nvPr/>
        </p:nvGrpSpPr>
        <p:grpSpPr>
          <a:xfrm>
            <a:off x="343454" y="1715196"/>
            <a:ext cx="8454559" cy="2800767"/>
            <a:chOff x="4951597" y="1371600"/>
            <a:chExt cx="8454559" cy="2800767"/>
          </a:xfrm>
          <a:solidFill>
            <a:schemeClr val="bg1">
              <a:lumMod val="85000"/>
            </a:schemeClr>
          </a:solidFill>
        </p:grpSpPr>
        <p:sp>
          <p:nvSpPr>
            <p:cNvPr id="6" name="TextBox 5"/>
            <p:cNvSpPr txBox="1"/>
            <p:nvPr/>
          </p:nvSpPr>
          <p:spPr>
            <a:xfrm>
              <a:off x="4951597" y="1371600"/>
              <a:ext cx="8454559" cy="2800767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from numba import </a:t>
              </a:r>
              <a:r>
                <a:rPr lang="nl-BE" sz="160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guvectorize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, void, int32, float64, complex128</a:t>
              </a:r>
            </a:p>
            <a:p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60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@guvectorize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</a:t>
              </a:r>
              <a:r>
                <a:rPr lang="nl-BE" sz="160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[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void(complex128[:], float64</a:t>
              </a:r>
              <a:r>
                <a:rPr lang="nl-BE" sz="160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[:]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, int32</a:t>
              </a:r>
              <a:r>
                <a:rPr lang="nl-BE" sz="160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[:]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, </a:t>
              </a:r>
              <a:r>
                <a:rPr lang="nl-BE" sz="160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int32[:]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</a:t>
              </a:r>
              <a:r>
                <a:rPr lang="nl-BE" sz="160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]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,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</a:t>
              </a:r>
              <a:r>
                <a:rPr lang="nl-BE" sz="160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'(n),(),()-&gt;(n)'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def julia_set(domain, max_norm, max_iters, </a:t>
              </a:r>
              <a:r>
                <a:rPr lang="nl-BE" sz="160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iterations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for i, z in enumerate(domain):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nl-BE" sz="160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iterations[i] = 0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while (iterations[i] &lt;= max_iters</a:t>
              </a:r>
              <a:r>
                <a:rPr lang="nl-BE" sz="160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[0]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and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z.real**2 + z.imag**2 &lt;= max_norm</a:t>
              </a:r>
              <a:r>
                <a:rPr lang="nl-BE" sz="160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[0]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**2: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z = z**2 - 0.622772 + 0.42193j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iterations[i] += 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2145618" y="3864590"/>
              <a:ext cx="1260538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julia_ufunc.py</a:t>
              </a:r>
              <a:endParaRPr lang="nl-BE" sz="1400" dirty="0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343454" y="4935965"/>
            <a:ext cx="6479659" cy="83099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iterations = julia_set(domain, max_norm, max_iters)</a:t>
            </a:r>
          </a:p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879468" y="5575412"/>
            <a:ext cx="3386183" cy="1061775"/>
            <a:chOff x="879468" y="5575412"/>
            <a:chExt cx="3386183" cy="1061775"/>
          </a:xfrm>
        </p:grpSpPr>
        <p:grpSp>
          <p:nvGrpSpPr>
            <p:cNvPr id="14" name="Group 13"/>
            <p:cNvGrpSpPr/>
            <p:nvPr/>
          </p:nvGrpSpPr>
          <p:grpSpPr>
            <a:xfrm>
              <a:off x="879468" y="5575412"/>
              <a:ext cx="3386183" cy="1061775"/>
              <a:chOff x="2807250" y="-317096"/>
              <a:chExt cx="3386183" cy="1061775"/>
            </a:xfrm>
          </p:grpSpPr>
          <p:sp>
            <p:nvSpPr>
              <p:cNvPr id="15" name="TextBox 14"/>
              <p:cNvSpPr txBox="1"/>
              <p:nvPr/>
            </p:nvSpPr>
            <p:spPr>
              <a:xfrm>
                <a:off x="2807250" y="375347"/>
                <a:ext cx="3386183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70C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0070C0"/>
                    </a:solidFill>
                  </a:rPr>
                  <a:t>2D arrays: automatic broadcasting</a:t>
                </a:r>
              </a:p>
            </p:txBody>
          </p:sp>
          <p:cxnSp>
            <p:nvCxnSpPr>
              <p:cNvPr id="16" name="Straight Arrow Connector 15"/>
              <p:cNvCxnSpPr>
                <a:stCxn id="15" idx="0"/>
              </p:cNvCxnSpPr>
              <p:nvPr/>
            </p:nvCxnSpPr>
            <p:spPr>
              <a:xfrm flipH="1" flipV="1">
                <a:off x="3481453" y="-317096"/>
                <a:ext cx="1018889" cy="692443"/>
              </a:xfrm>
              <a:prstGeom prst="straightConnector1">
                <a:avLst/>
              </a:prstGeom>
              <a:ln w="12700">
                <a:solidFill>
                  <a:srgbClr val="0070C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9" name="Straight Arrow Connector 18"/>
            <p:cNvCxnSpPr>
              <a:stCxn id="15" idx="0"/>
            </p:cNvCxnSpPr>
            <p:nvPr/>
          </p:nvCxnSpPr>
          <p:spPr>
            <a:xfrm flipV="1">
              <a:off x="2572560" y="5575412"/>
              <a:ext cx="955567" cy="692443"/>
            </a:xfrm>
            <a:prstGeom prst="straightConnector1">
              <a:avLst/>
            </a:prstGeom>
            <a:ln w="1270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/>
          <p:cNvGrpSpPr/>
          <p:nvPr/>
        </p:nvGrpSpPr>
        <p:grpSpPr>
          <a:xfrm>
            <a:off x="5692582" y="2938653"/>
            <a:ext cx="3451418" cy="1207771"/>
            <a:chOff x="5692582" y="2938653"/>
            <a:chExt cx="3451418" cy="1207771"/>
          </a:xfrm>
        </p:grpSpPr>
        <p:grpSp>
          <p:nvGrpSpPr>
            <p:cNvPr id="31" name="Group 30"/>
            <p:cNvGrpSpPr/>
            <p:nvPr/>
          </p:nvGrpSpPr>
          <p:grpSpPr>
            <a:xfrm>
              <a:off x="5692582" y="2938653"/>
              <a:ext cx="3317890" cy="768640"/>
              <a:chOff x="5692582" y="2938653"/>
              <a:chExt cx="3317890" cy="768640"/>
            </a:xfrm>
          </p:grpSpPr>
          <p:sp>
            <p:nvSpPr>
              <p:cNvPr id="23" name="TextBox 22"/>
              <p:cNvSpPr txBox="1"/>
              <p:nvPr/>
            </p:nvSpPr>
            <p:spPr>
              <a:xfrm>
                <a:off x="7223316" y="2938653"/>
                <a:ext cx="1787156" cy="461665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solidFill>
                      <a:srgbClr val="C00000"/>
                    </a:solidFill>
                  </a:rPr>
                  <a:t>Don't forget!</a:t>
                </a:r>
              </a:p>
            </p:txBody>
          </p:sp>
          <p:cxnSp>
            <p:nvCxnSpPr>
              <p:cNvPr id="24" name="Straight Arrow Connector 23"/>
              <p:cNvCxnSpPr>
                <a:stCxn id="23" idx="1"/>
              </p:cNvCxnSpPr>
              <p:nvPr/>
            </p:nvCxnSpPr>
            <p:spPr>
              <a:xfrm flipH="1">
                <a:off x="6457950" y="3169486"/>
                <a:ext cx="765366" cy="537807"/>
              </a:xfrm>
              <a:prstGeom prst="straightConnector1">
                <a:avLst/>
              </a:prstGeom>
              <a:ln w="1270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Arrow Connector 25"/>
              <p:cNvCxnSpPr>
                <a:stCxn id="23" idx="1"/>
              </p:cNvCxnSpPr>
              <p:nvPr/>
            </p:nvCxnSpPr>
            <p:spPr>
              <a:xfrm flipH="1">
                <a:off x="5692582" y="3169486"/>
                <a:ext cx="1530734" cy="283841"/>
              </a:xfrm>
              <a:prstGeom prst="straightConnector1">
                <a:avLst/>
              </a:prstGeom>
              <a:ln w="1270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32" name="Picture 3" descr="C:\Users\lucg5005\AppData\Local\Microsoft\Windows\Temporary Internet Files\Content.IE5\T8RCCH8G\cute_snail_by_gniyuhs-d4lvbji[1]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51912" y="3354336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4" name="TextBox 33"/>
          <p:cNvSpPr txBox="1"/>
          <p:nvPr/>
        </p:nvSpPr>
        <p:spPr>
          <a:xfrm>
            <a:off x="3333261" y="1356309"/>
            <a:ext cx="29396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C00000"/>
                </a:solidFill>
              </a:rPr>
              <a:t>1680 </a:t>
            </a:r>
            <a:r>
              <a:rPr lang="en-US" sz="2000" b="1" dirty="0">
                <a:solidFill>
                  <a:srgbClr val="C00000"/>
                </a:solidFill>
                <a:sym typeface="Symbol"/>
              </a:rPr>
              <a:t></a:t>
            </a:r>
            <a:r>
              <a:rPr lang="en-US" sz="2000" b="1" dirty="0">
                <a:solidFill>
                  <a:srgbClr val="C00000"/>
                </a:solidFill>
              </a:rPr>
              <a:t> faster than Python</a:t>
            </a:r>
            <a:endParaRPr lang="nl-BE" sz="2000" b="1" dirty="0">
              <a:solidFill>
                <a:srgbClr val="C00000"/>
              </a:solidFill>
            </a:endParaRPr>
          </a:p>
        </p:txBody>
      </p:sp>
      <p:grpSp>
        <p:nvGrpSpPr>
          <p:cNvPr id="21" name="Group 20"/>
          <p:cNvGrpSpPr/>
          <p:nvPr/>
        </p:nvGrpSpPr>
        <p:grpSpPr>
          <a:xfrm>
            <a:off x="7718580" y="1288384"/>
            <a:ext cx="1291892" cy="904163"/>
            <a:chOff x="7590211" y="3342243"/>
            <a:chExt cx="1291892" cy="904163"/>
          </a:xfrm>
        </p:grpSpPr>
        <p:sp>
          <p:nvSpPr>
            <p:cNvPr id="25" name="TextBox 24"/>
            <p:cNvSpPr txBox="1"/>
            <p:nvPr/>
          </p:nvSpPr>
          <p:spPr>
            <a:xfrm>
              <a:off x="7590211" y="3342243"/>
              <a:ext cx="1291892" cy="3693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Return type</a:t>
              </a:r>
            </a:p>
          </p:txBody>
        </p:sp>
        <p:cxnSp>
          <p:nvCxnSpPr>
            <p:cNvPr id="27" name="Straight Arrow Connector 26"/>
            <p:cNvCxnSpPr>
              <a:stCxn id="25" idx="2"/>
            </p:cNvCxnSpPr>
            <p:nvPr/>
          </p:nvCxnSpPr>
          <p:spPr>
            <a:xfrm flipH="1">
              <a:off x="8132493" y="3711575"/>
              <a:ext cx="103664" cy="534831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96549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34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numba</a:t>
            </a:r>
            <a:r>
              <a:rPr lang="en-US" dirty="0"/>
              <a:t> conclusions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numba</a:t>
            </a:r>
            <a:endParaRPr lang="en-US" dirty="0"/>
          </a:p>
          <a:p>
            <a:pPr lvl="1"/>
            <a:r>
              <a:rPr lang="en-US" dirty="0"/>
              <a:t>Pros</a:t>
            </a:r>
          </a:p>
          <a:p>
            <a:pPr lvl="2"/>
            <a:r>
              <a:rPr lang="en-US" dirty="0"/>
              <a:t>Very simple to use</a:t>
            </a:r>
          </a:p>
          <a:p>
            <a:pPr lvl="2"/>
            <a:r>
              <a:rPr lang="en-US" dirty="0"/>
              <a:t>Offers excellent speedups when applicable</a:t>
            </a:r>
          </a:p>
          <a:p>
            <a:pPr lvl="2"/>
            <a:r>
              <a:rPr lang="en-US" dirty="0"/>
              <a:t>Easy to create </a:t>
            </a:r>
            <a:r>
              <a:rPr lang="en-US" dirty="0" err="1"/>
              <a:t>numpy</a:t>
            </a:r>
            <a:r>
              <a:rPr lang="en-US" dirty="0"/>
              <a:t> </a:t>
            </a:r>
            <a:r>
              <a:rPr lang="en-US" dirty="0" err="1"/>
              <a:t>ufunc</a:t>
            </a:r>
            <a:endParaRPr lang="en-US" dirty="0"/>
          </a:p>
          <a:p>
            <a:pPr lvl="1"/>
            <a:r>
              <a:rPr lang="en-US" dirty="0"/>
              <a:t>Cons</a:t>
            </a:r>
          </a:p>
          <a:p>
            <a:pPr lvl="2"/>
            <a:r>
              <a:rPr lang="en-US" dirty="0"/>
              <a:t>Black box</a:t>
            </a:r>
          </a:p>
          <a:p>
            <a:pPr lvl="2"/>
            <a:r>
              <a:rPr lang="en-US" dirty="0"/>
              <a:t>Requires </a:t>
            </a:r>
            <a:r>
              <a:rPr lang="en-US" dirty="0" err="1"/>
              <a:t>numba</a:t>
            </a:r>
            <a:r>
              <a:rPr lang="en-US" dirty="0"/>
              <a:t> install</a:t>
            </a:r>
          </a:p>
          <a:p>
            <a:r>
              <a:rPr lang="en-US" dirty="0"/>
              <a:t>Features not covered here:</a:t>
            </a:r>
          </a:p>
          <a:p>
            <a:pPr lvl="1"/>
            <a:r>
              <a:rPr lang="en-US" dirty="0"/>
              <a:t>Automatic parallelization: see Notebook</a:t>
            </a:r>
          </a:p>
          <a:p>
            <a:pPr lvl="1"/>
            <a:r>
              <a:rPr lang="en-US" dirty="0"/>
              <a:t>CUDA code generation: requires familiarity with CUDA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1174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Cython</a:t>
            </a:r>
            <a:r>
              <a:rPr lang="en-US" dirty="0"/>
              <a:t> to speed up Python</a:t>
            </a:r>
            <a:endParaRPr lang="nl-B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BE" sz="1400" dirty="0">
                <a:hlinkClick r:id="rId2"/>
              </a:rPr>
              <a:t>https://github.com/gjbex/Python-for-HPC/tree/master/source-code/cython</a:t>
            </a:r>
            <a:r>
              <a:rPr lang="nl-BE" sz="1400" dirty="0"/>
              <a:t> 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416812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Cython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Annotate Python code with type information</a:t>
            </a:r>
          </a:p>
          <a:p>
            <a:r>
              <a:rPr lang="en-US" dirty="0"/>
              <a:t>Code (at least partially) transformed to C</a:t>
            </a:r>
          </a:p>
          <a:p>
            <a:pPr lvl="1"/>
            <a:r>
              <a:rPr lang="en-US" dirty="0"/>
              <a:t>requires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setup.py</a:t>
            </a:r>
            <a:r>
              <a:rPr lang="en-US" dirty="0"/>
              <a:t> file</a:t>
            </a:r>
          </a:p>
          <a:p>
            <a:r>
              <a:rPr lang="en-US" dirty="0"/>
              <a:t>Shared library is build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Motivating example: compute first </a:t>
            </a:r>
            <a:r>
              <a:rPr lang="en-US" i="1" dirty="0"/>
              <a:t>n</a:t>
            </a:r>
            <a:r>
              <a:rPr lang="en-US" dirty="0"/>
              <a:t> prime numbers, return as list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590800" y="4060177"/>
            <a:ext cx="3990388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Return on investment?</a:t>
            </a:r>
            <a:endParaRPr lang="nl-BE" sz="3200" dirty="0"/>
          </a:p>
        </p:txBody>
      </p:sp>
    </p:spTree>
    <p:extLst>
      <p:ext uri="{BB962C8B-B14F-4D97-AF65-F5344CB8AC3E}">
        <p14:creationId xmlns:p14="http://schemas.microsoft.com/office/powerpoint/2010/main" val="362341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Motivating example: timings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37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533400" y="1676400"/>
            <a:ext cx="5561138" cy="286232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nl-BE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[1]: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import </a:t>
            </a:r>
            <a:r>
              <a:rPr lang="nl-BE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primes_vanilla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[2]: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import </a:t>
            </a:r>
            <a:r>
              <a:rPr lang="nl-BE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primes_cython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[3]: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%</a:t>
            </a:r>
            <a:r>
              <a:rPr lang="nl-BE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timeit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primes_c.primes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(1000)</a:t>
            </a:r>
          </a:p>
          <a:p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100 loops, best of 3: </a:t>
            </a:r>
            <a:r>
              <a:rPr lang="nl-B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4.89 ms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per loop</a:t>
            </a:r>
          </a:p>
          <a:p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[4]: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%</a:t>
            </a:r>
            <a:r>
              <a:rPr lang="nl-BE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timeit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primes_p.primes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(1000)</a:t>
            </a:r>
          </a:p>
          <a:p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 loops, best of 3: </a:t>
            </a:r>
            <a:r>
              <a:rPr lang="nl-B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356 ms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per loop</a:t>
            </a:r>
          </a:p>
          <a:p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7" name="Group 6"/>
          <p:cNvGrpSpPr/>
          <p:nvPr/>
        </p:nvGrpSpPr>
        <p:grpSpPr>
          <a:xfrm>
            <a:off x="6858000" y="3200400"/>
            <a:ext cx="1920665" cy="1066800"/>
            <a:chOff x="6858000" y="3200400"/>
            <a:chExt cx="1920665" cy="1066800"/>
          </a:xfrm>
        </p:grpSpPr>
        <p:sp>
          <p:nvSpPr>
            <p:cNvPr id="5" name="Curved Left Arrow 4"/>
            <p:cNvSpPr/>
            <p:nvPr/>
          </p:nvSpPr>
          <p:spPr>
            <a:xfrm flipV="1">
              <a:off x="6858000" y="3200400"/>
              <a:ext cx="533400" cy="1066800"/>
            </a:xfrm>
            <a:prstGeom prst="curvedLeftArrow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467600" y="3562290"/>
              <a:ext cx="131106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 dirty="0">
                  <a:solidFill>
                    <a:srgbClr val="C00000"/>
                  </a:solidFill>
                </a:rPr>
                <a:t>72 </a:t>
              </a:r>
              <a:r>
                <a:rPr lang="en-US" sz="2000" b="1" dirty="0">
                  <a:solidFill>
                    <a:srgbClr val="C00000"/>
                  </a:solidFill>
                  <a:sym typeface="Symbol"/>
                </a:rPr>
                <a:t></a:t>
              </a:r>
              <a:r>
                <a:rPr lang="en-US" sz="2000" b="1" dirty="0">
                  <a:solidFill>
                    <a:srgbClr val="C00000"/>
                  </a:solidFill>
                </a:rPr>
                <a:t> faster</a:t>
              </a:r>
              <a:endParaRPr lang="nl-BE" sz="2000" b="1" dirty="0">
                <a:solidFill>
                  <a:srgbClr val="C00000"/>
                </a:solidFill>
              </a:endParaRP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1981200" y="4800600"/>
            <a:ext cx="5057731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 err="1"/>
              <a:t>Cython</a:t>
            </a:r>
            <a:r>
              <a:rPr lang="en-US" sz="2400" dirty="0"/>
              <a:t> implementation is much faster!</a:t>
            </a:r>
          </a:p>
          <a:p>
            <a:r>
              <a:rPr lang="en-US" sz="2400" dirty="0"/>
              <a:t>but…</a:t>
            </a:r>
            <a:br>
              <a:rPr lang="en-US" sz="2400" dirty="0"/>
            </a:br>
            <a:r>
              <a:rPr lang="en-US" sz="2400" dirty="0"/>
              <a:t>    how much work to get there?</a:t>
            </a:r>
            <a:br>
              <a:rPr lang="en-US" sz="2400" dirty="0"/>
            </a:br>
            <a:r>
              <a:rPr lang="en-US" sz="2400" dirty="0"/>
              <a:t>    how complicated is it?</a:t>
            </a:r>
            <a:endParaRPr lang="nl-BE" sz="2400" dirty="0"/>
          </a:p>
        </p:txBody>
      </p:sp>
    </p:spTree>
    <p:extLst>
      <p:ext uri="{BB962C8B-B14F-4D97-AF65-F5344CB8AC3E}">
        <p14:creationId xmlns:p14="http://schemas.microsoft.com/office/powerpoint/2010/main" val="28252058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Motivating example: code</a:t>
            </a:r>
            <a:endParaRPr lang="nl-B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38</a:t>
            </a:fld>
            <a:endParaRPr lang="en-US"/>
          </a:p>
        </p:txBody>
      </p:sp>
      <p:grpSp>
        <p:nvGrpSpPr>
          <p:cNvPr id="8" name="Group 7"/>
          <p:cNvGrpSpPr/>
          <p:nvPr/>
        </p:nvGrpSpPr>
        <p:grpSpPr>
          <a:xfrm>
            <a:off x="4649138" y="1862207"/>
            <a:ext cx="4373313" cy="4401207"/>
            <a:chOff x="490082" y="1402078"/>
            <a:chExt cx="4373313" cy="4401207"/>
          </a:xfrm>
          <a:solidFill>
            <a:schemeClr val="bg1">
              <a:lumMod val="85000"/>
            </a:schemeClr>
          </a:solidFill>
        </p:grpSpPr>
        <p:sp>
          <p:nvSpPr>
            <p:cNvPr id="3" name="TextBox 2"/>
            <p:cNvSpPr txBox="1"/>
            <p:nvPr/>
          </p:nvSpPr>
          <p:spPr>
            <a:xfrm>
              <a:off x="490082" y="1402080"/>
              <a:ext cx="4373313" cy="4401205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import </a:t>
              </a:r>
              <a:r>
                <a:rPr lang="nl-BE" sz="1400" b="1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cython</a:t>
              </a:r>
              <a:endParaRPr lang="nl-BE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endParaRPr lang="nl-BE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primes(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nr_primes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: cython.int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primes: cython.int[1000]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if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nr_primes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&gt; 1000: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nr_primes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1000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400" b="1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if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400" b="1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not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400" b="1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cython.compiled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:</a:t>
              </a:r>
            </a:p>
            <a:p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      primes = [0] * 1000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n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: cython.int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2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: cython.int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0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while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&lt;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nr_primes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for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prime in primes[: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]: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if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n % prime == 0: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 break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else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primes[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] = n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+= 1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n += 1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return 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[prime </a:t>
              </a:r>
              <a:r>
                <a:rPr lang="nl-BE" sz="1400" b="1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for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prime</a:t>
              </a:r>
            </a:p>
            <a:p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          in primes[:</a:t>
              </a:r>
              <a:r>
                <a:rPr lang="nl-BE" sz="1400" b="1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]]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791563" y="1402078"/>
              <a:ext cx="1071832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primes_c.py</a:t>
              </a:r>
              <a:endParaRPr lang="nl-BE" sz="1400" dirty="0"/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121549" y="1862207"/>
            <a:ext cx="4373313" cy="4401206"/>
            <a:chOff x="4951597" y="1371599"/>
            <a:chExt cx="4373313" cy="4401206"/>
          </a:xfrm>
          <a:solidFill>
            <a:schemeClr val="bg1">
              <a:lumMod val="85000"/>
            </a:schemeClr>
          </a:solidFill>
        </p:grpSpPr>
        <p:sp>
          <p:nvSpPr>
            <p:cNvPr id="4" name="TextBox 3"/>
            <p:cNvSpPr txBox="1"/>
            <p:nvPr/>
          </p:nvSpPr>
          <p:spPr>
            <a:xfrm>
              <a:off x="4951597" y="1371600"/>
              <a:ext cx="4373313" cy="4401205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endParaRPr lang="nl-BE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endParaRPr lang="nl-BE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primes(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nr_primes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primes = [0]*1000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if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nr_primes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&gt; 1000: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nr_primes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1000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n = 2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0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while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&lt;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nr_primes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for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prime in primes[: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]: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if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n % prime == 0: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 break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else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primes[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] = n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+= 1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n += 1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return primes[: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]</a:t>
              </a:r>
            </a:p>
            <a:p>
              <a:endParaRPr lang="nl-BE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endParaRPr lang="nl-BE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endParaRPr lang="nl-BE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233842" y="1371599"/>
              <a:ext cx="1091068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primes_p.py</a:t>
              </a:r>
              <a:endParaRPr lang="nl-BE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4271769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Motivating example:</a:t>
            </a:r>
            <a:br>
              <a:rPr lang="en-US" dirty="0"/>
            </a:br>
            <a:r>
              <a:rPr lang="en-US" dirty="0"/>
              <a:t>setup.py, building &amp; using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39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538297" y="1676400"/>
            <a:ext cx="6167303" cy="1820174"/>
            <a:chOff x="304799" y="1371600"/>
            <a:chExt cx="6167303" cy="1820174"/>
          </a:xfrm>
          <a:solidFill>
            <a:schemeClr val="bg1">
              <a:lumMod val="85000"/>
            </a:schemeClr>
          </a:solidFill>
        </p:grpSpPr>
        <p:sp>
          <p:nvSpPr>
            <p:cNvPr id="5" name="TextBox 4"/>
            <p:cNvSpPr txBox="1"/>
            <p:nvPr/>
          </p:nvSpPr>
          <p:spPr>
            <a:xfrm>
              <a:off x="304799" y="1371600"/>
              <a:ext cx="6167303" cy="1815882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from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distutils.core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import setup</a:t>
              </a:r>
            </a:p>
            <a:p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from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Cython.Build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import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cythonize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setup(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ext_modules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=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cythonize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('primes_c.py’,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          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language_level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=‘3str’)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652956" y="2883997"/>
              <a:ext cx="814390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setup.py</a:t>
              </a:r>
              <a:endParaRPr lang="nl-BE" sz="1400" dirty="0"/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538298" y="3886200"/>
            <a:ext cx="5862502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python  setup.py  </a:t>
            </a:r>
            <a:r>
              <a:rPr lang="nl-BE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build_ext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--</a:t>
            </a:r>
            <a:r>
              <a:rPr lang="nl-BE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inplace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841336" y="3076783"/>
            <a:ext cx="2209800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Fairly painless,</a:t>
            </a:r>
            <a:br>
              <a:rPr lang="en-US" sz="2400" dirty="0"/>
            </a:br>
            <a:r>
              <a:rPr lang="en-US" sz="2400" dirty="0"/>
              <a:t>don't forget to</a:t>
            </a:r>
            <a:br>
              <a:rPr lang="en-US" sz="2400" dirty="0"/>
            </a:br>
            <a:r>
              <a:rPr lang="en-US" sz="2400" dirty="0"/>
              <a:t>build though!</a:t>
            </a:r>
            <a:endParaRPr lang="nl-BE" sz="2400" dirty="0"/>
          </a:p>
        </p:txBody>
      </p:sp>
      <p:grpSp>
        <p:nvGrpSpPr>
          <p:cNvPr id="9" name="Group 8"/>
          <p:cNvGrpSpPr/>
          <p:nvPr/>
        </p:nvGrpSpPr>
        <p:grpSpPr>
          <a:xfrm>
            <a:off x="533400" y="4736068"/>
            <a:ext cx="5868042" cy="1817132"/>
            <a:chOff x="304800" y="1371600"/>
            <a:chExt cx="5868042" cy="1817132"/>
          </a:xfrm>
          <a:solidFill>
            <a:schemeClr val="bg1">
              <a:lumMod val="85000"/>
            </a:schemeClr>
          </a:solidFill>
        </p:grpSpPr>
        <p:sp>
          <p:nvSpPr>
            <p:cNvPr id="10" name="TextBox 9"/>
            <p:cNvSpPr txBox="1"/>
            <p:nvPr/>
          </p:nvSpPr>
          <p:spPr>
            <a:xfrm>
              <a:off x="304800" y="1371600"/>
              <a:ext cx="5868042" cy="1815882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#!/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usr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/bin/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env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python</a:t>
              </a:r>
            </a:p>
            <a:p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from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primes_c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import primes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import sys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results = primes(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int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sys.argv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[1]))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print(', '.join(map(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str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, results)))</a:t>
              </a:r>
              <a:endParaRPr lang="nl-BE" sz="1600" dirty="0" err="1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265477" y="2880955"/>
              <a:ext cx="906723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primes.py</a:t>
              </a:r>
              <a:endParaRPr lang="nl-BE" sz="1400" dirty="0"/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4191000" y="4572000"/>
            <a:ext cx="3697651" cy="762000"/>
            <a:chOff x="3733800" y="2743200"/>
            <a:chExt cx="3697651" cy="762000"/>
          </a:xfrm>
        </p:grpSpPr>
        <p:sp>
          <p:nvSpPr>
            <p:cNvPr id="13" name="TextBox 12"/>
            <p:cNvSpPr txBox="1"/>
            <p:nvPr/>
          </p:nvSpPr>
          <p:spPr>
            <a:xfrm>
              <a:off x="5238928" y="2743200"/>
              <a:ext cx="2192523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Import like any</a:t>
              </a:r>
              <a:br>
                <a:rPr lang="nl-BE" dirty="0"/>
              </a:br>
              <a:r>
                <a:rPr lang="nl-BE" dirty="0" err="1"/>
                <a:t>other</a:t>
              </a:r>
              <a:r>
                <a:rPr lang="nl-BE" dirty="0"/>
                <a:t> Python module</a:t>
              </a:r>
              <a:endParaRPr lang="en-US" dirty="0"/>
            </a:p>
          </p:txBody>
        </p:sp>
        <p:cxnSp>
          <p:nvCxnSpPr>
            <p:cNvPr id="14" name="Straight Arrow Connector 13"/>
            <p:cNvCxnSpPr>
              <a:stCxn id="13" idx="1"/>
            </p:cNvCxnSpPr>
            <p:nvPr/>
          </p:nvCxnSpPr>
          <p:spPr>
            <a:xfrm flipH="1">
              <a:off x="3733800" y="3066366"/>
              <a:ext cx="1505128" cy="43883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61335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Alternative: .pyx files</a:t>
            </a:r>
            <a:endParaRPr lang="nl-B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40</a:t>
            </a:fld>
            <a:endParaRPr lang="en-US"/>
          </a:p>
        </p:txBody>
      </p:sp>
      <p:grpSp>
        <p:nvGrpSpPr>
          <p:cNvPr id="8" name="Group 7"/>
          <p:cNvGrpSpPr/>
          <p:nvPr/>
        </p:nvGrpSpPr>
        <p:grpSpPr>
          <a:xfrm>
            <a:off x="122160" y="1859893"/>
            <a:ext cx="4373313" cy="4401207"/>
            <a:chOff x="490082" y="1402078"/>
            <a:chExt cx="4373313" cy="4401207"/>
          </a:xfrm>
          <a:solidFill>
            <a:schemeClr val="bg1">
              <a:lumMod val="85000"/>
            </a:schemeClr>
          </a:solidFill>
        </p:grpSpPr>
        <p:sp>
          <p:nvSpPr>
            <p:cNvPr id="3" name="TextBox 2"/>
            <p:cNvSpPr txBox="1"/>
            <p:nvPr/>
          </p:nvSpPr>
          <p:spPr>
            <a:xfrm>
              <a:off x="490082" y="1402080"/>
              <a:ext cx="4373313" cy="4401205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import </a:t>
              </a:r>
              <a:r>
                <a:rPr lang="nl-BE" sz="1400" b="1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cython</a:t>
              </a:r>
              <a:endParaRPr lang="nl-BE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endParaRPr lang="nl-BE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primes(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nr_primes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: cython.int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primes: cython.int[1000]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if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nr_primes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&gt; 1000: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nr_primes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1000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400" b="1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if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400" b="1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not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400" b="1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cython.compiled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:</a:t>
              </a:r>
            </a:p>
            <a:p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      primes = [0] * 1000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n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: cython.int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2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: cython.int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0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while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&lt;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nr_primes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for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prime in primes[: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]: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if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n % prime == 0: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 break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else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primes[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] = n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+= 1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n += 1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return [prime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for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prime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in primes[: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]]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791563" y="1402078"/>
              <a:ext cx="1071832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primes_c.py</a:t>
              </a:r>
              <a:endParaRPr lang="nl-BE" sz="1400" dirty="0"/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4648528" y="1862207"/>
            <a:ext cx="4375473" cy="4401206"/>
            <a:chOff x="4951597" y="1371599"/>
            <a:chExt cx="4375473" cy="4401206"/>
          </a:xfrm>
          <a:solidFill>
            <a:schemeClr val="bg1">
              <a:lumMod val="85000"/>
            </a:schemeClr>
          </a:solidFill>
        </p:grpSpPr>
        <p:sp>
          <p:nvSpPr>
            <p:cNvPr id="4" name="TextBox 3"/>
            <p:cNvSpPr txBox="1"/>
            <p:nvPr/>
          </p:nvSpPr>
          <p:spPr>
            <a:xfrm>
              <a:off x="4951597" y="1371600"/>
              <a:ext cx="4373313" cy="4401205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endParaRPr lang="nl-BE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endParaRPr lang="nl-BE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primes(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int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nr_primes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400" b="1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int primes[1000]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if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nr_primes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&gt; 1000: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nr_primes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1000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400" b="1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int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n = 2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400" b="1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nl-BE" sz="1400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int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0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while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&lt;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nr_primes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for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prime in primes[: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]: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if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n % prime == 0: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 break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else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: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primes[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] = n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+= 1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n += 1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return [prime 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for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prime in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primes[:</a:t>
              </a:r>
              <a:r>
                <a:rPr lang="nl-BE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nr_found</a:t>
              </a:r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]]</a:t>
              </a:r>
            </a:p>
            <a:p>
              <a:endParaRPr lang="nl-BE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endParaRPr lang="nl-BE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176690" y="1371599"/>
              <a:ext cx="1150380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 err="1"/>
                <a:t>primes_c.pyx</a:t>
              </a:r>
              <a:endParaRPr lang="nl-BE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9029971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Cython</a:t>
            </a:r>
            <a:r>
              <a:rPr lang="en-US" dirty="0"/>
              <a:t> &amp; </a:t>
            </a:r>
            <a:r>
              <a:rPr lang="en-US" dirty="0" err="1"/>
              <a:t>cProfile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Default: </a:t>
            </a:r>
            <a:r>
              <a:rPr lang="en-US" dirty="0" err="1"/>
              <a:t>Cython</a:t>
            </a:r>
            <a:r>
              <a:rPr lang="en-US" dirty="0"/>
              <a:t> function not visible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cProfile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356996" y="2441563"/>
            <a:ext cx="5084317" cy="2585323"/>
            <a:chOff x="639108" y="4153691"/>
            <a:chExt cx="5084317" cy="2585323"/>
          </a:xfrm>
        </p:grpSpPr>
        <p:sp>
          <p:nvSpPr>
            <p:cNvPr id="4" name="TextBox 3"/>
            <p:cNvSpPr txBox="1"/>
            <p:nvPr/>
          </p:nvSpPr>
          <p:spPr>
            <a:xfrm>
              <a:off x="639108" y="4153691"/>
              <a:ext cx="5084317" cy="258532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integrate(f, a, b, n=1000):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dx = (b - a)/n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total = 0.0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for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in range(n):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total += f(a +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*dx)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return total*dx</a:t>
              </a:r>
            </a:p>
            <a:p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sin2(x):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return sin(x)**2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4866150" y="6431237"/>
              <a:ext cx="853823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 err="1"/>
                <a:t>quad.pyx</a:t>
              </a:r>
              <a:endParaRPr lang="nl-BE" sz="1400" dirty="0"/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356997" y="5264154"/>
            <a:ext cx="5084318" cy="1203947"/>
            <a:chOff x="564497" y="4153691"/>
            <a:chExt cx="5084318" cy="1203947"/>
          </a:xfrm>
        </p:grpSpPr>
        <p:sp>
          <p:nvSpPr>
            <p:cNvPr id="8" name="TextBox 7"/>
            <p:cNvSpPr txBox="1"/>
            <p:nvPr/>
          </p:nvSpPr>
          <p:spPr>
            <a:xfrm>
              <a:off x="564497" y="4153691"/>
              <a:ext cx="5084318" cy="1200329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from quad import integrate, sin2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result = integrate(sin2, 0.0, 3.14)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4593766" y="5049861"/>
              <a:ext cx="1054006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compute.py</a:t>
              </a:r>
              <a:endParaRPr lang="nl-BE" sz="1400"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5817144" y="3589506"/>
            <a:ext cx="2890920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cProfile</a:t>
            </a:r>
            <a:r>
              <a:rPr lang="en-US" sz="2400" dirty="0"/>
              <a:t> will show</a:t>
            </a:r>
            <a:br>
              <a:rPr lang="en-US" sz="2400" dirty="0"/>
            </a:b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integrate</a:t>
            </a:r>
            <a:r>
              <a:rPr lang="en-US" sz="2400" dirty="0"/>
              <a:t>, not</a:t>
            </a:r>
            <a:br>
              <a:rPr lang="nl-BE" sz="2400" dirty="0"/>
            </a:br>
            <a:r>
              <a:rPr lang="nl-B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sin2</a:t>
            </a:r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41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17888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Switching on profiling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whole file: compiler directive </a:t>
            </a:r>
            <a:r>
              <a:rPr lang="en-US" i="1" dirty="0"/>
              <a:t>on first line</a:t>
            </a:r>
          </a:p>
          <a:p>
            <a:endParaRPr lang="en-US" i="1" dirty="0"/>
          </a:p>
          <a:p>
            <a:endParaRPr lang="en-US" i="1" dirty="0"/>
          </a:p>
          <a:p>
            <a:endParaRPr lang="en-US" i="1" dirty="0"/>
          </a:p>
          <a:p>
            <a:endParaRPr lang="en-US" i="1" dirty="0"/>
          </a:p>
          <a:p>
            <a:r>
              <a:rPr lang="en-US" dirty="0"/>
              <a:t>For individual functions: decorator</a:t>
            </a:r>
            <a:endParaRPr lang="nl-BE" dirty="0"/>
          </a:p>
        </p:txBody>
      </p:sp>
      <p:grpSp>
        <p:nvGrpSpPr>
          <p:cNvPr id="4" name="Group 3"/>
          <p:cNvGrpSpPr/>
          <p:nvPr/>
        </p:nvGrpSpPr>
        <p:grpSpPr>
          <a:xfrm>
            <a:off x="1433352" y="2499931"/>
            <a:ext cx="5084317" cy="1758443"/>
            <a:chOff x="639108" y="4153691"/>
            <a:chExt cx="5084317" cy="1758443"/>
          </a:xfrm>
        </p:grpSpPr>
        <p:sp>
          <p:nvSpPr>
            <p:cNvPr id="5" name="TextBox 4"/>
            <p:cNvSpPr txBox="1"/>
            <p:nvPr/>
          </p:nvSpPr>
          <p:spPr>
            <a:xfrm>
              <a:off x="639108" y="4153691"/>
              <a:ext cx="5084317" cy="1754326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#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cython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: profile=True </a:t>
              </a:r>
            </a:p>
            <a:p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integrate(f, a, b, n=1000):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dx = (b - a)/n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total = 0.0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4866150" y="5604357"/>
              <a:ext cx="853823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 err="1"/>
                <a:t>quad.pyx</a:t>
              </a:r>
              <a:endParaRPr lang="nl-BE" sz="1400" dirty="0"/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1426448" y="4885576"/>
            <a:ext cx="5084317" cy="1758443"/>
            <a:chOff x="639108" y="4153691"/>
            <a:chExt cx="5084317" cy="1758443"/>
          </a:xfrm>
        </p:grpSpPr>
        <p:sp>
          <p:nvSpPr>
            <p:cNvPr id="8" name="TextBox 7"/>
            <p:cNvSpPr txBox="1"/>
            <p:nvPr/>
          </p:nvSpPr>
          <p:spPr>
            <a:xfrm>
              <a:off x="639108" y="4153691"/>
              <a:ext cx="5084317" cy="1754326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cimport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cython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  <a:p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@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cython.profile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(True)</a:t>
              </a:r>
            </a:p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sin2(x):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return sin(x)**2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4866150" y="5604357"/>
              <a:ext cx="853823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 err="1"/>
                <a:t>quad.pyx</a:t>
              </a:r>
              <a:endParaRPr lang="nl-BE" sz="1400"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6838527" y="3871563"/>
            <a:ext cx="2192010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Caveat:</a:t>
            </a:r>
          </a:p>
          <a:p>
            <a:r>
              <a:rPr lang="en-US" dirty="0"/>
              <a:t>Python functions</a:t>
            </a:r>
            <a:br>
              <a:rPr lang="en-US" dirty="0"/>
            </a:br>
            <a:r>
              <a:rPr lang="en-US" dirty="0"/>
              <a:t>sometimes disappear</a:t>
            </a:r>
            <a:endParaRPr lang="nl-BE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42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689653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0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to start?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Compiler can annotate: yellow lines "Python heavy"</a:t>
            </a:r>
            <a:endParaRPr lang="nl-BE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2981" y="2349552"/>
            <a:ext cx="5234900" cy="44313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4"/>
          <p:cNvSpPr txBox="1"/>
          <p:nvPr/>
        </p:nvSpPr>
        <p:spPr>
          <a:xfrm>
            <a:off x="4312642" y="4070866"/>
            <a:ext cx="4549268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nl-BE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cython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--</a:t>
            </a:r>
            <a:r>
              <a:rPr lang="nl-BE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annotate</a:t>
            </a:r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BE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quad.pyx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7169285" y="4565235"/>
            <a:ext cx="1425390" cy="1193220"/>
            <a:chOff x="7169285" y="4565235"/>
            <a:chExt cx="1425390" cy="1193220"/>
          </a:xfrm>
        </p:grpSpPr>
        <p:sp>
          <p:nvSpPr>
            <p:cNvPr id="4" name="TextBox 3"/>
            <p:cNvSpPr txBox="1"/>
            <p:nvPr/>
          </p:nvSpPr>
          <p:spPr>
            <a:xfrm>
              <a:off x="7169285" y="5389123"/>
              <a:ext cx="14253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quad.html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endCxn id="4" idx="0"/>
            </p:cNvCxnSpPr>
            <p:nvPr/>
          </p:nvCxnSpPr>
          <p:spPr>
            <a:xfrm>
              <a:off x="7881980" y="4565235"/>
              <a:ext cx="0" cy="823888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43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343215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type declarations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Statically defined type: used at compile time</a:t>
            </a:r>
          </a:p>
          <a:p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</a:t>
            </a:r>
            <a:r>
              <a:rPr lang="en-US" dirty="0"/>
              <a:t> module types for declaration</a:t>
            </a:r>
          </a:p>
          <a:p>
            <a:pPr lvl="1"/>
            <a:r>
              <a:rPr lang="en-US" dirty="0"/>
              <a:t>Local variables, e.g.,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Function parameters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Python types with C implementation:</a:t>
            </a:r>
            <a:r>
              <a:rPr lang="nl-BE" dirty="0"/>
              <a:t> 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nl-BE" dirty="0"/>
              <a:t>, 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  <a:r>
              <a:rPr lang="nl-BE" dirty="0"/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nl-BE" dirty="0"/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tuple</a:t>
            </a:r>
            <a:r>
              <a:rPr lang="nl-BE" dirty="0">
                <a:cs typeface="Courier New" panose="02070309020205020404" pitchFamily="49" charset="0"/>
              </a:rPr>
              <a:t>, e.g.,</a:t>
            </a: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44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675214" y="3069080"/>
            <a:ext cx="3803746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j: cython.int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cython.double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[100]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676399" y="4154269"/>
            <a:ext cx="3803746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def primes(k: cython.int):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675214" y="5939393"/>
            <a:ext cx="266611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results: list = []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11" name="Group 10"/>
          <p:cNvGrpSpPr/>
          <p:nvPr/>
        </p:nvGrpSpPr>
        <p:grpSpPr>
          <a:xfrm>
            <a:off x="4839570" y="2866340"/>
            <a:ext cx="2862451" cy="646331"/>
            <a:chOff x="4419600" y="2743200"/>
            <a:chExt cx="2862451" cy="646331"/>
          </a:xfrm>
        </p:grpSpPr>
        <p:sp>
          <p:nvSpPr>
            <p:cNvPr id="5" name="TextBox 4"/>
            <p:cNvSpPr txBox="1"/>
            <p:nvPr/>
          </p:nvSpPr>
          <p:spPr>
            <a:xfrm>
              <a:off x="5238928" y="2743200"/>
              <a:ext cx="2043123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Array of C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double</a:t>
              </a:r>
              <a:r>
                <a:rPr lang="en-US" dirty="0"/>
                <a:t>,</a:t>
              </a:r>
              <a:br>
                <a:rPr lang="en-US" dirty="0"/>
              </a:br>
              <a:r>
                <a:rPr lang="en-US" dirty="0"/>
                <a:t>size 100</a:t>
              </a:r>
              <a:endParaRPr lang="nl-BE" dirty="0"/>
            </a:p>
          </p:txBody>
        </p:sp>
        <p:cxnSp>
          <p:nvCxnSpPr>
            <p:cNvPr id="10" name="Straight Arrow Connector 9"/>
            <p:cNvCxnSpPr>
              <a:stCxn id="5" idx="1"/>
            </p:cNvCxnSpPr>
            <p:nvPr/>
          </p:nvCxnSpPr>
          <p:spPr>
            <a:xfrm flipH="1">
              <a:off x="4419600" y="3066366"/>
              <a:ext cx="819328" cy="32316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4629575" y="5754469"/>
            <a:ext cx="3403665" cy="646331"/>
            <a:chOff x="4296706" y="2743200"/>
            <a:chExt cx="3403665" cy="646331"/>
          </a:xfrm>
        </p:grpSpPr>
        <p:sp>
          <p:nvSpPr>
            <p:cNvPr id="15" name="TextBox 14"/>
            <p:cNvSpPr txBox="1"/>
            <p:nvPr/>
          </p:nvSpPr>
          <p:spPr>
            <a:xfrm>
              <a:off x="5238928" y="2743200"/>
              <a:ext cx="2461443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Declaration allows</a:t>
              </a:r>
              <a:br>
                <a:rPr lang="en-US" dirty="0"/>
              </a:br>
              <a:r>
                <a:rPr lang="en-US" dirty="0"/>
                <a:t>specific code generation</a:t>
              </a:r>
              <a:endParaRPr lang="nl-BE" dirty="0"/>
            </a:p>
          </p:txBody>
        </p:sp>
        <p:cxnSp>
          <p:nvCxnSpPr>
            <p:cNvPr id="16" name="Straight Arrow Connector 15"/>
            <p:cNvCxnSpPr>
              <a:stCxn id="15" idx="1"/>
            </p:cNvCxnSpPr>
            <p:nvPr/>
          </p:nvCxnSpPr>
          <p:spPr>
            <a:xfrm flipH="1">
              <a:off x="4296706" y="3066366"/>
              <a:ext cx="942222" cy="4642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817134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6" grpId="0" animBg="1"/>
      <p:bldP spid="7" grpId="0" animBg="1"/>
      <p:bldP spid="8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Cython</a:t>
            </a:r>
            <a:r>
              <a:rPr lang="en-US" dirty="0"/>
              <a:t> type declarations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Statically defined type: used at compile time</a:t>
            </a:r>
          </a:p>
          <a:p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/>
              <a:t> </a:t>
            </a:r>
            <a:r>
              <a:rPr lang="en-US" dirty="0" err="1"/>
              <a:t>Cython</a:t>
            </a:r>
            <a:r>
              <a:rPr lang="en-US" dirty="0"/>
              <a:t> keyword for declaration</a:t>
            </a:r>
          </a:p>
          <a:p>
            <a:pPr lvl="1"/>
            <a:r>
              <a:rPr lang="en-US" dirty="0"/>
              <a:t>Local variables, e.g.,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Function parameters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Python types with C implementation:</a:t>
            </a:r>
            <a:r>
              <a:rPr lang="nl-BE" dirty="0"/>
              <a:t> 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nl-BE" dirty="0"/>
              <a:t>, 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  <a:r>
              <a:rPr lang="nl-BE" dirty="0"/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nl-BE" dirty="0"/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tuple</a:t>
            </a:r>
            <a:r>
              <a:rPr lang="nl-BE" dirty="0">
                <a:cs typeface="Courier New" panose="02070309020205020404" pitchFamily="49" charset="0"/>
              </a:rPr>
              <a:t>, e.g.,</a:t>
            </a: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45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675214" y="3069080"/>
            <a:ext cx="2666114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j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double x[100]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676399" y="4154269"/>
            <a:ext cx="2664929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primes(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k):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675214" y="5939393"/>
            <a:ext cx="321754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list results = []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11" name="Group 10"/>
          <p:cNvGrpSpPr/>
          <p:nvPr/>
        </p:nvGrpSpPr>
        <p:grpSpPr>
          <a:xfrm>
            <a:off x="4225040" y="2869664"/>
            <a:ext cx="2862451" cy="646331"/>
            <a:chOff x="4419600" y="2743200"/>
            <a:chExt cx="2862451" cy="646331"/>
          </a:xfrm>
        </p:grpSpPr>
        <p:sp>
          <p:nvSpPr>
            <p:cNvPr id="5" name="TextBox 4"/>
            <p:cNvSpPr txBox="1"/>
            <p:nvPr/>
          </p:nvSpPr>
          <p:spPr>
            <a:xfrm>
              <a:off x="5238928" y="2743200"/>
              <a:ext cx="2043123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Array of C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double</a:t>
              </a:r>
              <a:r>
                <a:rPr lang="en-US" dirty="0"/>
                <a:t>,</a:t>
              </a:r>
              <a:br>
                <a:rPr lang="en-US" dirty="0"/>
              </a:br>
              <a:r>
                <a:rPr lang="en-US" dirty="0"/>
                <a:t>size 100</a:t>
              </a:r>
              <a:endParaRPr lang="nl-BE" dirty="0"/>
            </a:p>
          </p:txBody>
        </p:sp>
        <p:cxnSp>
          <p:nvCxnSpPr>
            <p:cNvPr id="10" name="Straight Arrow Connector 9"/>
            <p:cNvCxnSpPr>
              <a:stCxn id="5" idx="1"/>
            </p:cNvCxnSpPr>
            <p:nvPr/>
          </p:nvCxnSpPr>
          <p:spPr>
            <a:xfrm flipH="1">
              <a:off x="4419600" y="3066366"/>
              <a:ext cx="819328" cy="32316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5015655" y="5754469"/>
            <a:ext cx="3403665" cy="646331"/>
            <a:chOff x="4296706" y="2743200"/>
            <a:chExt cx="3403665" cy="646331"/>
          </a:xfrm>
        </p:grpSpPr>
        <p:sp>
          <p:nvSpPr>
            <p:cNvPr id="15" name="TextBox 14"/>
            <p:cNvSpPr txBox="1"/>
            <p:nvPr/>
          </p:nvSpPr>
          <p:spPr>
            <a:xfrm>
              <a:off x="5238928" y="2743200"/>
              <a:ext cx="2461443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Declaration allows</a:t>
              </a:r>
              <a:br>
                <a:rPr lang="en-US" dirty="0"/>
              </a:br>
              <a:r>
                <a:rPr lang="en-US" dirty="0"/>
                <a:t>specific code generation</a:t>
              </a:r>
              <a:endParaRPr lang="nl-BE" dirty="0"/>
            </a:p>
          </p:txBody>
        </p:sp>
        <p:cxnSp>
          <p:nvCxnSpPr>
            <p:cNvPr id="16" name="Straight Arrow Connector 15"/>
            <p:cNvCxnSpPr>
              <a:stCxn id="15" idx="1"/>
            </p:cNvCxnSpPr>
            <p:nvPr/>
          </p:nvCxnSpPr>
          <p:spPr>
            <a:xfrm flipH="1">
              <a:off x="4296706" y="3066366"/>
              <a:ext cx="942222" cy="4642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83139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6" grpId="0" animBg="1"/>
      <p:bldP spid="7" grpId="0" animBg="1"/>
      <p:bldP spid="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 mapping</a:t>
            </a:r>
            <a:endParaRPr lang="nl-BE" dirty="0"/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3134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Python type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C/C++ type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bool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bint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[unsigned]</a:t>
                      </a:r>
                      <a:r>
                        <a:rPr lang="en-US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short</a:t>
                      </a:r>
                      <a:r>
                        <a:rPr lang="en-US" baseline="0" dirty="0">
                          <a:latin typeface="+mn-lt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</a:t>
                      </a:r>
                      <a:r>
                        <a:rPr lang="en-US" baseline="0" dirty="0">
                          <a:latin typeface="+mn-lt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long</a:t>
                      </a:r>
                      <a:r>
                        <a:rPr lang="en-US" baseline="0" dirty="0">
                          <a:latin typeface="+mn-lt"/>
                          <a:cs typeface="Courier New" panose="02070309020205020404" pitchFamily="49" charset="0"/>
                        </a:rPr>
                        <a:t>,</a:t>
                      </a:r>
                      <a:r>
                        <a:rPr lang="en-US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long </a:t>
                      </a:r>
                      <a:r>
                        <a:rPr lang="en-US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long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float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float</a:t>
                      </a:r>
                      <a:r>
                        <a:rPr lang="en-US" dirty="0">
                          <a:latin typeface="+mn-lt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double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complex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float complex</a:t>
                      </a:r>
                      <a:r>
                        <a:rPr lang="en-US" dirty="0">
                          <a:latin typeface="+mn-lt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double complex</a:t>
                      </a:r>
                      <a:r>
                        <a:rPr lang="en-US" dirty="0">
                          <a:latin typeface="+mn-lt"/>
                          <a:cs typeface="Courier New" panose="02070309020205020404" pitchFamily="49" charset="0"/>
                        </a:rPr>
                        <a:t> (represented as C </a:t>
                      </a:r>
                      <a:r>
                        <a:rPr lang="en-US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struct</a:t>
                      </a:r>
                      <a:r>
                        <a:rPr lang="en-US" dirty="0">
                          <a:latin typeface="+mn-lt"/>
                          <a:cs typeface="Courier New" panose="02070309020205020404" pitchFamily="49" charset="0"/>
                        </a:rPr>
                        <a:t>)</a:t>
                      </a:r>
                      <a:endParaRPr lang="nl-BE" dirty="0">
                        <a:latin typeface="+mn-lt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bytes</a:t>
                      </a:r>
                      <a:r>
                        <a:rPr lang="en-US" dirty="0">
                          <a:latin typeface="+mn-lt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str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char</a:t>
                      </a:r>
                      <a:r>
                        <a:rPr lang="en-US" dirty="0">
                          <a:latin typeface="+mn-lt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std</a:t>
                      </a:r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::string </a:t>
                      </a:r>
                      <a:r>
                        <a:rPr lang="en-US" dirty="0">
                          <a:latin typeface="+mn-lt"/>
                          <a:cs typeface="Courier New" panose="02070309020205020404" pitchFamily="49" charset="0"/>
                        </a:rPr>
                        <a:t>(C++)</a:t>
                      </a:r>
                      <a:endParaRPr lang="nl-BE" dirty="0">
                        <a:latin typeface="+mn-lt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dict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struct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46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669592" y="5301584"/>
            <a:ext cx="737490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Note: no maximum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2400" dirty="0"/>
              <a:t> in Python 3, C/C++ can overflow!</a:t>
            </a:r>
            <a:endParaRPr lang="nl-BE" sz="2400" dirty="0"/>
          </a:p>
        </p:txBody>
      </p:sp>
    </p:spTree>
    <p:extLst>
      <p:ext uri="{BB962C8B-B14F-4D97-AF65-F5344CB8AC3E}">
        <p14:creationId xmlns:p14="http://schemas.microsoft.com/office/powerpoint/2010/main" val="3402426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 casts &amp; </a:t>
            </a:r>
            <a:r>
              <a:rPr lang="en-US" dirty="0" err="1"/>
              <a:t>typedefs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78606" y="1825625"/>
            <a:ext cx="8743950" cy="4351338"/>
          </a:xfrm>
        </p:spPr>
        <p:txBody>
          <a:bodyPr/>
          <a:lstStyle/>
          <a:p>
            <a:r>
              <a:rPr lang="en-US" dirty="0"/>
              <a:t>Type casting</a:t>
            </a:r>
          </a:p>
          <a:p>
            <a:pPr lvl="1"/>
            <a:r>
              <a:rPr lang="en-US" dirty="0"/>
              <a:t>In C: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 =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 b</a:t>
            </a:r>
          </a:p>
          <a:p>
            <a:pPr lvl="1"/>
            <a:r>
              <a:rPr lang="en-US" dirty="0"/>
              <a:t>In Python: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cython.cast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(cython.int, b)</a:t>
            </a:r>
          </a:p>
          <a:p>
            <a:pPr lvl="1"/>
            <a:r>
              <a:rPr lang="en-US" dirty="0"/>
              <a:t>In </a:t>
            </a:r>
            <a:r>
              <a:rPr lang="en-US" dirty="0" err="1"/>
              <a:t>Cython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 = &lt;int&gt; b</a:t>
            </a:r>
          </a:p>
          <a:p>
            <a:r>
              <a:rPr lang="en-US" dirty="0"/>
              <a:t>Type aliases</a:t>
            </a:r>
          </a:p>
          <a:p>
            <a:pPr lvl="1"/>
            <a:r>
              <a:rPr lang="en-US" dirty="0"/>
              <a:t>In C: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typedef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double real</a:t>
            </a:r>
          </a:p>
          <a:p>
            <a:pPr lvl="1"/>
            <a:r>
              <a:rPr lang="en-US" dirty="0"/>
              <a:t>In Python: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real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cython.typedef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cython.double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lvl="1"/>
            <a:r>
              <a:rPr lang="en-US" dirty="0"/>
              <a:t>In </a:t>
            </a:r>
            <a:r>
              <a:rPr lang="en-US" dirty="0" err="1"/>
              <a:t>Cython</a:t>
            </a:r>
            <a:r>
              <a:rPr lang="en-US" dirty="0"/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ctypedef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double real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29029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81EAF-A9FE-5BA5-5766-A702C0202F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 casts &amp; typedefs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F863E1-B5FF-D2CF-7216-C7E2D78E5B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Type casting</a:t>
            </a:r>
          </a:p>
          <a:p>
            <a:pPr lvl="1"/>
            <a:r>
              <a:rPr lang="en-US" dirty="0"/>
              <a:t>In C: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 = (int) b</a:t>
            </a:r>
          </a:p>
          <a:p>
            <a:pPr lvl="1"/>
            <a:r>
              <a:rPr lang="en-US" dirty="0"/>
              <a:t>In Python: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cython.cast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(cython.int, b)</a:t>
            </a:r>
          </a:p>
          <a:p>
            <a:pPr lvl="1"/>
            <a:r>
              <a:rPr lang="en-US" dirty="0"/>
              <a:t>In </a:t>
            </a:r>
            <a:r>
              <a:rPr lang="en-US" dirty="0" err="1"/>
              <a:t>Cython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 = &lt;int&gt; b</a:t>
            </a:r>
          </a:p>
          <a:p>
            <a:endParaRPr lang="en-US" dirty="0"/>
          </a:p>
          <a:p>
            <a:r>
              <a:rPr lang="en-US" dirty="0"/>
              <a:t>Type aliases</a:t>
            </a:r>
          </a:p>
          <a:p>
            <a:pPr lvl="1"/>
            <a:r>
              <a:rPr lang="en-US" dirty="0"/>
              <a:t>In C: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typedef double real</a:t>
            </a:r>
          </a:p>
          <a:p>
            <a:pPr lvl="1"/>
            <a:r>
              <a:rPr lang="en-US" dirty="0"/>
              <a:t>In Python: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real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cython.typedef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cython.double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lvl="1"/>
            <a:r>
              <a:rPr lang="en-US" dirty="0"/>
              <a:t>In </a:t>
            </a:r>
            <a:r>
              <a:rPr lang="en-US" dirty="0" err="1"/>
              <a:t>Cython</a:t>
            </a:r>
            <a:r>
              <a:rPr lang="en-US" dirty="0"/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ctypedef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double real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96199E-F695-E13E-51CA-A14EA7700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48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9071454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Cython</a:t>
            </a:r>
            <a:r>
              <a:rPr lang="en-US" dirty="0"/>
              <a:t> structures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</a:t>
            </a:r>
            <a:r>
              <a:rPr lang="en-US" dirty="0" err="1"/>
              <a:t>struct</a:t>
            </a:r>
            <a:r>
              <a:rPr lang="en-US" dirty="0"/>
              <a:t> type in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particle.pyx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Declare and use variables in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particle.pyx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 variables in Python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49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6800" y="2316808"/>
            <a:ext cx="3079689" cy="120032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Particle: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x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y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charge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4142727" y="2376012"/>
            <a:ext cx="3816709" cy="369332"/>
            <a:chOff x="4751785" y="3245348"/>
            <a:chExt cx="3816709" cy="369332"/>
          </a:xfrm>
        </p:grpSpPr>
        <p:sp>
          <p:nvSpPr>
            <p:cNvPr id="7" name="TextBox 6"/>
            <p:cNvSpPr txBox="1"/>
            <p:nvPr/>
          </p:nvSpPr>
          <p:spPr>
            <a:xfrm>
              <a:off x="5238928" y="3245348"/>
              <a:ext cx="3329566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Note: Python-like block structure</a:t>
              </a:r>
              <a:endParaRPr lang="nl-BE" dirty="0"/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>
              <a:off x="4751785" y="3430014"/>
              <a:ext cx="487143" cy="184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1067686" y="4304504"/>
            <a:ext cx="5285421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distance(Particle p):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math.sqrt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p.x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**2 +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p.y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**2)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3124200" y="2713410"/>
            <a:ext cx="3352800" cy="659202"/>
            <a:chOff x="2971800" y="2606402"/>
            <a:chExt cx="3352800" cy="659202"/>
          </a:xfrm>
        </p:grpSpPr>
        <p:grpSp>
          <p:nvGrpSpPr>
            <p:cNvPr id="10" name="Group 9"/>
            <p:cNvGrpSpPr/>
            <p:nvPr/>
          </p:nvGrpSpPr>
          <p:grpSpPr>
            <a:xfrm>
              <a:off x="3139767" y="2751826"/>
              <a:ext cx="3184833" cy="369332"/>
              <a:chOff x="3886200" y="2743200"/>
              <a:chExt cx="3184833" cy="369332"/>
            </a:xfrm>
          </p:grpSpPr>
          <p:sp>
            <p:nvSpPr>
              <p:cNvPr id="11" name="TextBox 10"/>
              <p:cNvSpPr txBox="1"/>
              <p:nvPr/>
            </p:nvSpPr>
            <p:spPr>
              <a:xfrm>
                <a:off x="5238928" y="2743200"/>
                <a:ext cx="1832105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Field declarations</a:t>
                </a:r>
                <a:endParaRPr lang="nl-BE" dirty="0"/>
              </a:p>
            </p:txBody>
          </p:sp>
          <p:cxnSp>
            <p:nvCxnSpPr>
              <p:cNvPr id="12" name="Straight Arrow Connector 11"/>
              <p:cNvCxnSpPr>
                <a:stCxn id="11" idx="1"/>
              </p:cNvCxnSpPr>
              <p:nvPr/>
            </p:nvCxnSpPr>
            <p:spPr>
              <a:xfrm flipH="1">
                <a:off x="3886200" y="2927866"/>
                <a:ext cx="1352728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5" name="Right Brace 14"/>
            <p:cNvSpPr/>
            <p:nvPr/>
          </p:nvSpPr>
          <p:spPr>
            <a:xfrm>
              <a:off x="2971800" y="2606402"/>
              <a:ext cx="152400" cy="659202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3352800" y="4601785"/>
            <a:ext cx="5315496" cy="819352"/>
            <a:chOff x="3091992" y="2293180"/>
            <a:chExt cx="5315496" cy="819352"/>
          </a:xfrm>
        </p:grpSpPr>
        <p:sp>
          <p:nvSpPr>
            <p:cNvPr id="19" name="TextBox 18"/>
            <p:cNvSpPr txBox="1"/>
            <p:nvPr/>
          </p:nvSpPr>
          <p:spPr>
            <a:xfrm>
              <a:off x="5238928" y="2743200"/>
              <a:ext cx="3168560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Note: no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struct</a:t>
              </a:r>
              <a:r>
                <a:rPr lang="en-US" dirty="0"/>
                <a:t> in type name</a:t>
              </a:r>
              <a:endParaRPr lang="nl-BE" dirty="0"/>
            </a:p>
          </p:txBody>
        </p:sp>
        <p:cxnSp>
          <p:nvCxnSpPr>
            <p:cNvPr id="20" name="Straight Arrow Connector 19"/>
            <p:cNvCxnSpPr>
              <a:stCxn id="19" idx="1"/>
            </p:cNvCxnSpPr>
            <p:nvPr/>
          </p:nvCxnSpPr>
          <p:spPr>
            <a:xfrm flipH="1" flipV="1">
              <a:off x="3091992" y="2293180"/>
              <a:ext cx="2146936" cy="63468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TextBox 23"/>
          <p:cNvSpPr txBox="1"/>
          <p:nvPr/>
        </p:nvSpPr>
        <p:spPr>
          <a:xfrm>
            <a:off x="1066800" y="5844728"/>
            <a:ext cx="5423280" cy="92333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particle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 = {'x': 1.0, 'y': -2.3, 'charge': 1}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print(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particle.distance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(p))</a:t>
            </a:r>
          </a:p>
        </p:txBody>
      </p:sp>
    </p:spTree>
    <p:extLst>
      <p:ext uri="{BB962C8B-B14F-4D97-AF65-F5344CB8AC3E}">
        <p14:creationId xmlns:p14="http://schemas.microsoft.com/office/powerpoint/2010/main" val="973798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  <p:bldP spid="2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structures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</a:t>
            </a:r>
            <a:r>
              <a:rPr lang="en-US" dirty="0" err="1"/>
              <a:t>struct</a:t>
            </a:r>
            <a:r>
              <a:rPr lang="en-US" dirty="0"/>
              <a:t> type in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particle.pyx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Declare and use variables in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particle.pyx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 variables in Python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50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6800" y="2316808"/>
            <a:ext cx="3631122" cy="147732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Particle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cython.struct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x=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cython.double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y=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cython.double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charge-cython.int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7686" y="4304504"/>
            <a:ext cx="6112571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def distance(p: Particle) -&gt;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cython.double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math.sqrt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p.x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**2 +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p.y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**2)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4231640" y="2735464"/>
            <a:ext cx="3352800" cy="659202"/>
            <a:chOff x="2971800" y="2606402"/>
            <a:chExt cx="3352800" cy="659202"/>
          </a:xfrm>
        </p:grpSpPr>
        <p:grpSp>
          <p:nvGrpSpPr>
            <p:cNvPr id="10" name="Group 9"/>
            <p:cNvGrpSpPr/>
            <p:nvPr/>
          </p:nvGrpSpPr>
          <p:grpSpPr>
            <a:xfrm>
              <a:off x="3139767" y="2751826"/>
              <a:ext cx="3184833" cy="369332"/>
              <a:chOff x="3886200" y="2743200"/>
              <a:chExt cx="3184833" cy="369332"/>
            </a:xfrm>
          </p:grpSpPr>
          <p:sp>
            <p:nvSpPr>
              <p:cNvPr id="11" name="TextBox 10"/>
              <p:cNvSpPr txBox="1"/>
              <p:nvPr/>
            </p:nvSpPr>
            <p:spPr>
              <a:xfrm>
                <a:off x="5238928" y="2743200"/>
                <a:ext cx="1832105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Field declarations</a:t>
                </a:r>
                <a:endParaRPr lang="nl-BE" dirty="0"/>
              </a:p>
            </p:txBody>
          </p:sp>
          <p:cxnSp>
            <p:nvCxnSpPr>
              <p:cNvPr id="12" name="Straight Arrow Connector 11"/>
              <p:cNvCxnSpPr>
                <a:stCxn id="11" idx="1"/>
              </p:cNvCxnSpPr>
              <p:nvPr/>
            </p:nvCxnSpPr>
            <p:spPr>
              <a:xfrm flipH="1">
                <a:off x="3886200" y="2927866"/>
                <a:ext cx="1352728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5" name="Right Brace 14"/>
            <p:cNvSpPr/>
            <p:nvPr/>
          </p:nvSpPr>
          <p:spPr>
            <a:xfrm>
              <a:off x="2971800" y="2606402"/>
              <a:ext cx="152400" cy="659202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1066800" y="5844728"/>
            <a:ext cx="5423280" cy="92333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particle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 = {'x': 1.0, 'y': -2.3, 'charge': 1}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print(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particle.distance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(p))</a:t>
            </a:r>
          </a:p>
        </p:txBody>
      </p:sp>
    </p:spTree>
    <p:extLst>
      <p:ext uri="{BB962C8B-B14F-4D97-AF65-F5344CB8AC3E}">
        <p14:creationId xmlns:p14="http://schemas.microsoft.com/office/powerpoint/2010/main" val="34071282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Cython</a:t>
            </a:r>
            <a:r>
              <a:rPr lang="en-US" dirty="0"/>
              <a:t> pointers</a:t>
            </a:r>
            <a:endParaRPr lang="nl-BE" dirty="0"/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Declaring pointer variable</a:t>
            </a:r>
          </a:p>
          <a:p>
            <a:endParaRPr lang="en-US" dirty="0"/>
          </a:p>
          <a:p>
            <a:r>
              <a:rPr lang="en-US" dirty="0"/>
              <a:t>Address operator</a:t>
            </a:r>
          </a:p>
          <a:p>
            <a:endParaRPr lang="en-US" dirty="0"/>
          </a:p>
          <a:p>
            <a:r>
              <a:rPr lang="en-US" dirty="0"/>
              <a:t>Dereferencing</a:t>
            </a:r>
          </a:p>
          <a:p>
            <a:endParaRPr lang="en-US" dirty="0"/>
          </a:p>
          <a:p>
            <a:pPr lvl="1"/>
            <a:r>
              <a:rPr lang="en-US" dirty="0"/>
              <a:t>C: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*p</a:t>
            </a:r>
          </a:p>
          <a:p>
            <a:pPr lvl="1"/>
            <a:r>
              <a:rPr lang="en-US" dirty="0" err="1"/>
              <a:t>Cython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p[0]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51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1295400" y="2297352"/>
            <a:ext cx="231415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*p, a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2895601" y="2602153"/>
            <a:ext cx="2970373" cy="494252"/>
            <a:chOff x="3906569" y="2368898"/>
            <a:chExt cx="2970373" cy="494252"/>
          </a:xfrm>
        </p:grpSpPr>
        <p:sp>
          <p:nvSpPr>
            <p:cNvPr id="9" name="TextBox 8"/>
            <p:cNvSpPr txBox="1"/>
            <p:nvPr/>
          </p:nvSpPr>
          <p:spPr>
            <a:xfrm>
              <a:off x="5290097" y="2493818"/>
              <a:ext cx="1586845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pointer to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int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 flipV="1">
              <a:off x="3906569" y="2368898"/>
              <a:ext cx="1383528" cy="30958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3352800" y="2117472"/>
            <a:ext cx="3519998" cy="369332"/>
            <a:chOff x="3219342" y="2493818"/>
            <a:chExt cx="3519998" cy="369332"/>
          </a:xfrm>
        </p:grpSpPr>
        <p:sp>
          <p:nvSpPr>
            <p:cNvPr id="13" name="TextBox 12"/>
            <p:cNvSpPr txBox="1"/>
            <p:nvPr/>
          </p:nvSpPr>
          <p:spPr>
            <a:xfrm>
              <a:off x="5290097" y="2493818"/>
              <a:ext cx="144924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int</a:t>
              </a:r>
              <a:r>
                <a:rPr lang="en-US" dirty="0">
                  <a:cs typeface="Courier New" panose="02070309020205020404" pitchFamily="49" charset="0"/>
                </a:rPr>
                <a:t> variable</a:t>
              </a:r>
              <a:endParaRPr lang="nl-BE" dirty="0"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>
              <a:stCxn id="13" idx="1"/>
            </p:cNvCxnSpPr>
            <p:nvPr/>
          </p:nvCxnSpPr>
          <p:spPr>
            <a:xfrm flipH="1">
              <a:off x="3219342" y="2678484"/>
              <a:ext cx="2070755" cy="184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/>
          <p:cNvSpPr txBox="1"/>
          <p:nvPr/>
        </p:nvSpPr>
        <p:spPr>
          <a:xfrm>
            <a:off x="1295400" y="3288268"/>
            <a:ext cx="231415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 = &amp;a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95400" y="4343400"/>
            <a:ext cx="231415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p[0] +=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4313" y="3276600"/>
            <a:ext cx="262142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r>
              <a:rPr lang="en-US" sz="2000" dirty="0"/>
              <a:t> contains address of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endParaRPr lang="nl-BE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343400" y="4324290"/>
            <a:ext cx="21101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p[0]</a:t>
            </a:r>
            <a:r>
              <a:rPr lang="en-US" sz="2000" dirty="0"/>
              <a:t> is value at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endParaRPr lang="nl-BE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8071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  <p:bldP spid="7" grpId="0" animBg="1"/>
      <p:bldP spid="16" grpId="0" animBg="1"/>
      <p:bldP spid="17" grpId="0" animBg="1"/>
      <p:bldP spid="18" grpId="0"/>
      <p:bldP spid="19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pointers</a:t>
            </a:r>
            <a:endParaRPr lang="nl-BE" dirty="0"/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Declaring pointer variable</a:t>
            </a:r>
          </a:p>
          <a:p>
            <a:endParaRPr lang="en-US" dirty="0"/>
          </a:p>
          <a:p>
            <a:r>
              <a:rPr lang="en-US" dirty="0"/>
              <a:t>Address operator</a:t>
            </a:r>
          </a:p>
          <a:p>
            <a:endParaRPr lang="en-US" dirty="0"/>
          </a:p>
          <a:p>
            <a:r>
              <a:rPr lang="en-US" dirty="0"/>
              <a:t>Dereferencing</a:t>
            </a:r>
          </a:p>
          <a:p>
            <a:endParaRPr lang="en-US" dirty="0"/>
          </a:p>
          <a:p>
            <a:pPr lvl="1"/>
            <a:r>
              <a:rPr lang="en-US" dirty="0"/>
              <a:t>C: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*p</a:t>
            </a:r>
          </a:p>
          <a:p>
            <a:pPr lvl="1"/>
            <a:r>
              <a:rPr lang="en-US" dirty="0"/>
              <a:t>Python: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p[0]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52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1295400" y="2297352"/>
            <a:ext cx="327660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cython.p_int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295400" y="3288268"/>
            <a:ext cx="327660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cython.address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95400" y="4343400"/>
            <a:ext cx="231415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p[0] +=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0793" y="3276600"/>
            <a:ext cx="262142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r>
              <a:rPr lang="en-US" sz="2000" dirty="0"/>
              <a:t> contains address of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endParaRPr lang="nl-BE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390793" y="4222690"/>
            <a:ext cx="21101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p[0]</a:t>
            </a:r>
            <a:r>
              <a:rPr lang="en-US" sz="2000" dirty="0"/>
              <a:t> is value at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</a:t>
            </a:r>
            <a:endParaRPr lang="nl-BE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0D2580E-19B6-9FB6-B31B-0146DC72AE69}"/>
              </a:ext>
            </a:extLst>
          </p:cNvPr>
          <p:cNvSpPr txBox="1"/>
          <p:nvPr/>
        </p:nvSpPr>
        <p:spPr>
          <a:xfrm>
            <a:off x="3724415" y="5230356"/>
            <a:ext cx="4976427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function pointers currently</a:t>
            </a:r>
          </a:p>
          <a:p>
            <a:r>
              <a:rPr lang="en-US" sz="2800" dirty="0"/>
              <a:t>not implemented!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2178414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  <p:bldP spid="7" grpId="0" animBg="1"/>
      <p:bldP spid="16" grpId="0" animBg="1"/>
      <p:bldP spid="17" grpId="0" animBg="1"/>
      <p:bldP spid="18" grpId="0"/>
      <p:bldP spid="19" grpId="0"/>
      <p:bldP spid="2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 protocol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Some Python objects expose internal data through buffer protocol</a:t>
            </a:r>
          </a:p>
          <a:p>
            <a:pPr lvl="1"/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bytes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bytearray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array.array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For direct access, wrap in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memoryview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Delivers fast direct access from generated C code to Python data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53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152400" y="4800600"/>
            <a:ext cx="5009705" cy="1477328"/>
            <a:chOff x="304800" y="4800600"/>
            <a:chExt cx="5009705" cy="1477328"/>
          </a:xfrm>
        </p:grpSpPr>
        <p:sp>
          <p:nvSpPr>
            <p:cNvPr id="5" name="TextBox 4"/>
            <p:cNvSpPr txBox="1"/>
            <p:nvPr/>
          </p:nvSpPr>
          <p:spPr>
            <a:xfrm>
              <a:off x="304800" y="4800600"/>
              <a:ext cx="5009705" cy="147732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data =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array.array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('d', [0.0]*1000)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result = compute(</a:t>
              </a:r>
              <a:r>
                <a:rPr lang="en-US" b="1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memoryview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(data))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4505595" y="5969478"/>
              <a:ext cx="802527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some.py</a:t>
              </a:r>
              <a:endParaRPr lang="nl-BE" sz="1400" dirty="0"/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5638800" y="4800600"/>
            <a:ext cx="3217547" cy="1482304"/>
            <a:chOff x="304800" y="4800600"/>
            <a:chExt cx="3217547" cy="1482304"/>
          </a:xfrm>
        </p:grpSpPr>
        <p:sp>
          <p:nvSpPr>
            <p:cNvPr id="9" name="TextBox 8"/>
            <p:cNvSpPr txBox="1"/>
            <p:nvPr/>
          </p:nvSpPr>
          <p:spPr>
            <a:xfrm>
              <a:off x="304800" y="4800600"/>
              <a:ext cx="3217547" cy="147732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compute(array)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int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n,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n =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array.shape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[0]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for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in range(n):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… array[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] …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04800" y="5975127"/>
              <a:ext cx="867802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 err="1"/>
                <a:t>other.pyx</a:t>
              </a:r>
              <a:endParaRPr lang="nl-BE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97330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arrays support the buffer protocol!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54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618226" y="2362200"/>
            <a:ext cx="5990392" cy="3298594"/>
            <a:chOff x="304800" y="1371600"/>
            <a:chExt cx="5990392" cy="3298594"/>
          </a:xfrm>
          <a:solidFill>
            <a:schemeClr val="bg1">
              <a:lumMod val="85000"/>
            </a:schemeClr>
          </a:solidFill>
        </p:grpSpPr>
        <p:sp>
          <p:nvSpPr>
            <p:cNvPr id="6" name="TextBox 5"/>
            <p:cNvSpPr txBox="1"/>
            <p:nvPr/>
          </p:nvSpPr>
          <p:spPr>
            <a:xfrm>
              <a:off x="304800" y="1371600"/>
              <a:ext cx="5985934" cy="3293209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array_sum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return _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array_sum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(memoryview(a))</a:t>
              </a:r>
            </a:p>
            <a:p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double _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array_sum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(double[:,::1]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mem_view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double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total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0.0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int m =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mem_view.shape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[0]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int n =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mem_view.shape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[1]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int i, j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for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i in range(m):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for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j in range(n):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total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+=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mem_view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[i, j]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return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total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041194" y="4362417"/>
              <a:ext cx="1253998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 err="1"/>
                <a:t>array_sum.pyx</a:t>
              </a:r>
              <a:endParaRPr lang="nl-BE" sz="1400" dirty="0"/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6863299" y="4845185"/>
            <a:ext cx="1921167" cy="1323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Almost as fast as</a:t>
            </a:r>
            <a:br>
              <a:rPr lang="nl-BE" sz="2000" dirty="0"/>
            </a:br>
            <a:r>
              <a:rPr lang="nl-B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np.sum</a:t>
            </a:r>
            <a: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(a)</a:t>
            </a:r>
            <a:b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sz="2000" dirty="0" err="1">
                <a:cs typeface="Courier New" panose="02070309020205020404" pitchFamily="49" charset="0"/>
              </a:rPr>
              <a:t>lots</a:t>
            </a:r>
            <a:r>
              <a:rPr lang="nl-BE" sz="2000" dirty="0">
                <a:cs typeface="Courier New" panose="02070309020205020404" pitchFamily="49" charset="0"/>
              </a:rPr>
              <a:t> </a:t>
            </a:r>
            <a:r>
              <a:rPr lang="nl-BE" sz="2000" dirty="0" err="1">
                <a:cs typeface="Courier New" panose="02070309020205020404" pitchFamily="49" charset="0"/>
              </a:rPr>
              <a:t>faster</a:t>
            </a:r>
            <a:r>
              <a:rPr lang="nl-BE" sz="2000" dirty="0">
                <a:cs typeface="Courier New" panose="02070309020205020404" pitchFamily="49" charset="0"/>
              </a:rPr>
              <a:t> </a:t>
            </a:r>
            <a:r>
              <a:rPr lang="nl-BE" sz="2000" dirty="0" err="1">
                <a:cs typeface="Courier New" panose="02070309020205020404" pitchFamily="49" charset="0"/>
              </a:rPr>
              <a:t>than</a:t>
            </a:r>
            <a:br>
              <a:rPr lang="nl-BE" sz="2000" dirty="0">
                <a:cs typeface="Courier New" panose="02070309020205020404" pitchFamily="49" charset="0"/>
              </a:rPr>
            </a:br>
            <a:r>
              <a:rPr lang="nl-BE" sz="2000" dirty="0">
                <a:cs typeface="Courier New" panose="02070309020205020404" pitchFamily="49" charset="0"/>
              </a:rPr>
              <a:t>pure Python</a:t>
            </a:r>
            <a:endParaRPr lang="en-US" sz="2000" dirty="0">
              <a:cs typeface="Courier New" panose="02070309020205020404" pitchFamily="49" charset="0"/>
            </a:endParaRPr>
          </a:p>
        </p:txBody>
      </p:sp>
      <p:grpSp>
        <p:nvGrpSpPr>
          <p:cNvPr id="9" name="Group 8"/>
          <p:cNvGrpSpPr/>
          <p:nvPr/>
        </p:nvGrpSpPr>
        <p:grpSpPr>
          <a:xfrm>
            <a:off x="4951379" y="2506592"/>
            <a:ext cx="3322050" cy="878634"/>
            <a:chOff x="3280897" y="2415994"/>
            <a:chExt cx="3322050" cy="878634"/>
          </a:xfrm>
        </p:grpSpPr>
        <p:sp>
          <p:nvSpPr>
            <p:cNvPr id="10" name="TextBox 9"/>
            <p:cNvSpPr txBox="1"/>
            <p:nvPr/>
          </p:nvSpPr>
          <p:spPr>
            <a:xfrm>
              <a:off x="5192817" y="2415994"/>
              <a:ext cx="1410130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cs typeface="Courier New" panose="02070309020205020404" pitchFamily="49" charset="0"/>
                </a:rPr>
                <a:t>2D array,</a:t>
              </a:r>
              <a:br>
                <a:rPr lang="en-US" dirty="0">
                  <a:cs typeface="Courier New" panose="02070309020205020404" pitchFamily="49" charset="0"/>
                </a:rPr>
              </a:br>
              <a:r>
                <a:rPr lang="en-US" dirty="0">
                  <a:cs typeface="Courier New" panose="02070309020205020404" pitchFamily="49" charset="0"/>
                </a:rPr>
                <a:t>C-contiguous</a:t>
              </a:r>
              <a:endParaRPr lang="nl-BE" dirty="0">
                <a:cs typeface="Courier New" panose="02070309020205020404" pitchFamily="49" charset="0"/>
              </a:endParaRPr>
            </a:p>
          </p:txBody>
        </p:sp>
        <p:cxnSp>
          <p:nvCxnSpPr>
            <p:cNvPr id="11" name="Straight Arrow Connector 10"/>
            <p:cNvCxnSpPr>
              <a:stCxn id="10" idx="1"/>
            </p:cNvCxnSpPr>
            <p:nvPr/>
          </p:nvCxnSpPr>
          <p:spPr>
            <a:xfrm flipH="1">
              <a:off x="3280897" y="2739160"/>
              <a:ext cx="1911920" cy="55546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TextBox 13"/>
          <p:cNvSpPr txBox="1"/>
          <p:nvPr/>
        </p:nvSpPr>
        <p:spPr>
          <a:xfrm>
            <a:off x="618226" y="5924145"/>
            <a:ext cx="4070592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double[:, ::1] mv</a:t>
            </a:r>
            <a:r>
              <a:rPr lang="en-US" dirty="0"/>
              <a:t>    C-layout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double[::1, :] mv</a:t>
            </a:r>
            <a:r>
              <a:rPr lang="en-US" dirty="0"/>
              <a:t>    Fortran-layout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9994919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memoryview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472" y="2833991"/>
            <a:ext cx="8229600" cy="353536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Number of dimensions: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mv.ndim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== 2</a:t>
            </a:r>
          </a:p>
          <a:p>
            <a:r>
              <a:rPr lang="en-US" dirty="0"/>
              <a:t>Shape: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mv.shape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== (4, 7)</a:t>
            </a:r>
          </a:p>
          <a:p>
            <a:r>
              <a:rPr lang="en-US" dirty="0"/>
              <a:t>Data type: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mv.format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== 'd'</a:t>
            </a:r>
          </a:p>
          <a:p>
            <a:r>
              <a:rPr lang="en-US" dirty="0">
                <a:cs typeface="Courier New" panose="02070309020205020404" pitchFamily="49" charset="0"/>
              </a:rPr>
              <a:t>Data size: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mv.itemsize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== 8</a:t>
            </a:r>
          </a:p>
          <a:p>
            <a:r>
              <a:rPr lang="en-US" dirty="0"/>
              <a:t>Size: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mv.nbytes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== 4*7*8</a:t>
            </a:r>
          </a:p>
          <a:p>
            <a:r>
              <a:rPr lang="en-US" dirty="0"/>
              <a:t>Strides: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mv.strides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== (56, 8)</a:t>
            </a:r>
          </a:p>
          <a:p>
            <a:r>
              <a:rPr lang="en-US" dirty="0">
                <a:cs typeface="Courier New" panose="02070309020205020404" pitchFamily="49" charset="0"/>
              </a:rPr>
              <a:t>Read only?: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mv.readonly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== False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55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14400" y="1660749"/>
            <a:ext cx="6858001" cy="92333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data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(0.0, 1.0, 28).reshape(4, 7)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mv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memoryview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(data)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00325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Cython</a:t>
            </a:r>
            <a:r>
              <a:rPr lang="en-US" dirty="0"/>
              <a:t>: three types of functions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962400" cy="452596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Pure Python</a:t>
            </a:r>
          </a:p>
          <a:p>
            <a:pPr lvl="1"/>
            <a:r>
              <a:rPr lang="en-US" dirty="0"/>
              <a:t>Can be called anywhere</a:t>
            </a:r>
          </a:p>
          <a:p>
            <a:pPr lvl="1"/>
            <a:r>
              <a:rPr lang="en-US" dirty="0"/>
              <a:t>Slow</a:t>
            </a:r>
          </a:p>
          <a:p>
            <a:r>
              <a:rPr lang="en-US" dirty="0"/>
              <a:t>Pure </a:t>
            </a:r>
            <a:r>
              <a:rPr lang="en-US" dirty="0" err="1"/>
              <a:t>Cython</a:t>
            </a:r>
            <a:endParaRPr lang="en-US" dirty="0"/>
          </a:p>
          <a:p>
            <a:pPr lvl="1"/>
            <a:r>
              <a:rPr lang="en-US" dirty="0"/>
              <a:t>Can only be called from within </a:t>
            </a:r>
            <a:r>
              <a:rPr lang="en-US" dirty="0" err="1"/>
              <a:t>Cython</a:t>
            </a:r>
            <a:endParaRPr lang="en-US" dirty="0"/>
          </a:p>
          <a:p>
            <a:pPr lvl="1"/>
            <a:r>
              <a:rPr lang="en-US" dirty="0"/>
              <a:t>Fast, </a:t>
            </a:r>
            <a:r>
              <a:rPr lang="en-US" dirty="0">
                <a:solidFill>
                  <a:srgbClr val="C00000"/>
                </a:solidFill>
              </a:rPr>
              <a:t>C semantics</a:t>
            </a:r>
          </a:p>
          <a:p>
            <a:r>
              <a:rPr lang="en-US" dirty="0"/>
              <a:t>Python + </a:t>
            </a:r>
            <a:r>
              <a:rPr lang="en-US" dirty="0" err="1"/>
              <a:t>Cython</a:t>
            </a:r>
            <a:endParaRPr lang="en-US" dirty="0"/>
          </a:p>
          <a:p>
            <a:pPr lvl="1"/>
            <a:r>
              <a:rPr lang="en-US" dirty="0"/>
              <a:t>Can be called anywhere</a:t>
            </a:r>
          </a:p>
          <a:p>
            <a:pPr lvl="1"/>
            <a:r>
              <a:rPr lang="en-US" dirty="0"/>
              <a:t>Can have only Python or convertible return types (e.g., no pointers)</a:t>
            </a:r>
          </a:p>
          <a:p>
            <a:pPr lvl="1"/>
            <a:r>
              <a:rPr lang="en-US" dirty="0"/>
              <a:t>Still fast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6340475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56</a:t>
            </a:fld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4541808" y="1766893"/>
            <a:ext cx="3581400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primes(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k):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541808" y="2916703"/>
            <a:ext cx="3581400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primes(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k):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41808" y="4382869"/>
            <a:ext cx="3581400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primes(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k):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4645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Python: three types of functions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962400" cy="452596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Pure Python</a:t>
            </a:r>
          </a:p>
          <a:p>
            <a:pPr lvl="1"/>
            <a:r>
              <a:rPr lang="en-US" dirty="0"/>
              <a:t>Can be called anywhere</a:t>
            </a:r>
          </a:p>
          <a:p>
            <a:pPr lvl="1"/>
            <a:r>
              <a:rPr lang="en-US" dirty="0"/>
              <a:t>Slow</a:t>
            </a:r>
          </a:p>
          <a:p>
            <a:r>
              <a:rPr lang="en-US" dirty="0"/>
              <a:t>Pure </a:t>
            </a:r>
            <a:r>
              <a:rPr lang="en-US" dirty="0" err="1"/>
              <a:t>Cython</a:t>
            </a:r>
            <a:endParaRPr lang="en-US" dirty="0"/>
          </a:p>
          <a:p>
            <a:pPr lvl="1"/>
            <a:r>
              <a:rPr lang="en-US" dirty="0"/>
              <a:t>Can only be called from within </a:t>
            </a:r>
            <a:r>
              <a:rPr lang="en-US" dirty="0" err="1"/>
              <a:t>Cython</a:t>
            </a:r>
            <a:endParaRPr lang="en-US" dirty="0"/>
          </a:p>
          <a:p>
            <a:pPr lvl="1"/>
            <a:r>
              <a:rPr lang="en-US" dirty="0"/>
              <a:t>Fast, </a:t>
            </a:r>
            <a:r>
              <a:rPr lang="en-US" dirty="0">
                <a:solidFill>
                  <a:srgbClr val="C00000"/>
                </a:solidFill>
              </a:rPr>
              <a:t>C semantics</a:t>
            </a:r>
          </a:p>
          <a:p>
            <a:r>
              <a:rPr lang="en-US" dirty="0"/>
              <a:t>Python + </a:t>
            </a:r>
            <a:r>
              <a:rPr lang="en-US" dirty="0" err="1"/>
              <a:t>Cython</a:t>
            </a:r>
            <a:endParaRPr lang="en-US" dirty="0"/>
          </a:p>
          <a:p>
            <a:pPr lvl="1"/>
            <a:r>
              <a:rPr lang="en-US" dirty="0"/>
              <a:t>Can be called anywhere</a:t>
            </a:r>
          </a:p>
          <a:p>
            <a:pPr lvl="1"/>
            <a:r>
              <a:rPr lang="en-US" dirty="0"/>
              <a:t>Can have only Python or convertible return types (e.g., no pointers)</a:t>
            </a:r>
          </a:p>
          <a:p>
            <a:pPr lvl="1"/>
            <a:r>
              <a:rPr lang="en-US" dirty="0"/>
              <a:t>Still fast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6340475"/>
            <a:ext cx="2133600" cy="365125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57</a:t>
            </a:fld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4541808" y="1766893"/>
            <a:ext cx="3581400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primes(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k):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541808" y="2916703"/>
            <a:ext cx="3581400" cy="92333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@cython.cfunc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def int primes(int k):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41808" y="4382869"/>
            <a:ext cx="3581400" cy="92333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@cython.ccall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def int primes(int k):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6911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Cython</a:t>
            </a:r>
            <a:r>
              <a:rPr lang="en-US" dirty="0"/>
              <a:t> function signature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Type of input parameters</a:t>
            </a:r>
          </a:p>
          <a:p>
            <a:r>
              <a:rPr lang="en-US" dirty="0"/>
              <a:t>Result type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Optional, if applicable, inline</a:t>
            </a:r>
          </a:p>
          <a:p>
            <a:pPr lvl="1"/>
            <a:r>
              <a:rPr lang="en-US" dirty="0"/>
              <a:t>Only for simple functions</a:t>
            </a:r>
          </a:p>
          <a:p>
            <a:pPr lvl="1"/>
            <a:r>
              <a:rPr lang="en-US" dirty="0"/>
              <a:t>Eliminates function call overhead</a:t>
            </a:r>
          </a:p>
          <a:p>
            <a:pPr lvl="1"/>
            <a:r>
              <a:rPr lang="en-US" dirty="0"/>
              <a:t>May be ignored by C/C++ compiler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58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256232" y="2306782"/>
            <a:ext cx="3581400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primes(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k):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5771580" y="1752600"/>
            <a:ext cx="2991420" cy="646331"/>
            <a:chOff x="4344148" y="2743200"/>
            <a:chExt cx="2991420" cy="646331"/>
          </a:xfrm>
        </p:grpSpPr>
        <p:sp>
          <p:nvSpPr>
            <p:cNvPr id="7" name="TextBox 6"/>
            <p:cNvSpPr txBox="1"/>
            <p:nvPr/>
          </p:nvSpPr>
          <p:spPr>
            <a:xfrm>
              <a:off x="4801348" y="2743200"/>
              <a:ext cx="2534220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Function argument types</a:t>
              </a:r>
              <a:endParaRPr lang="nl-BE" dirty="0"/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>
              <a:off x="4344148" y="2927866"/>
              <a:ext cx="457200" cy="46166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4374201" y="2629947"/>
            <a:ext cx="2788599" cy="634985"/>
            <a:chOff x="4623169" y="2228165"/>
            <a:chExt cx="2788599" cy="634985"/>
          </a:xfrm>
        </p:grpSpPr>
        <p:sp>
          <p:nvSpPr>
            <p:cNvPr id="10" name="TextBox 9"/>
            <p:cNvSpPr txBox="1"/>
            <p:nvPr/>
          </p:nvSpPr>
          <p:spPr>
            <a:xfrm>
              <a:off x="5290097" y="2493818"/>
              <a:ext cx="212167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Function return type</a:t>
              </a:r>
              <a:endParaRPr lang="nl-BE" dirty="0"/>
            </a:p>
          </p:txBody>
        </p:sp>
        <p:cxnSp>
          <p:nvCxnSpPr>
            <p:cNvPr id="11" name="Straight Arrow Connector 10"/>
            <p:cNvCxnSpPr>
              <a:stCxn id="10" idx="1"/>
            </p:cNvCxnSpPr>
            <p:nvPr/>
          </p:nvCxnSpPr>
          <p:spPr>
            <a:xfrm flipH="1" flipV="1">
              <a:off x="4623169" y="2228165"/>
              <a:ext cx="666928" cy="45031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1676400" y="5303133"/>
            <a:ext cx="5867400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inline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max_factor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k):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math.ceil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math.sqrt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(k)))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08833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5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function signature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3930" y="1690689"/>
            <a:ext cx="7886700" cy="4351338"/>
          </a:xfrm>
        </p:spPr>
        <p:txBody>
          <a:bodyPr>
            <a:normAutofit/>
          </a:bodyPr>
          <a:lstStyle/>
          <a:p>
            <a:r>
              <a:rPr lang="en-US" dirty="0"/>
              <a:t>Type of input parameters</a:t>
            </a:r>
          </a:p>
          <a:p>
            <a:r>
              <a:rPr lang="en-US" dirty="0"/>
              <a:t>Result type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Optional, if applicable, inline</a:t>
            </a:r>
          </a:p>
          <a:p>
            <a:pPr lvl="1"/>
            <a:r>
              <a:rPr lang="en-US" dirty="0"/>
              <a:t>Only for simple functions</a:t>
            </a:r>
          </a:p>
          <a:p>
            <a:pPr lvl="1"/>
            <a:r>
              <a:rPr lang="en-US" dirty="0"/>
              <a:t>Eliminates function call overhead</a:t>
            </a:r>
          </a:p>
          <a:p>
            <a:pPr lvl="1"/>
            <a:r>
              <a:rPr lang="en-US" dirty="0"/>
              <a:t>May be ignored by C/C++ compiler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59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8034" y="2787338"/>
            <a:ext cx="6871620" cy="92333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@cython.cfunc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def int primes(k: cython.int) -&gt; cython.int: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4413926" y="2464172"/>
            <a:ext cx="2991420" cy="646331"/>
            <a:chOff x="4344148" y="2743200"/>
            <a:chExt cx="2991420" cy="646331"/>
          </a:xfrm>
        </p:grpSpPr>
        <p:sp>
          <p:nvSpPr>
            <p:cNvPr id="7" name="TextBox 6"/>
            <p:cNvSpPr txBox="1"/>
            <p:nvPr/>
          </p:nvSpPr>
          <p:spPr>
            <a:xfrm>
              <a:off x="4801348" y="2743200"/>
              <a:ext cx="2534220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Function argument types</a:t>
              </a:r>
              <a:endParaRPr lang="nl-BE" dirty="0"/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>
              <a:off x="4344148" y="2927866"/>
              <a:ext cx="457200" cy="46166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6273471" y="3458444"/>
            <a:ext cx="2121671" cy="843675"/>
            <a:chOff x="5290097" y="2019475"/>
            <a:chExt cx="2121671" cy="843675"/>
          </a:xfrm>
        </p:grpSpPr>
        <p:sp>
          <p:nvSpPr>
            <p:cNvPr id="10" name="TextBox 9"/>
            <p:cNvSpPr txBox="1"/>
            <p:nvPr/>
          </p:nvSpPr>
          <p:spPr>
            <a:xfrm>
              <a:off x="5290097" y="2493818"/>
              <a:ext cx="212167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Function return type</a:t>
              </a:r>
              <a:endParaRPr lang="nl-BE" dirty="0"/>
            </a:p>
          </p:txBody>
        </p:sp>
        <p:cxnSp>
          <p:nvCxnSpPr>
            <p:cNvPr id="11" name="Straight Arrow Connector 10"/>
            <p:cNvCxnSpPr>
              <a:cxnSpLocks/>
              <a:stCxn id="10" idx="0"/>
            </p:cNvCxnSpPr>
            <p:nvPr/>
          </p:nvCxnSpPr>
          <p:spPr>
            <a:xfrm flipH="1" flipV="1">
              <a:off x="5732386" y="2019475"/>
              <a:ext cx="618547" cy="47434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1100704" y="5480824"/>
            <a:ext cx="6838950" cy="120032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@cython.cfunc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@cython.inline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max_factor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(k: cython.int) -&gt; cython.int: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math.ceil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math.sqrt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(k)))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24469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Cython</a:t>
            </a:r>
            <a:r>
              <a:rPr lang="en-US" dirty="0"/>
              <a:t> error return value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Exception in </a:t>
            </a:r>
            <a:r>
              <a:rPr lang="en-US" dirty="0" err="1"/>
              <a:t>Cython</a:t>
            </a:r>
            <a:r>
              <a:rPr lang="en-US" dirty="0"/>
              <a:t> function is warning!</a:t>
            </a:r>
          </a:p>
          <a:p>
            <a:pPr lvl="1"/>
            <a:r>
              <a:rPr lang="en-US" dirty="0"/>
              <a:t>Not caught by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try/except</a:t>
            </a:r>
            <a:r>
              <a:rPr lang="en-US" dirty="0"/>
              <a:t> + nonsense value!</a:t>
            </a:r>
          </a:p>
          <a:p>
            <a:r>
              <a:rPr lang="en-US" dirty="0"/>
              <a:t>Add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en-US" dirty="0"/>
              <a:t> clause to signature</a:t>
            </a:r>
          </a:p>
          <a:p>
            <a:pPr lvl="1"/>
            <a:r>
              <a:rPr lang="en-US" dirty="0"/>
              <a:t>Exceptions are propagated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60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457200" y="4030212"/>
            <a:ext cx="8305800" cy="175432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double _average(data,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m=0,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n=-1)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except?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-1.0: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double mean = 0.0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for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in range(m, n):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mean += data[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mean/(n - m)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6717529" y="4411212"/>
            <a:ext cx="1962653" cy="1524000"/>
            <a:chOff x="5290097" y="1893148"/>
            <a:chExt cx="1962653" cy="1524000"/>
          </a:xfrm>
        </p:grpSpPr>
        <p:sp>
          <p:nvSpPr>
            <p:cNvPr id="7" name="TextBox 6"/>
            <p:cNvSpPr txBox="1"/>
            <p:nvPr/>
          </p:nvSpPr>
          <p:spPr>
            <a:xfrm>
              <a:off x="5290097" y="2493818"/>
              <a:ext cx="1962653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Need not return</a:t>
              </a:r>
              <a:br>
                <a:rPr lang="en-US" dirty="0"/>
              </a:br>
              <a:r>
                <a:rPr lang="en-US" dirty="0"/>
                <a:t>that value to signal</a:t>
              </a:r>
              <a:br>
                <a:rPr lang="en-US" dirty="0"/>
              </a:br>
              <a:r>
                <a:rPr lang="en-US" dirty="0"/>
                <a:t>error</a:t>
              </a:r>
              <a:endParaRPr lang="nl-BE" dirty="0"/>
            </a:p>
          </p:txBody>
        </p:sp>
        <p:cxnSp>
          <p:nvCxnSpPr>
            <p:cNvPr id="8" name="Straight Arrow Connector 7"/>
            <p:cNvCxnSpPr>
              <a:stCxn id="7" idx="0"/>
            </p:cNvCxnSpPr>
            <p:nvPr/>
          </p:nvCxnSpPr>
          <p:spPr>
            <a:xfrm flipV="1">
              <a:off x="6271424" y="1893148"/>
              <a:ext cx="570172" cy="60067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4958989" y="4335012"/>
            <a:ext cx="2661011" cy="1608588"/>
            <a:chOff x="5677086" y="2121748"/>
            <a:chExt cx="2661011" cy="1608588"/>
          </a:xfrm>
        </p:grpSpPr>
        <p:sp>
          <p:nvSpPr>
            <p:cNvPr id="15" name="TextBox 14"/>
            <p:cNvSpPr txBox="1"/>
            <p:nvPr/>
          </p:nvSpPr>
          <p:spPr>
            <a:xfrm>
              <a:off x="5677086" y="2807006"/>
              <a:ext cx="1555041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Add '?' if value</a:t>
              </a:r>
              <a:br>
                <a:rPr lang="en-US" dirty="0"/>
              </a:br>
              <a:r>
                <a:rPr lang="en-US" dirty="0"/>
                <a:t>is valid return</a:t>
              </a:r>
              <a:br>
                <a:rPr lang="en-US" dirty="0"/>
              </a:br>
              <a:r>
                <a:rPr lang="en-US" dirty="0"/>
                <a:t>as well</a:t>
              </a:r>
              <a:endParaRPr lang="nl-BE" dirty="0"/>
            </a:p>
          </p:txBody>
        </p:sp>
        <p:cxnSp>
          <p:nvCxnSpPr>
            <p:cNvPr id="16" name="Straight Arrow Connector 15"/>
            <p:cNvCxnSpPr>
              <a:stCxn id="15" idx="0"/>
            </p:cNvCxnSpPr>
            <p:nvPr/>
          </p:nvCxnSpPr>
          <p:spPr>
            <a:xfrm flipV="1">
              <a:off x="6454607" y="2121748"/>
              <a:ext cx="1883490" cy="6852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88026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error return value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Exception in </a:t>
            </a:r>
            <a:r>
              <a:rPr lang="en-US" dirty="0" err="1"/>
              <a:t>Cython</a:t>
            </a:r>
            <a:r>
              <a:rPr lang="en-US" dirty="0"/>
              <a:t> function is warning!</a:t>
            </a:r>
          </a:p>
          <a:p>
            <a:pPr lvl="1"/>
            <a:r>
              <a:rPr lang="en-US" dirty="0"/>
              <a:t>Not caught by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try/except</a:t>
            </a:r>
            <a:r>
              <a:rPr lang="en-US" dirty="0"/>
              <a:t> + nonsense value!</a:t>
            </a:r>
          </a:p>
          <a:p>
            <a:r>
              <a:rPr lang="en-US" dirty="0"/>
              <a:t>Add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exceptval</a:t>
            </a:r>
            <a:r>
              <a:rPr lang="en-US" dirty="0"/>
              <a:t> decorator to function</a:t>
            </a:r>
          </a:p>
          <a:p>
            <a:pPr lvl="1"/>
            <a:r>
              <a:rPr lang="en-US" dirty="0"/>
              <a:t>Exceptions are propagated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61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457200" y="4030212"/>
            <a:ext cx="8305800" cy="230832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@cython.cfunc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@cython.exceptval(-1, check=True)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def _average(data, m=0, n=-1) -&gt;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cython.double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i: cython.int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mean: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cython.double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0.0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for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in range(m, n):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mean += data[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mean/(n - m)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352800" y="3175146"/>
            <a:ext cx="4809222" cy="1163575"/>
            <a:chOff x="2443528" y="2493818"/>
            <a:chExt cx="4809222" cy="1163575"/>
          </a:xfrm>
        </p:grpSpPr>
        <p:sp>
          <p:nvSpPr>
            <p:cNvPr id="7" name="TextBox 6"/>
            <p:cNvSpPr txBox="1"/>
            <p:nvPr/>
          </p:nvSpPr>
          <p:spPr>
            <a:xfrm>
              <a:off x="5290097" y="2493818"/>
              <a:ext cx="1962653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Need not return</a:t>
              </a:r>
              <a:br>
                <a:rPr lang="en-US" dirty="0"/>
              </a:br>
              <a:r>
                <a:rPr lang="en-US" dirty="0"/>
                <a:t>that value to signal</a:t>
              </a:r>
              <a:br>
                <a:rPr lang="en-US" dirty="0"/>
              </a:br>
              <a:r>
                <a:rPr lang="en-US" dirty="0"/>
                <a:t>error</a:t>
              </a:r>
              <a:endParaRPr lang="nl-BE" dirty="0"/>
            </a:p>
          </p:txBody>
        </p:sp>
        <p:cxnSp>
          <p:nvCxnSpPr>
            <p:cNvPr id="8" name="Straight Arrow Connector 7"/>
            <p:cNvCxnSpPr>
              <a:cxnSpLocks/>
              <a:stCxn id="7" idx="1"/>
            </p:cNvCxnSpPr>
            <p:nvPr/>
          </p:nvCxnSpPr>
          <p:spPr>
            <a:xfrm flipH="1">
              <a:off x="2443528" y="2955483"/>
              <a:ext cx="2846569" cy="70191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5232400" y="4179227"/>
            <a:ext cx="3911600" cy="923330"/>
            <a:chOff x="3758339" y="2807006"/>
            <a:chExt cx="3911600" cy="923330"/>
          </a:xfrm>
        </p:grpSpPr>
        <p:sp>
          <p:nvSpPr>
            <p:cNvPr id="15" name="TextBox 14"/>
            <p:cNvSpPr txBox="1"/>
            <p:nvPr/>
          </p:nvSpPr>
          <p:spPr>
            <a:xfrm>
              <a:off x="5677086" y="2807006"/>
              <a:ext cx="1992853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Add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check=True</a:t>
              </a:r>
              <a:endParaRPr lang="en-US" dirty="0"/>
            </a:p>
            <a:p>
              <a:r>
                <a:rPr lang="en-US" dirty="0"/>
                <a:t>if Value is valid</a:t>
              </a:r>
            </a:p>
            <a:p>
              <a:r>
                <a:rPr lang="en-US" dirty="0"/>
                <a:t>return as well</a:t>
              </a:r>
              <a:endParaRPr lang="nl-BE" dirty="0"/>
            </a:p>
          </p:txBody>
        </p:sp>
        <p:cxnSp>
          <p:nvCxnSpPr>
            <p:cNvPr id="16" name="Straight Arrow Connector 15"/>
            <p:cNvCxnSpPr>
              <a:cxnSpLocks/>
              <a:stCxn id="15" idx="1"/>
            </p:cNvCxnSpPr>
            <p:nvPr/>
          </p:nvCxnSpPr>
          <p:spPr>
            <a:xfrm flipH="1" flipV="1">
              <a:off x="3758339" y="3128073"/>
              <a:ext cx="1918747" cy="14059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123501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Extension types</a:t>
            </a:r>
            <a:br>
              <a:rPr lang="en-US" dirty="0"/>
            </a:br>
            <a:r>
              <a:rPr lang="en-US" dirty="0"/>
              <a:t>aka </a:t>
            </a:r>
            <a:r>
              <a:rPr lang="en-US" dirty="0" err="1"/>
              <a:t>cdef</a:t>
            </a:r>
            <a:r>
              <a:rPr lang="en-US" dirty="0"/>
              <a:t> classes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46752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Cython</a:t>
            </a:r>
            <a:r>
              <a:rPr lang="en-US" dirty="0"/>
              <a:t> extension types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1000" y="4724400"/>
            <a:ext cx="3810000" cy="155416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Can access m, x, v</a:t>
            </a:r>
          </a:p>
          <a:p>
            <a:r>
              <a:rPr lang="en-US" dirty="0"/>
              <a:t>Can add arbitrary object attributes</a:t>
            </a:r>
          </a:p>
          <a:p>
            <a:r>
              <a:rPr lang="en-US" dirty="0"/>
              <a:t>Attributes 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half" idx="2"/>
          </p:nvPr>
        </p:nvSpPr>
        <p:spPr>
          <a:xfrm>
            <a:off x="5181600" y="4724400"/>
            <a:ext cx="3657600" cy="155416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Can't access m, x, v</a:t>
            </a:r>
          </a:p>
          <a:p>
            <a:r>
              <a:rPr lang="en-US" dirty="0"/>
              <a:t>Can't add object attributes</a:t>
            </a:r>
          </a:p>
          <a:p>
            <a:r>
              <a:rPr lang="en-US" dirty="0"/>
              <a:t>Attributes in C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63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304800" y="1371600"/>
            <a:ext cx="4134465" cy="2556164"/>
            <a:chOff x="304800" y="1371600"/>
            <a:chExt cx="4134465" cy="2556164"/>
          </a:xfrm>
          <a:solidFill>
            <a:schemeClr val="bg1">
              <a:lumMod val="85000"/>
            </a:schemeClr>
          </a:solidFill>
        </p:grpSpPr>
        <p:sp>
          <p:nvSpPr>
            <p:cNvPr id="6" name="TextBox 5"/>
            <p:cNvSpPr txBox="1"/>
            <p:nvPr/>
          </p:nvSpPr>
          <p:spPr>
            <a:xfrm>
              <a:off x="304800" y="1371600"/>
              <a:ext cx="4134465" cy="2554545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class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: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__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init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__(self, m, x, v):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self.m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m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self.x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x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self.v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v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momentum(self):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return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self.m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*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self.v</a:t>
              </a:r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04800" y="3619987"/>
              <a:ext cx="1142364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particle_p.py</a:t>
              </a:r>
              <a:endParaRPr lang="nl-BE" sz="1400" dirty="0"/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4897120" y="1371600"/>
            <a:ext cx="4134465" cy="3048000"/>
            <a:chOff x="304800" y="1371600"/>
            <a:chExt cx="4134465" cy="3048000"/>
          </a:xfrm>
          <a:solidFill>
            <a:schemeClr val="bg1">
              <a:lumMod val="85000"/>
            </a:schemeClr>
          </a:solidFill>
        </p:grpSpPr>
        <p:sp>
          <p:nvSpPr>
            <p:cNvPr id="9" name="TextBox 8"/>
            <p:cNvSpPr txBox="1"/>
            <p:nvPr/>
          </p:nvSpPr>
          <p:spPr>
            <a:xfrm>
              <a:off x="304800" y="1371600"/>
              <a:ext cx="4134465" cy="3046988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nl-BE" sz="1600" b="1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class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: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en-US" sz="1600" b="1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en-US" sz="16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 double m, x, v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def __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init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__(self, m, x, v):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self.m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m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self.x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x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self.v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v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momentum(self):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return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self.m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*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self.v</a:t>
              </a:r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04800" y="4111823"/>
              <a:ext cx="1201676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 err="1"/>
                <a:t>particle_c.pyx</a:t>
              </a:r>
              <a:endParaRPr lang="nl-BE" sz="1400" dirty="0"/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2677160" y="2200870"/>
            <a:ext cx="2913082" cy="923330"/>
            <a:chOff x="2971800" y="2200870"/>
            <a:chExt cx="2913082" cy="923330"/>
          </a:xfrm>
        </p:grpSpPr>
        <p:sp>
          <p:nvSpPr>
            <p:cNvPr id="13" name="TextBox 12"/>
            <p:cNvSpPr txBox="1"/>
            <p:nvPr/>
          </p:nvSpPr>
          <p:spPr>
            <a:xfrm>
              <a:off x="4267200" y="2200870"/>
              <a:ext cx="1330364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object </a:t>
              </a:r>
              <a:br>
                <a:rPr lang="en-US" dirty="0"/>
              </a:br>
              <a:r>
                <a:rPr lang="en-US" dirty="0"/>
                <a:t>attribute</a:t>
              </a:r>
              <a:br>
                <a:rPr lang="en-US" dirty="0"/>
              </a:br>
              <a:r>
                <a:rPr lang="en-US" dirty="0"/>
                <a:t>declarations</a:t>
              </a:r>
              <a:endParaRPr lang="nl-BE" dirty="0"/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 flipV="1">
              <a:off x="5597564" y="2200870"/>
              <a:ext cx="287318" cy="54233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/>
            <p:cNvCxnSpPr>
              <a:stCxn id="13" idx="1"/>
            </p:cNvCxnSpPr>
            <p:nvPr/>
          </p:nvCxnSpPr>
          <p:spPr>
            <a:xfrm flipH="1" flipV="1">
              <a:off x="2971800" y="2436167"/>
              <a:ext cx="1295400" cy="22636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/>
          <p:cNvGrpSpPr/>
          <p:nvPr/>
        </p:nvGrpSpPr>
        <p:grpSpPr>
          <a:xfrm>
            <a:off x="2753360" y="2652375"/>
            <a:ext cx="3124200" cy="1452265"/>
            <a:chOff x="3048000" y="2662535"/>
            <a:chExt cx="3124200" cy="1452265"/>
          </a:xfrm>
        </p:grpSpPr>
        <p:sp>
          <p:nvSpPr>
            <p:cNvPr id="17" name="TextBox 16"/>
            <p:cNvSpPr txBox="1"/>
            <p:nvPr/>
          </p:nvSpPr>
          <p:spPr>
            <a:xfrm>
              <a:off x="4267200" y="3191470"/>
              <a:ext cx="1330364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object </a:t>
              </a:r>
              <a:br>
                <a:rPr lang="en-US" dirty="0"/>
              </a:br>
              <a:r>
                <a:rPr lang="en-US" dirty="0"/>
                <a:t>attribute</a:t>
              </a:r>
              <a:br>
                <a:rPr lang="en-US" dirty="0"/>
              </a:br>
              <a:r>
                <a:rPr lang="en-US" dirty="0"/>
                <a:t>definitions</a:t>
              </a:r>
              <a:endParaRPr lang="nl-BE" dirty="0"/>
            </a:p>
          </p:txBody>
        </p:sp>
        <p:cxnSp>
          <p:nvCxnSpPr>
            <p:cNvPr id="18" name="Straight Arrow Connector 17"/>
            <p:cNvCxnSpPr>
              <a:stCxn id="17" idx="3"/>
            </p:cNvCxnSpPr>
            <p:nvPr/>
          </p:nvCxnSpPr>
          <p:spPr>
            <a:xfrm flipV="1">
              <a:off x="5597564" y="3048001"/>
              <a:ext cx="574636" cy="60513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/>
            <p:cNvCxnSpPr>
              <a:stCxn id="17" idx="1"/>
            </p:cNvCxnSpPr>
            <p:nvPr/>
          </p:nvCxnSpPr>
          <p:spPr>
            <a:xfrm flipH="1" flipV="1">
              <a:off x="3048000" y="2662535"/>
              <a:ext cx="1219200" cy="99060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6138882" y="703634"/>
            <a:ext cx="233993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Also called </a:t>
            </a:r>
            <a:r>
              <a:rPr lang="en-US" dirty="0" err="1"/>
              <a:t>cdef</a:t>
            </a:r>
            <a:r>
              <a:rPr lang="en-US" dirty="0"/>
              <a:t> classes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6282895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1" grpId="0" build="p"/>
      <p:bldP spid="12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extension types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1000" y="4724400"/>
            <a:ext cx="3810000" cy="155416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Can access m, x, v</a:t>
            </a:r>
          </a:p>
          <a:p>
            <a:r>
              <a:rPr lang="en-US" dirty="0"/>
              <a:t>Can add arbitrary object attributes</a:t>
            </a:r>
          </a:p>
          <a:p>
            <a:r>
              <a:rPr lang="en-US" dirty="0"/>
              <a:t>Attributes 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half" idx="2"/>
          </p:nvPr>
        </p:nvSpPr>
        <p:spPr>
          <a:xfrm>
            <a:off x="5181600" y="4724400"/>
            <a:ext cx="3657600" cy="155416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Can't access m, x, v</a:t>
            </a:r>
          </a:p>
          <a:p>
            <a:r>
              <a:rPr lang="en-US" dirty="0"/>
              <a:t>Can't add object attributes</a:t>
            </a:r>
          </a:p>
          <a:p>
            <a:r>
              <a:rPr lang="en-US" dirty="0"/>
              <a:t>Attributes in C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64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304800" y="1371600"/>
            <a:ext cx="4134465" cy="2556164"/>
            <a:chOff x="304800" y="1371600"/>
            <a:chExt cx="4134465" cy="2556164"/>
          </a:xfrm>
          <a:solidFill>
            <a:schemeClr val="bg1">
              <a:lumMod val="85000"/>
            </a:schemeClr>
          </a:solidFill>
        </p:grpSpPr>
        <p:sp>
          <p:nvSpPr>
            <p:cNvPr id="6" name="TextBox 5"/>
            <p:cNvSpPr txBox="1"/>
            <p:nvPr/>
          </p:nvSpPr>
          <p:spPr>
            <a:xfrm>
              <a:off x="304800" y="1371600"/>
              <a:ext cx="4134465" cy="2554545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class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: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__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init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__(self, m, x, v):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self.m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m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self.x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x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self.v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v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momentum(self):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return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self.m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*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self.v</a:t>
              </a:r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04800" y="3619987"/>
              <a:ext cx="1142364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particle_p.py</a:t>
              </a:r>
              <a:endParaRPr lang="nl-BE" sz="1400" dirty="0"/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4947920" y="1371600"/>
            <a:ext cx="4134465" cy="3048000"/>
            <a:chOff x="304800" y="1371600"/>
            <a:chExt cx="4134465" cy="3048000"/>
          </a:xfrm>
          <a:solidFill>
            <a:schemeClr val="bg1">
              <a:lumMod val="85000"/>
            </a:schemeClr>
          </a:solidFill>
        </p:grpSpPr>
        <p:sp>
          <p:nvSpPr>
            <p:cNvPr id="9" name="TextBox 8"/>
            <p:cNvSpPr txBox="1"/>
            <p:nvPr/>
          </p:nvSpPr>
          <p:spPr>
            <a:xfrm>
              <a:off x="304800" y="1371600"/>
              <a:ext cx="4134465" cy="3046988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nl-BE" sz="16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@cython.cclass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class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: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en-US" sz="16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m: </a:t>
              </a:r>
              <a:r>
                <a:rPr lang="en-US" sz="1600" b="1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cython.double</a:t>
              </a:r>
              <a:endParaRPr lang="en-US" sz="16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…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def __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init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__(self, m, x, v):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self.m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m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self.x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x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self.v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v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…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    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04800" y="4111823"/>
              <a:ext cx="1123128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particle_c.py</a:t>
              </a:r>
              <a:endParaRPr lang="nl-BE" sz="1400" dirty="0"/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2656840" y="2200870"/>
            <a:ext cx="2788920" cy="923330"/>
            <a:chOff x="2971800" y="2200870"/>
            <a:chExt cx="2788920" cy="923330"/>
          </a:xfrm>
        </p:grpSpPr>
        <p:sp>
          <p:nvSpPr>
            <p:cNvPr id="13" name="TextBox 12"/>
            <p:cNvSpPr txBox="1"/>
            <p:nvPr/>
          </p:nvSpPr>
          <p:spPr>
            <a:xfrm>
              <a:off x="4267200" y="2200870"/>
              <a:ext cx="1330364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object </a:t>
              </a:r>
              <a:br>
                <a:rPr lang="en-US" dirty="0"/>
              </a:br>
              <a:r>
                <a:rPr lang="en-US" dirty="0"/>
                <a:t>attribute</a:t>
              </a:r>
              <a:br>
                <a:rPr lang="en-US" dirty="0"/>
              </a:br>
              <a:r>
                <a:rPr lang="en-US" dirty="0"/>
                <a:t>declarations</a:t>
              </a:r>
              <a:endParaRPr lang="nl-BE" dirty="0"/>
            </a:p>
          </p:txBody>
        </p:sp>
        <p:cxnSp>
          <p:nvCxnSpPr>
            <p:cNvPr id="14" name="Straight Arrow Connector 13"/>
            <p:cNvCxnSpPr>
              <a:cxnSpLocks/>
            </p:cNvCxnSpPr>
            <p:nvPr/>
          </p:nvCxnSpPr>
          <p:spPr>
            <a:xfrm flipV="1">
              <a:off x="5597564" y="2519680"/>
              <a:ext cx="163156" cy="22352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/>
            <p:cNvCxnSpPr>
              <a:stCxn id="13" idx="1"/>
            </p:cNvCxnSpPr>
            <p:nvPr/>
          </p:nvCxnSpPr>
          <p:spPr>
            <a:xfrm flipH="1" flipV="1">
              <a:off x="2971800" y="2436167"/>
              <a:ext cx="1295400" cy="22636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/>
          <p:cNvGrpSpPr/>
          <p:nvPr/>
        </p:nvGrpSpPr>
        <p:grpSpPr>
          <a:xfrm>
            <a:off x="2743200" y="2632055"/>
            <a:ext cx="3124200" cy="1452265"/>
            <a:chOff x="3048000" y="2662535"/>
            <a:chExt cx="3124200" cy="1452265"/>
          </a:xfrm>
        </p:grpSpPr>
        <p:sp>
          <p:nvSpPr>
            <p:cNvPr id="17" name="TextBox 16"/>
            <p:cNvSpPr txBox="1"/>
            <p:nvPr/>
          </p:nvSpPr>
          <p:spPr>
            <a:xfrm>
              <a:off x="4267200" y="3191470"/>
              <a:ext cx="1330364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object </a:t>
              </a:r>
              <a:br>
                <a:rPr lang="en-US" dirty="0"/>
              </a:br>
              <a:r>
                <a:rPr lang="en-US" dirty="0"/>
                <a:t>attribute</a:t>
              </a:r>
              <a:br>
                <a:rPr lang="en-US" dirty="0"/>
              </a:br>
              <a:r>
                <a:rPr lang="en-US" dirty="0"/>
                <a:t>definitions</a:t>
              </a:r>
              <a:endParaRPr lang="nl-BE" dirty="0"/>
            </a:p>
          </p:txBody>
        </p:sp>
        <p:cxnSp>
          <p:nvCxnSpPr>
            <p:cNvPr id="18" name="Straight Arrow Connector 17"/>
            <p:cNvCxnSpPr>
              <a:stCxn id="17" idx="3"/>
            </p:cNvCxnSpPr>
            <p:nvPr/>
          </p:nvCxnSpPr>
          <p:spPr>
            <a:xfrm flipV="1">
              <a:off x="5597564" y="3048001"/>
              <a:ext cx="574636" cy="60513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/>
            <p:cNvCxnSpPr>
              <a:stCxn id="17" idx="1"/>
            </p:cNvCxnSpPr>
            <p:nvPr/>
          </p:nvCxnSpPr>
          <p:spPr>
            <a:xfrm flipH="1" flipV="1">
              <a:off x="3048000" y="2662535"/>
              <a:ext cx="1219200" cy="99060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6138882" y="703634"/>
            <a:ext cx="233993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Also called </a:t>
            </a:r>
            <a:r>
              <a:rPr lang="en-US" dirty="0" err="1"/>
              <a:t>cdef</a:t>
            </a:r>
            <a:r>
              <a:rPr lang="en-US" dirty="0"/>
              <a:t> classes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3327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1" grpId="0" build="p"/>
      <p:bldP spid="12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Cython</a:t>
            </a:r>
            <a:r>
              <a:rPr lang="en-US" dirty="0"/>
              <a:t> attribute access control</a:t>
            </a:r>
            <a:endParaRPr lang="nl-BE" dirty="0"/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Private by default</a:t>
            </a:r>
          </a:p>
          <a:p>
            <a:pPr lvl="1"/>
            <a:r>
              <a:rPr lang="en-US" dirty="0"/>
              <a:t>Not accessible outside class scope</a:t>
            </a:r>
          </a:p>
          <a:p>
            <a:endParaRPr lang="en-US" dirty="0"/>
          </a:p>
          <a:p>
            <a:r>
              <a:rPr lang="en-US" dirty="0"/>
              <a:t>Read only</a:t>
            </a:r>
          </a:p>
          <a:p>
            <a:pPr lvl="1"/>
            <a:r>
              <a:rPr lang="en-US" dirty="0"/>
              <a:t>Value can be used everywhere</a:t>
            </a:r>
          </a:p>
          <a:p>
            <a:endParaRPr lang="en-US" dirty="0"/>
          </a:p>
          <a:p>
            <a:r>
              <a:rPr lang="en-US" dirty="0"/>
              <a:t>Public</a:t>
            </a:r>
          </a:p>
          <a:p>
            <a:pPr lvl="1"/>
            <a:r>
              <a:rPr lang="en-US" dirty="0"/>
              <a:t>Value can be modified everywhere</a:t>
            </a:r>
            <a:endParaRPr lang="nl-B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65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1219200" y="2754868"/>
            <a:ext cx="358140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double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9200" y="4135864"/>
            <a:ext cx="358140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readonly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double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9200" y="5571004"/>
            <a:ext cx="358140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public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double m</a:t>
            </a:r>
          </a:p>
        </p:txBody>
      </p:sp>
    </p:spTree>
    <p:extLst>
      <p:ext uri="{BB962C8B-B14F-4D97-AF65-F5344CB8AC3E}">
        <p14:creationId xmlns:p14="http://schemas.microsoft.com/office/powerpoint/2010/main" val="11283728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  <p:bldP spid="7" grpId="0" animBg="1"/>
      <p:bldP spid="8" grpId="0" animBg="1"/>
      <p:bldP spid="9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attribute access control</a:t>
            </a:r>
            <a:endParaRPr lang="nl-BE" dirty="0"/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Private by default</a:t>
            </a:r>
          </a:p>
          <a:p>
            <a:pPr lvl="1"/>
            <a:r>
              <a:rPr lang="en-US" dirty="0"/>
              <a:t>Not accessible outside class scope</a:t>
            </a:r>
          </a:p>
          <a:p>
            <a:endParaRPr lang="en-US" dirty="0"/>
          </a:p>
          <a:p>
            <a:r>
              <a:rPr lang="en-US" dirty="0"/>
              <a:t>Read only</a:t>
            </a:r>
          </a:p>
          <a:p>
            <a:pPr lvl="1"/>
            <a:r>
              <a:rPr lang="en-US" dirty="0"/>
              <a:t>Value can be used everywhere</a:t>
            </a:r>
          </a:p>
          <a:p>
            <a:endParaRPr lang="en-US" dirty="0"/>
          </a:p>
          <a:p>
            <a:r>
              <a:rPr lang="en-US" dirty="0"/>
              <a:t>Public</a:t>
            </a:r>
          </a:p>
          <a:p>
            <a:pPr lvl="1"/>
            <a:r>
              <a:rPr lang="en-US" dirty="0"/>
              <a:t>Value can be modified everywhere</a:t>
            </a:r>
            <a:endParaRPr lang="nl-B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66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1219200" y="2754868"/>
            <a:ext cx="358140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cython.double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219200" y="4135864"/>
            <a:ext cx="778256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cython.declare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cython.double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visibility=‘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readonly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’)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9200" y="5571004"/>
            <a:ext cx="778256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cython.declare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cython.double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visibility=‘public’)</a:t>
            </a:r>
          </a:p>
        </p:txBody>
      </p:sp>
    </p:spTree>
    <p:extLst>
      <p:ext uri="{BB962C8B-B14F-4D97-AF65-F5344CB8AC3E}">
        <p14:creationId xmlns:p14="http://schemas.microsoft.com/office/powerpoint/2010/main" val="2572638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  <p:bldP spid="7" grpId="0" animBg="1"/>
      <p:bldP spid="8" grpId="0" animBg="1"/>
      <p:bldP spid="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Getter/setters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Cython</a:t>
            </a:r>
            <a:r>
              <a:rPr lang="en-US" dirty="0"/>
              <a:t> &amp; Python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@property</a:t>
            </a:r>
            <a:r>
              <a:rPr lang="en-US" dirty="0"/>
              <a:t>: getter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@var.setter</a:t>
            </a:r>
            <a:r>
              <a:rPr lang="en-US" dirty="0"/>
              <a:t>: setter</a:t>
            </a:r>
            <a:br>
              <a:rPr lang="en-US" dirty="0"/>
            </a:br>
            <a:r>
              <a:rPr lang="en-US" dirty="0"/>
              <a:t>for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@var.deleter</a:t>
            </a:r>
            <a:r>
              <a:rPr lang="en-US" dirty="0">
                <a:cs typeface="Courier New" panose="02070309020205020404" pitchFamily="49" charset="0"/>
              </a:rPr>
              <a:t>: delete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dirty="0">
                <a:cs typeface="Courier New" panose="02070309020205020404" pitchFamily="49" charset="0"/>
              </a:rPr>
              <a:t>for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endParaRPr lang="en-US" dirty="0"/>
          </a:p>
          <a:p>
            <a:pPr lvl="1"/>
            <a:endParaRPr lang="en-US" dirty="0"/>
          </a:p>
          <a:p>
            <a:pPr lvl="1"/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67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2250439" y="4494233"/>
            <a:ext cx="4134465" cy="132343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@property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momentum(self):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return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self.v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380793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Allocating/deallocating memory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cinit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US" dirty="0"/>
              <a:t> method for dynamic memory allocation (e.g.,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malloc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Guaranteed to be called exactly once during construction</a:t>
            </a:r>
          </a:p>
          <a:p>
            <a:pPr lvl="1"/>
            <a:r>
              <a:rPr lang="en-US" i="1" dirty="0"/>
              <a:t>Don't </a:t>
            </a:r>
            <a:r>
              <a:rPr lang="en-US" dirty="0"/>
              <a:t>allocate memory 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US" dirty="0"/>
              <a:t>!</a:t>
            </a:r>
          </a:p>
          <a:p>
            <a:pPr lvl="1"/>
            <a:r>
              <a:rPr lang="en-US" dirty="0"/>
              <a:t>Avoids memory leaks</a:t>
            </a:r>
          </a:p>
          <a:p>
            <a:r>
              <a:rPr lang="en-US" dirty="0"/>
              <a:t>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dealloc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US" dirty="0"/>
              <a:t> method for memory deallocation (e.g.,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free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Guaranteed to be called exactly once during destruction</a:t>
            </a:r>
          </a:p>
          <a:p>
            <a:pPr lvl="1"/>
            <a:r>
              <a:rPr lang="en-US" dirty="0"/>
              <a:t>Avoids segmentation faults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1721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Inheritance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Extension types can inherit from</a:t>
            </a:r>
          </a:p>
          <a:p>
            <a:pPr lvl="1"/>
            <a:r>
              <a:rPr lang="en-US" dirty="0"/>
              <a:t>Single superclass only</a:t>
            </a:r>
          </a:p>
          <a:p>
            <a:pPr lvl="1"/>
            <a:r>
              <a:rPr lang="en-US" dirty="0"/>
              <a:t>Superclass is build-in class (e.g.,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object</a:t>
            </a:r>
            <a:r>
              <a:rPr lang="en-US" dirty="0"/>
              <a:t>), or extension type</a:t>
            </a:r>
          </a:p>
          <a:p>
            <a:pPr lvl="1"/>
            <a:r>
              <a:rPr lang="en-US" dirty="0"/>
              <a:t>Superclass can not be regular Python class</a:t>
            </a:r>
          </a:p>
          <a:p>
            <a:r>
              <a:rPr lang="en-US" dirty="0"/>
              <a:t>Python classes can inherit from extension types</a:t>
            </a:r>
          </a:p>
          <a:p>
            <a:pPr lvl="1"/>
            <a:r>
              <a:rPr lang="en-US" dirty="0"/>
              <a:t>Can not 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/>
              <a:t> methods from superclass</a:t>
            </a:r>
          </a:p>
          <a:p>
            <a:pPr lvl="1"/>
            <a:r>
              <a:rPr lang="en-US" dirty="0"/>
              <a:t>Can not override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/>
              <a:t> methods from superclass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9924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&amp; thread safety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Standard Python interpreter </a:t>
            </a:r>
            <a:r>
              <a:rPr lang="en-US" dirty="0" err="1"/>
              <a:t>CPython</a:t>
            </a:r>
            <a:endParaRPr lang="en-US" dirty="0"/>
          </a:p>
          <a:p>
            <a:pPr lvl="1"/>
            <a:r>
              <a:rPr lang="en-US" b="1" i="1" dirty="0"/>
              <a:t>not</a:t>
            </a:r>
            <a:r>
              <a:rPr lang="en-US" dirty="0"/>
              <a:t> thread-safe!</a:t>
            </a:r>
          </a:p>
          <a:p>
            <a:pPr lvl="1"/>
            <a:r>
              <a:rPr lang="en-US" dirty="0"/>
              <a:t>only one thread can access an object</a:t>
            </a:r>
          </a:p>
          <a:p>
            <a:pPr lvl="1"/>
            <a:r>
              <a:rPr lang="en-US" dirty="0"/>
              <a:t>enforced by the GIL (Global Interpreter Lock)</a:t>
            </a:r>
          </a:p>
          <a:p>
            <a:pPr lvl="2"/>
            <a:r>
              <a:rPr lang="en-US" dirty="0"/>
              <a:t>Okay for operations with high latency</a:t>
            </a:r>
          </a:p>
          <a:p>
            <a:pPr lvl="3"/>
            <a:r>
              <a:rPr lang="en-US" dirty="0"/>
              <a:t>I/O</a:t>
            </a:r>
          </a:p>
          <a:p>
            <a:pPr lvl="3"/>
            <a:r>
              <a:rPr lang="en-US" dirty="0"/>
              <a:t>networking</a:t>
            </a:r>
          </a:p>
          <a:p>
            <a:pPr lvl="2"/>
            <a:r>
              <a:rPr lang="en-US" b="1" i="1" dirty="0">
                <a:solidFill>
                  <a:srgbClr val="C00000"/>
                </a:solidFill>
              </a:rPr>
              <a:t>Not okay</a:t>
            </a:r>
            <a:r>
              <a:rPr lang="en-US" dirty="0"/>
              <a:t> for computationally intensive 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33833" y="5397910"/>
            <a:ext cx="5523756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GIL is problematic for scientific computing!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70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54652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 bldLvl="2"/>
      <p:bldP spid="9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Parallelization in </a:t>
            </a:r>
            <a:r>
              <a:rPr lang="en-US" dirty="0" err="1"/>
              <a:t>Cython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OpenMP</a:t>
            </a:r>
            <a:r>
              <a:rPr lang="en-US" dirty="0"/>
              <a:t> under the hood</a:t>
            </a:r>
          </a:p>
          <a:p>
            <a:r>
              <a:rPr lang="en-US" dirty="0"/>
              <a:t>Single construct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prange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(n):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  <a:br>
              <a:rPr lang="en-US" dirty="0"/>
            </a:br>
            <a:r>
              <a:rPr lang="en-US" dirty="0"/>
              <a:t>implemented using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#pragma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omp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parallel for</a:t>
            </a:r>
          </a:p>
          <a:p>
            <a:r>
              <a:rPr lang="en-US" dirty="0"/>
              <a:t>Restrictions</a:t>
            </a:r>
          </a:p>
          <a:p>
            <a:pPr lvl="1"/>
            <a:r>
              <a:rPr lang="en-US" dirty="0"/>
              <a:t>No use of Python objects in loop body!</a:t>
            </a:r>
          </a:p>
          <a:p>
            <a:pPr lvl="1"/>
            <a:r>
              <a:rPr lang="en-US" dirty="0"/>
              <a:t>Iterations must be independent</a:t>
            </a:r>
          </a:p>
          <a:p>
            <a:pPr lvl="1"/>
            <a:r>
              <a:rPr lang="en-US" dirty="0"/>
              <a:t>No break in loop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71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920246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Julia set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855405" y="1690689"/>
            <a:ext cx="7837402" cy="3539430"/>
            <a:chOff x="196645" y="1218739"/>
            <a:chExt cx="7837402" cy="3539430"/>
          </a:xfrm>
          <a:solidFill>
            <a:schemeClr val="bg1">
              <a:lumMod val="85000"/>
            </a:schemeClr>
          </a:solidFill>
        </p:grpSpPr>
        <p:sp>
          <p:nvSpPr>
            <p:cNvPr id="4" name="TextBox 3"/>
            <p:cNvSpPr txBox="1"/>
            <p:nvPr/>
          </p:nvSpPr>
          <p:spPr>
            <a:xfrm>
              <a:off x="196645" y="1218739"/>
              <a:ext cx="7837402" cy="353943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cimport cython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from cython.parallel import prange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@cython.boundscheck(False)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cdef julia_set(double complex[:] domain, int[:] iterations):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cdef int i, length = len(domain)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cdef double complex z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with </a:t>
              </a:r>
              <a:r>
                <a:rPr lang="nl-BE" sz="16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nogil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for i in </a:t>
              </a:r>
              <a:r>
                <a:rPr lang="nl-BE" sz="16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prange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(length, schedule='guided'):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z = domain[i]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while (iterations[i] &lt;= 300 and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    z.real*z.real + z.imag*z.imag &lt;= 4.0):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 z = z**2 - 0.622772 + 0.42193j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 iterations[i] += 1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236570" y="1220913"/>
              <a:ext cx="791307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 err="1"/>
                <a:t>julia.pyx</a:t>
              </a:r>
              <a:endParaRPr lang="nl-BE" sz="1400" dirty="0"/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156700" y="3736258"/>
            <a:ext cx="1721369" cy="2353130"/>
            <a:chOff x="156700" y="3736258"/>
            <a:chExt cx="1721369" cy="2353130"/>
          </a:xfrm>
        </p:grpSpPr>
        <p:grpSp>
          <p:nvGrpSpPr>
            <p:cNvPr id="6" name="Group 5"/>
            <p:cNvGrpSpPr/>
            <p:nvPr/>
          </p:nvGrpSpPr>
          <p:grpSpPr>
            <a:xfrm>
              <a:off x="156700" y="4414685"/>
              <a:ext cx="1721369" cy="1674703"/>
              <a:chOff x="5677086" y="1778634"/>
              <a:chExt cx="1721369" cy="1674703"/>
            </a:xfrm>
          </p:grpSpPr>
          <p:sp>
            <p:nvSpPr>
              <p:cNvPr id="7" name="TextBox 6"/>
              <p:cNvSpPr txBox="1"/>
              <p:nvPr/>
            </p:nvSpPr>
            <p:spPr>
              <a:xfrm>
                <a:off x="5677086" y="2807006"/>
                <a:ext cx="1721369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Context with</a:t>
                </a:r>
                <a:br>
                  <a:rPr lang="en-US" dirty="0"/>
                </a:br>
                <a:r>
                  <a:rPr lang="en-US" dirty="0"/>
                  <a:t>GIL switched off</a:t>
                </a:r>
                <a:endParaRPr lang="nl-BE" dirty="0"/>
              </a:p>
            </p:txBody>
          </p:sp>
          <p:cxnSp>
            <p:nvCxnSpPr>
              <p:cNvPr id="8" name="Straight Arrow Connector 7"/>
              <p:cNvCxnSpPr>
                <a:stCxn id="7" idx="0"/>
              </p:cNvCxnSpPr>
              <p:nvPr/>
            </p:nvCxnSpPr>
            <p:spPr>
              <a:xfrm flipV="1">
                <a:off x="6537771" y="1778634"/>
                <a:ext cx="152653" cy="102837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Left Brace 9"/>
            <p:cNvSpPr/>
            <p:nvPr/>
          </p:nvSpPr>
          <p:spPr>
            <a:xfrm>
              <a:off x="1243594" y="3736258"/>
              <a:ext cx="211581" cy="1345314"/>
            </a:xfrm>
            <a:prstGeom prst="lef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7532482" y="3795252"/>
            <a:ext cx="1348511" cy="2185886"/>
            <a:chOff x="490989" y="3626503"/>
            <a:chExt cx="1348511" cy="2185886"/>
          </a:xfrm>
        </p:grpSpPr>
        <p:grpSp>
          <p:nvGrpSpPr>
            <p:cNvPr id="15" name="Group 14"/>
            <p:cNvGrpSpPr/>
            <p:nvPr/>
          </p:nvGrpSpPr>
          <p:grpSpPr>
            <a:xfrm>
              <a:off x="490989" y="4240166"/>
              <a:ext cx="1348511" cy="1572223"/>
              <a:chOff x="6011375" y="1604115"/>
              <a:chExt cx="1348511" cy="1572223"/>
            </a:xfrm>
          </p:grpSpPr>
          <p:sp>
            <p:nvSpPr>
              <p:cNvPr id="17" name="TextBox 16"/>
              <p:cNvSpPr txBox="1"/>
              <p:nvPr/>
            </p:nvSpPr>
            <p:spPr>
              <a:xfrm>
                <a:off x="6011375" y="2807006"/>
                <a:ext cx="1348511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parallel loop</a:t>
                </a:r>
                <a:endParaRPr lang="nl-BE" dirty="0"/>
              </a:p>
            </p:txBody>
          </p:sp>
          <p:cxnSp>
            <p:nvCxnSpPr>
              <p:cNvPr id="18" name="Straight Arrow Connector 17"/>
              <p:cNvCxnSpPr>
                <a:stCxn id="17" idx="0"/>
              </p:cNvCxnSpPr>
              <p:nvPr/>
            </p:nvCxnSpPr>
            <p:spPr>
              <a:xfrm flipH="1" flipV="1">
                <a:off x="6685630" y="1604115"/>
                <a:ext cx="1" cy="1202891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Left Brace 15"/>
            <p:cNvSpPr/>
            <p:nvPr/>
          </p:nvSpPr>
          <p:spPr>
            <a:xfrm flipH="1">
              <a:off x="867330" y="3626503"/>
              <a:ext cx="217751" cy="1246991"/>
            </a:xfrm>
            <a:prstGeom prst="lef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72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61860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Julia set timings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6242" y="1519805"/>
            <a:ext cx="3645307" cy="2570409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8" name="Group 7"/>
          <p:cNvGrpSpPr/>
          <p:nvPr/>
        </p:nvGrpSpPr>
        <p:grpSpPr>
          <a:xfrm>
            <a:off x="4689436" y="1519805"/>
            <a:ext cx="3677819" cy="2575423"/>
            <a:chOff x="4689436" y="1411653"/>
            <a:chExt cx="3677819" cy="2575423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89436" y="1411653"/>
              <a:ext cx="3677819" cy="25754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</p:pic>
        <p:graphicFrame>
          <p:nvGraphicFramePr>
            <p:cNvPr id="6" name="Object 5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811507329"/>
                </p:ext>
              </p:extLst>
            </p:nvPr>
          </p:nvGraphicFramePr>
          <p:xfrm>
            <a:off x="7039896" y="2812204"/>
            <a:ext cx="957525" cy="67824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609480" imgH="431640" progId="Equation.3">
                    <p:embed/>
                  </p:oleObj>
                </mc:Choice>
                <mc:Fallback>
                  <p:oleObj name="Equation" r:id="rId4" imgW="609480" imgH="431640" progId="Equation.3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5"/>
                        <a:stretch>
                          <a:fillRect/>
                        </a:stretch>
                      </p:blipFill>
                      <p:spPr>
                        <a:xfrm>
                          <a:off x="7039896" y="2812204"/>
                          <a:ext cx="957525" cy="67824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9" name="Group 8"/>
          <p:cNvGrpSpPr/>
          <p:nvPr/>
        </p:nvGrpSpPr>
        <p:grpSpPr>
          <a:xfrm>
            <a:off x="846242" y="4208206"/>
            <a:ext cx="3619657" cy="2515197"/>
            <a:chOff x="846242" y="4208206"/>
            <a:chExt cx="3619657" cy="2515197"/>
          </a:xfrm>
        </p:grpSpPr>
        <p:pic>
          <p:nvPicPr>
            <p:cNvPr id="5" name="Picture 4"/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6242" y="4208206"/>
              <a:ext cx="3619657" cy="251519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</p:pic>
        <p:graphicFrame>
          <p:nvGraphicFramePr>
            <p:cNvPr id="7" name="Object 6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4275911376"/>
                </p:ext>
              </p:extLst>
            </p:nvPr>
          </p:nvGraphicFramePr>
          <p:xfrm>
            <a:off x="1492507" y="5393557"/>
            <a:ext cx="1935162" cy="67786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7" imgW="1231560" imgH="431640" progId="Equation.3">
                    <p:embed/>
                  </p:oleObj>
                </mc:Choice>
                <mc:Fallback>
                  <p:oleObj name="Equation" r:id="rId7" imgW="1231560" imgH="431640" progId="Equation.3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8"/>
                        <a:stretch>
                          <a:fillRect/>
                        </a:stretch>
                      </p:blipFill>
                      <p:spPr>
                        <a:xfrm>
                          <a:off x="1492507" y="5393557"/>
                          <a:ext cx="1935162" cy="67786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10" name="TextBox 9"/>
          <p:cNvSpPr txBox="1"/>
          <p:nvPr/>
        </p:nvSpPr>
        <p:spPr>
          <a:xfrm>
            <a:off x="2133599" y="1936190"/>
            <a:ext cx="206518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Pure python: 2350 s</a:t>
            </a:r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73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870702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Schedules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Several schedules supported</a:t>
            </a:r>
          </a:p>
          <a:p>
            <a:pPr lvl="1"/>
            <a:r>
              <a:rPr lang="en-US" dirty="0"/>
              <a:t>static: work divided equally among threads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dynamic: work assigned to threads requesting it, default chunk size = 1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guided: work assigned to threads requesting it, decreasing over time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runtime: 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omp.set_schedule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, 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OMP_SCHEDULE</a:t>
            </a:r>
            <a:r>
              <a:rPr lang="en-US" dirty="0"/>
              <a:t> environment variable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1799303" y="2713703"/>
            <a:ext cx="5530644" cy="344129"/>
            <a:chOff x="1799303" y="2713703"/>
            <a:chExt cx="5530644" cy="344129"/>
          </a:xfrm>
        </p:grpSpPr>
        <p:sp>
          <p:nvSpPr>
            <p:cNvPr id="5" name="Rectangle 4"/>
            <p:cNvSpPr/>
            <p:nvPr/>
          </p:nvSpPr>
          <p:spPr>
            <a:xfrm>
              <a:off x="1799303" y="2713703"/>
              <a:ext cx="344129" cy="344129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/>
            <p:cNvSpPr/>
            <p:nvPr/>
          </p:nvSpPr>
          <p:spPr>
            <a:xfrm>
              <a:off x="2143432" y="2713703"/>
              <a:ext cx="344129" cy="344129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/>
            <p:cNvSpPr/>
            <p:nvPr/>
          </p:nvSpPr>
          <p:spPr>
            <a:xfrm>
              <a:off x="2836606" y="2713703"/>
              <a:ext cx="344129" cy="344129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/>
            <p:cNvSpPr/>
            <p:nvPr/>
          </p:nvSpPr>
          <p:spPr>
            <a:xfrm>
              <a:off x="2487561" y="2713703"/>
              <a:ext cx="344129" cy="344129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/>
            <p:cNvSpPr/>
            <p:nvPr/>
          </p:nvSpPr>
          <p:spPr>
            <a:xfrm>
              <a:off x="3185651" y="2713703"/>
              <a:ext cx="344129" cy="344129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3529780" y="2713703"/>
              <a:ext cx="344129" cy="34412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222954" y="2713703"/>
              <a:ext cx="344129" cy="34412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3873909" y="2713703"/>
              <a:ext cx="344129" cy="34412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4562167" y="2713703"/>
              <a:ext cx="344129" cy="34412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4906296" y="2713703"/>
              <a:ext cx="344129" cy="34412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5599470" y="2713703"/>
              <a:ext cx="344129" cy="34412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5250425" y="2713703"/>
              <a:ext cx="344129" cy="34412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5948515" y="2713703"/>
              <a:ext cx="344129" cy="34412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6292644" y="2713703"/>
              <a:ext cx="344129" cy="34412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6985818" y="2713703"/>
              <a:ext cx="344129" cy="34412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6636773" y="2713703"/>
              <a:ext cx="344129" cy="34412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1796845" y="3793509"/>
            <a:ext cx="5530644" cy="344129"/>
            <a:chOff x="1799303" y="2713703"/>
            <a:chExt cx="5530644" cy="344129"/>
          </a:xfrm>
        </p:grpSpPr>
        <p:sp>
          <p:nvSpPr>
            <p:cNvPr id="23" name="Rectangle 22"/>
            <p:cNvSpPr/>
            <p:nvPr/>
          </p:nvSpPr>
          <p:spPr>
            <a:xfrm>
              <a:off x="1799303" y="2713703"/>
              <a:ext cx="344129" cy="344129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2143432" y="2713703"/>
              <a:ext cx="344129" cy="34412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2836606" y="2713703"/>
              <a:ext cx="344129" cy="34412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2487561" y="2713703"/>
              <a:ext cx="344129" cy="34412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3185651" y="2713703"/>
              <a:ext cx="344129" cy="344129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3529780" y="2713703"/>
              <a:ext cx="344129" cy="34412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4222954" y="2713703"/>
              <a:ext cx="344129" cy="34412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3873909" y="2713703"/>
              <a:ext cx="344129" cy="344129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4562167" y="2713703"/>
              <a:ext cx="344129" cy="34412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4906296" y="2713703"/>
              <a:ext cx="344129" cy="34412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5599470" y="2713703"/>
              <a:ext cx="344129" cy="344129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5250425" y="2713703"/>
              <a:ext cx="344129" cy="344129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5948515" y="2713703"/>
              <a:ext cx="344129" cy="34412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6292644" y="2713703"/>
              <a:ext cx="344129" cy="34412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6985818" y="2713703"/>
              <a:ext cx="344129" cy="34412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6636773" y="2713703"/>
              <a:ext cx="344129" cy="344129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9" name="Group 38"/>
          <p:cNvGrpSpPr/>
          <p:nvPr/>
        </p:nvGrpSpPr>
        <p:grpSpPr>
          <a:xfrm>
            <a:off x="1794387" y="4944164"/>
            <a:ext cx="5530644" cy="344129"/>
            <a:chOff x="1799303" y="2713703"/>
            <a:chExt cx="5530644" cy="344129"/>
          </a:xfrm>
        </p:grpSpPr>
        <p:sp>
          <p:nvSpPr>
            <p:cNvPr id="40" name="Rectangle 39"/>
            <p:cNvSpPr/>
            <p:nvPr/>
          </p:nvSpPr>
          <p:spPr>
            <a:xfrm>
              <a:off x="1799303" y="2713703"/>
              <a:ext cx="344129" cy="344129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2143432" y="2713703"/>
              <a:ext cx="344129" cy="344129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2836606" y="2713703"/>
              <a:ext cx="344129" cy="344129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2487561" y="2713703"/>
              <a:ext cx="344129" cy="344129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3185651" y="2713703"/>
              <a:ext cx="344129" cy="34412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3529780" y="2713703"/>
              <a:ext cx="344129" cy="34412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4222954" y="2713703"/>
              <a:ext cx="344129" cy="34412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3873909" y="2713703"/>
              <a:ext cx="344129" cy="34412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4562167" y="2713703"/>
              <a:ext cx="344129" cy="34412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4906296" y="2713703"/>
              <a:ext cx="344129" cy="34412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/>
            <p:cNvSpPr/>
            <p:nvPr/>
          </p:nvSpPr>
          <p:spPr>
            <a:xfrm>
              <a:off x="5599470" y="2713703"/>
              <a:ext cx="344129" cy="34412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ectangle 50"/>
            <p:cNvSpPr/>
            <p:nvPr/>
          </p:nvSpPr>
          <p:spPr>
            <a:xfrm>
              <a:off x="5250425" y="2713703"/>
              <a:ext cx="344129" cy="34412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51"/>
            <p:cNvSpPr/>
            <p:nvPr/>
          </p:nvSpPr>
          <p:spPr>
            <a:xfrm>
              <a:off x="5948515" y="2713703"/>
              <a:ext cx="344129" cy="344129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ectangle 52"/>
            <p:cNvSpPr/>
            <p:nvPr/>
          </p:nvSpPr>
          <p:spPr>
            <a:xfrm>
              <a:off x="6292644" y="2713703"/>
              <a:ext cx="344129" cy="34412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/>
            <p:cNvSpPr/>
            <p:nvPr/>
          </p:nvSpPr>
          <p:spPr>
            <a:xfrm>
              <a:off x="6985818" y="2713703"/>
              <a:ext cx="344129" cy="34412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/>
            <p:cNvSpPr/>
            <p:nvPr/>
          </p:nvSpPr>
          <p:spPr>
            <a:xfrm>
              <a:off x="6636773" y="2713703"/>
              <a:ext cx="344129" cy="344129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6" name="TextBox 55"/>
          <p:cNvSpPr txBox="1"/>
          <p:nvPr/>
        </p:nvSpPr>
        <p:spPr>
          <a:xfrm>
            <a:off x="3696928" y="6113109"/>
            <a:ext cx="1767920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 err="1"/>
              <a:t>Cfr</a:t>
            </a:r>
            <a:r>
              <a:rPr lang="en-US" sz="2400" dirty="0"/>
              <a:t>. </a:t>
            </a:r>
            <a:r>
              <a:rPr lang="en-US" sz="2400" dirty="0" err="1"/>
              <a:t>OpenMP</a:t>
            </a:r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74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35916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6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Reductions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Inferred automatically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855405" y="2388779"/>
            <a:ext cx="6232796" cy="2800767"/>
            <a:chOff x="196645" y="1218739"/>
            <a:chExt cx="6232796" cy="2800767"/>
          </a:xfrm>
          <a:solidFill>
            <a:schemeClr val="bg1">
              <a:lumMod val="85000"/>
            </a:schemeClr>
          </a:solidFill>
        </p:grpSpPr>
        <p:sp>
          <p:nvSpPr>
            <p:cNvPr id="5" name="TextBox 4"/>
            <p:cNvSpPr txBox="1"/>
            <p:nvPr/>
          </p:nvSpPr>
          <p:spPr>
            <a:xfrm>
              <a:off x="196645" y="1218739"/>
              <a:ext cx="6232796" cy="2800767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from cython.parallel import prange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from libc.math cimport sqrt</a:t>
              </a:r>
            </a:p>
            <a:p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cpdef double compute_pi(long n):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cdef double delta = 1.0/n, total_sum = 0.0, x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cdef long i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with nogil: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for i in prange(n, schedule='static'):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x = -1.0 + i*delta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total_sum += sqrt(1.0 - x*x)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return 4.0*total_sum/n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535589" y="1220913"/>
              <a:ext cx="887487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 err="1"/>
                <a:t>pi_lib.pyx</a:t>
              </a:r>
              <a:endParaRPr lang="nl-BE" sz="1400" dirty="0"/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3195485" y="4611329"/>
            <a:ext cx="2726196" cy="1526823"/>
            <a:chOff x="3195485" y="4611329"/>
            <a:chExt cx="2726196" cy="1526823"/>
          </a:xfrm>
        </p:grpSpPr>
        <p:sp>
          <p:nvSpPr>
            <p:cNvPr id="7" name="Oval 6"/>
            <p:cNvSpPr/>
            <p:nvPr/>
          </p:nvSpPr>
          <p:spPr>
            <a:xfrm>
              <a:off x="3569110" y="4611329"/>
              <a:ext cx="383458" cy="255638"/>
            </a:xfrm>
            <a:prstGeom prst="ellipse">
              <a:avLst/>
            </a:prstGeom>
            <a:solidFill>
              <a:srgbClr val="C00000">
                <a:alpha val="14118"/>
              </a:srgbClr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10" idx="0"/>
              <a:endCxn id="7" idx="4"/>
            </p:cNvCxnSpPr>
            <p:nvPr/>
          </p:nvCxnSpPr>
          <p:spPr>
            <a:xfrm flipH="1" flipV="1">
              <a:off x="3760839" y="4866967"/>
              <a:ext cx="797744" cy="901853"/>
            </a:xfrm>
            <a:prstGeom prst="straightConnector1">
              <a:avLst/>
            </a:prstGeom>
            <a:ln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195485" y="5768820"/>
              <a:ext cx="2726196" cy="369332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Reduction on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total_sum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231059" y="4404852"/>
            <a:ext cx="2430987" cy="1733300"/>
            <a:chOff x="3195485" y="4404852"/>
            <a:chExt cx="2430987" cy="1733300"/>
          </a:xfrm>
        </p:grpSpPr>
        <p:sp>
          <p:nvSpPr>
            <p:cNvPr id="14" name="Oval 13"/>
            <p:cNvSpPr/>
            <p:nvPr/>
          </p:nvSpPr>
          <p:spPr>
            <a:xfrm>
              <a:off x="5243014" y="4404852"/>
              <a:ext cx="383458" cy="255638"/>
            </a:xfrm>
            <a:prstGeom prst="ellipse">
              <a:avLst/>
            </a:prstGeom>
            <a:solidFill>
              <a:srgbClr val="C00000">
                <a:alpha val="14118"/>
              </a:srgbClr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" name="Straight Arrow Connector 14"/>
            <p:cNvCxnSpPr>
              <a:stCxn id="16" idx="0"/>
              <a:endCxn id="14" idx="4"/>
            </p:cNvCxnSpPr>
            <p:nvPr/>
          </p:nvCxnSpPr>
          <p:spPr>
            <a:xfrm flipV="1">
              <a:off x="4057356" y="4660490"/>
              <a:ext cx="1377387" cy="1108330"/>
            </a:xfrm>
            <a:prstGeom prst="straightConnector1">
              <a:avLst/>
            </a:prstGeom>
            <a:ln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/>
            <p:cNvSpPr txBox="1"/>
            <p:nvPr/>
          </p:nvSpPr>
          <p:spPr>
            <a:xfrm>
              <a:off x="3195485" y="5768820"/>
              <a:ext cx="1723742" cy="369332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r>
                <a:rPr lang="en-US" dirty="0"/>
                <a:t> thread-private</a:t>
              </a:r>
            </a:p>
          </p:txBody>
        </p:sp>
      </p:grp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75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783157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Extension</a:t>
            </a:r>
            <a:r>
              <a:rPr lang="en-US" dirty="0"/>
              <a:t> for specifying extra options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845573" y="2388779"/>
            <a:ext cx="7590539" cy="2554545"/>
            <a:chOff x="196645" y="1218739"/>
            <a:chExt cx="7590539" cy="2554545"/>
          </a:xfrm>
          <a:solidFill>
            <a:schemeClr val="bg1">
              <a:lumMod val="85000"/>
            </a:schemeClr>
          </a:solidFill>
        </p:grpSpPr>
        <p:sp>
          <p:nvSpPr>
            <p:cNvPr id="5" name="TextBox 4"/>
            <p:cNvSpPr txBox="1"/>
            <p:nvPr/>
          </p:nvSpPr>
          <p:spPr>
            <a:xfrm>
              <a:off x="196645" y="1218739"/>
              <a:ext cx="7590539" cy="2554545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from distutils.core import setup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from distutils.extension import Extension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from Cython.Distutils import build_ext</a:t>
              </a:r>
            </a:p>
            <a:p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setup(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cmdclass={'build_ext': build_ext},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ext_modules=[Extension('pi_lib', ['pi_lib.pyx'],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            extra_compile_args=['-fopenmp'],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            extra_link_args=['-fopenmp'])]</a:t>
              </a:r>
            </a:p>
            <a:p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961269" y="1220913"/>
              <a:ext cx="814390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setup.py</a:t>
              </a:r>
              <a:endParaRPr lang="nl-BE" sz="1400" dirty="0"/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5144363" y="4676684"/>
            <a:ext cx="1551499" cy="1247001"/>
            <a:chOff x="5290097" y="1893148"/>
            <a:chExt cx="1551499" cy="1247001"/>
          </a:xfrm>
        </p:grpSpPr>
        <p:sp>
          <p:nvSpPr>
            <p:cNvPr id="8" name="TextBox 7"/>
            <p:cNvSpPr txBox="1"/>
            <p:nvPr/>
          </p:nvSpPr>
          <p:spPr>
            <a:xfrm>
              <a:off x="5290097" y="2493818"/>
              <a:ext cx="1336904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compile and</a:t>
              </a:r>
            </a:p>
            <a:p>
              <a:r>
                <a:rPr lang="en-US" dirty="0"/>
                <a:t>link options</a:t>
              </a:r>
              <a:endParaRPr lang="nl-BE" dirty="0"/>
            </a:p>
          </p:txBody>
        </p:sp>
        <p:cxnSp>
          <p:nvCxnSpPr>
            <p:cNvPr id="9" name="Straight Arrow Connector 8"/>
            <p:cNvCxnSpPr>
              <a:stCxn id="8" idx="0"/>
            </p:cNvCxnSpPr>
            <p:nvPr/>
          </p:nvCxnSpPr>
          <p:spPr>
            <a:xfrm flipV="1">
              <a:off x="5958549" y="1893148"/>
              <a:ext cx="883047" cy="60067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76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72742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types and import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Only needed when C-level access is required!</a:t>
            </a:r>
          </a:p>
          <a:p>
            <a:r>
              <a:rPr lang="en-US" dirty="0"/>
              <a:t>Implementation files: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Implementation of all functions, except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inline</a:t>
            </a:r>
          </a:p>
          <a:p>
            <a:pPr lvl="1"/>
            <a:r>
              <a:rPr lang="en-US" dirty="0"/>
              <a:t>Class definitions, but not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/>
              <a:t> attributes</a:t>
            </a:r>
          </a:p>
          <a:p>
            <a:r>
              <a:rPr lang="en-US" dirty="0"/>
              <a:t>Declarations files: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pxd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C-level declarations: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cdef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cpdef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ctypedef</a:t>
            </a:r>
            <a:r>
              <a:rPr lang="en-US" dirty="0"/>
              <a:t>,…</a:t>
            </a:r>
          </a:p>
          <a:p>
            <a:pPr lvl="1"/>
            <a:r>
              <a:rPr lang="en-US" dirty="0"/>
              <a:t>Implementation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inline</a:t>
            </a:r>
            <a:r>
              <a:rPr lang="en-US" dirty="0"/>
              <a:t> functions</a:t>
            </a:r>
          </a:p>
          <a:p>
            <a:r>
              <a:rPr lang="en-US" dirty="0"/>
              <a:t>Declaration file + implementation file</a:t>
            </a:r>
            <a:br>
              <a:rPr lang="en-US" dirty="0"/>
            </a:br>
            <a:r>
              <a:rPr lang="en-US" dirty="0"/>
              <a:t>              = one namespace!</a:t>
            </a:r>
          </a:p>
          <a:p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cimport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9209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Declaration/implementation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78</a:t>
            </a:fld>
            <a:endParaRPr lang="en-US"/>
          </a:p>
        </p:txBody>
      </p:sp>
      <p:grpSp>
        <p:nvGrpSpPr>
          <p:cNvPr id="6" name="Group 5"/>
          <p:cNvGrpSpPr/>
          <p:nvPr/>
        </p:nvGrpSpPr>
        <p:grpSpPr>
          <a:xfrm>
            <a:off x="228600" y="1676400"/>
            <a:ext cx="4751622" cy="4278094"/>
            <a:chOff x="304800" y="1371600"/>
            <a:chExt cx="4751622" cy="4278094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304800" y="1371600"/>
              <a:ext cx="4751622" cy="4278094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double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total_mass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(Particles p[],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    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int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n):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…</a:t>
              </a:r>
            </a:p>
            <a:p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class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(object):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double m, x, v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__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init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__(m, x, v):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….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momentum(self):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…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move(self):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…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04800" y="5341414"/>
              <a:ext cx="1201676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 err="1"/>
                <a:t>particle_c.pyx</a:t>
              </a:r>
              <a:endParaRPr lang="nl-BE" sz="1400" dirty="0"/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4114800" y="2322255"/>
            <a:ext cx="4751622" cy="2554545"/>
            <a:chOff x="304800" y="1371600"/>
            <a:chExt cx="4751622" cy="2554545"/>
          </a:xfrm>
          <a:solidFill>
            <a:schemeClr val="bg1">
              <a:lumMod val="85000"/>
            </a:schemeClr>
          </a:solidFill>
        </p:grpSpPr>
        <p:sp>
          <p:nvSpPr>
            <p:cNvPr id="10" name="TextBox 9"/>
            <p:cNvSpPr txBox="1"/>
            <p:nvPr/>
          </p:nvSpPr>
          <p:spPr>
            <a:xfrm>
              <a:off x="304800" y="1371600"/>
              <a:ext cx="4751622" cy="2554545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double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total_mass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(Particles p[],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    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int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n)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…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class </a:t>
              </a:r>
              <a:r>
                <a:rPr lang="nl-BE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</a:t>
              </a:r>
              <a:r>
                <a:rPr lang="nl-BE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(object):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double m, x, v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cdef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move(self)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04800" y="3612573"/>
              <a:ext cx="1207959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 err="1"/>
                <a:t>particle_c.pxd</a:t>
              </a:r>
              <a:endParaRPr lang="nl-BE" sz="1400" dirty="0"/>
            </a:p>
          </p:txBody>
        </p:sp>
      </p:grpSp>
      <p:cxnSp>
        <p:nvCxnSpPr>
          <p:cNvPr id="14" name="Straight Connector 13"/>
          <p:cNvCxnSpPr/>
          <p:nvPr/>
        </p:nvCxnSpPr>
        <p:spPr>
          <a:xfrm>
            <a:off x="762000" y="3091669"/>
            <a:ext cx="2514600" cy="413531"/>
          </a:xfrm>
          <a:prstGeom prst="line">
            <a:avLst/>
          </a:prstGeom>
          <a:ln w="38100">
            <a:solidFill>
              <a:srgbClr val="C00000">
                <a:alpha val="6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/>
          <p:cNvGrpSpPr/>
          <p:nvPr/>
        </p:nvGrpSpPr>
        <p:grpSpPr>
          <a:xfrm>
            <a:off x="3200400" y="5247409"/>
            <a:ext cx="5368777" cy="1081787"/>
            <a:chOff x="304800" y="2848954"/>
            <a:chExt cx="5368777" cy="1081787"/>
          </a:xfrm>
          <a:solidFill>
            <a:schemeClr val="bg1">
              <a:lumMod val="85000"/>
            </a:schemeClr>
          </a:solidFill>
        </p:grpSpPr>
        <p:sp>
          <p:nvSpPr>
            <p:cNvPr id="16" name="TextBox 15"/>
            <p:cNvSpPr txBox="1"/>
            <p:nvPr/>
          </p:nvSpPr>
          <p:spPr>
            <a:xfrm>
              <a:off x="304800" y="2848954"/>
              <a:ext cx="5368777" cy="1077218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from particle </a:t>
              </a:r>
              <a:r>
                <a:rPr lang="en-US" sz="1600" b="1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cimport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Particle,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total_mass</a:t>
              </a:r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04800" y="3622964"/>
              <a:ext cx="1251305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 err="1"/>
                <a:t>simulation.pyx</a:t>
              </a:r>
              <a:endParaRPr lang="nl-BE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3864364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Cython</a:t>
            </a:r>
            <a:r>
              <a:rPr lang="en-US" dirty="0"/>
              <a:t> conclusions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Cython</a:t>
            </a:r>
            <a:endParaRPr lang="en-US" dirty="0"/>
          </a:p>
          <a:p>
            <a:pPr lvl="1"/>
            <a:r>
              <a:rPr lang="en-US" dirty="0"/>
              <a:t>Pros</a:t>
            </a:r>
          </a:p>
          <a:p>
            <a:pPr lvl="2"/>
            <a:r>
              <a:rPr lang="en-US" dirty="0"/>
              <a:t>Fairly simple to use</a:t>
            </a:r>
          </a:p>
          <a:p>
            <a:pPr lvl="2"/>
            <a:r>
              <a:rPr lang="en-US" dirty="0"/>
              <a:t>Offers excellent speedups when use wisely</a:t>
            </a:r>
          </a:p>
          <a:p>
            <a:pPr lvl="1"/>
            <a:r>
              <a:rPr lang="en-US" dirty="0"/>
              <a:t>Cons</a:t>
            </a:r>
          </a:p>
          <a:p>
            <a:pPr lvl="2"/>
            <a:r>
              <a:rPr lang="en-US" dirty="0"/>
              <a:t>Good understanding of Python and C/C++</a:t>
            </a:r>
          </a:p>
          <a:p>
            <a:pPr lvl="2"/>
            <a:r>
              <a:rPr lang="en-US" dirty="0"/>
              <a:t>Python only!</a:t>
            </a:r>
          </a:p>
          <a:p>
            <a:r>
              <a:rPr lang="en-US" dirty="0"/>
              <a:t>Features not covered here: wrapping C/C++ code</a:t>
            </a:r>
          </a:p>
          <a:p>
            <a:pPr lvl="1"/>
            <a:r>
              <a:rPr lang="en-US" dirty="0"/>
              <a:t>Pro: low overhead compared to, e.g., SWIG</a:t>
            </a:r>
          </a:p>
          <a:p>
            <a:pPr lvl="1"/>
            <a:r>
              <a:rPr lang="en-US" dirty="0"/>
              <a:t>Con: quite some code to write manually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7073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Cython</a:t>
            </a:r>
            <a:r>
              <a:rPr lang="en-US" dirty="0"/>
              <a:t> website:</a:t>
            </a:r>
            <a:br>
              <a:rPr lang="en-US" dirty="0"/>
            </a:br>
            <a:r>
              <a:rPr lang="en-US" dirty="0">
                <a:hlinkClick r:id="rId2"/>
              </a:rPr>
              <a:t>http://cython.org/</a:t>
            </a:r>
            <a:r>
              <a:rPr lang="en-US" dirty="0"/>
              <a:t> </a:t>
            </a:r>
          </a:p>
          <a:p>
            <a:r>
              <a:rPr lang="en-US" dirty="0" err="1"/>
              <a:t>Cython</a:t>
            </a:r>
            <a:r>
              <a:rPr lang="en-US" dirty="0"/>
              <a:t> documentation:</a:t>
            </a:r>
            <a:br>
              <a:rPr lang="en-US" dirty="0"/>
            </a:br>
            <a:r>
              <a:rPr lang="en-US" dirty="0">
                <a:hlinkClick r:id="rId3"/>
              </a:rPr>
              <a:t>http://docs.cython.org/</a:t>
            </a:r>
            <a:r>
              <a:rPr lang="en-US" dirty="0"/>
              <a:t> </a:t>
            </a:r>
          </a:p>
          <a:p>
            <a:r>
              <a:rPr lang="en-US" dirty="0"/>
              <a:t>Smith, Kurt (2015) </a:t>
            </a:r>
            <a:r>
              <a:rPr lang="en-US" i="1" dirty="0" err="1"/>
              <a:t>Cython</a:t>
            </a:r>
            <a:r>
              <a:rPr lang="en-US" dirty="0"/>
              <a:t>, O'Reilly Media, ISBN </a:t>
            </a:r>
            <a:r>
              <a:rPr lang="nl-BE" dirty="0"/>
              <a:t> 978-1491901557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158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Interfacing Python and C/C++/Fortran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sz="1200" dirty="0">
                <a:hlinkClick r:id="rId2"/>
              </a:rPr>
              <a:t>https://github.com/gjbex/Python-for-HPC/tree/master/source-code/interfaciing-c-c%2B%2B-fortran</a:t>
            </a:r>
            <a:endParaRPr lang="en-GB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7748947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Python typically much slower than C/C++/Fortran</a:t>
            </a:r>
          </a:p>
          <a:p>
            <a:pPr lvl="1"/>
            <a:r>
              <a:rPr lang="en-US" dirty="0"/>
              <a:t>Implement </a:t>
            </a:r>
            <a:r>
              <a:rPr lang="en-US" i="1" dirty="0">
                <a:solidFill>
                  <a:srgbClr val="FF0000"/>
                </a:solidFill>
              </a:rPr>
              <a:t>performance critical code </a:t>
            </a:r>
            <a:r>
              <a:rPr lang="en-US" dirty="0"/>
              <a:t>in C/C++/Fortran</a:t>
            </a:r>
          </a:p>
          <a:p>
            <a:r>
              <a:rPr lang="en-US" dirty="0"/>
              <a:t>Python is excellent glue language/prototyping environment</a:t>
            </a:r>
          </a:p>
          <a:p>
            <a:pPr lvl="1"/>
            <a:r>
              <a:rPr lang="en-US" dirty="0"/>
              <a:t>Use existing shared libraries</a:t>
            </a:r>
          </a:p>
          <a:p>
            <a:pPr lvl="1"/>
            <a:r>
              <a:rPr lang="en-US" dirty="0"/>
              <a:t>Wrap your own C/C++/Fortran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5582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  <a:hlinkClick r:id="rId2" action="ppaction://hlinksldjump"/>
              </a:rPr>
              <a:t>ctypes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/>
              <a:t>in Python standard library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en-US" dirty="0"/>
              <a:t>Quite straightforward</a:t>
            </a:r>
          </a:p>
          <a:p>
            <a:pPr lvl="1"/>
            <a:r>
              <a:rPr lang="en-US" dirty="0"/>
              <a:t>Part of standard distribution, so readily available</a:t>
            </a:r>
          </a:p>
          <a:p>
            <a:r>
              <a:rPr lang="en-US" dirty="0">
                <a:hlinkClick r:id="rId3" action="ppaction://hlinksldjump"/>
              </a:rPr>
              <a:t>SWIG</a:t>
            </a:r>
            <a:r>
              <a:rPr lang="en-US" dirty="0"/>
              <a:t> (Simplified Wrapper and Interface Generator)</a:t>
            </a:r>
          </a:p>
          <a:p>
            <a:pPr lvl="1"/>
            <a:r>
              <a:rPr lang="en-US" dirty="0"/>
              <a:t>More complex</a:t>
            </a:r>
          </a:p>
          <a:p>
            <a:pPr lvl="1"/>
            <a:r>
              <a:rPr lang="en-US" dirty="0"/>
              <a:t>Supports C++</a:t>
            </a:r>
          </a:p>
          <a:p>
            <a:pPr lvl="1"/>
            <a:r>
              <a:rPr lang="en-US" dirty="0"/>
              <a:t>Can make many languages interface with C/C++, e.g., Perl, Ruby, </a:t>
            </a:r>
            <a:r>
              <a:rPr lang="en-US" dirty="0" err="1"/>
              <a:t>Tcl</a:t>
            </a:r>
            <a:r>
              <a:rPr lang="en-US" dirty="0"/>
              <a:t>, Lua, Octave, R, Java,…</a:t>
            </a:r>
          </a:p>
          <a:p>
            <a:r>
              <a:rPr lang="en-US" dirty="0"/>
              <a:t>Pybind11</a:t>
            </a:r>
          </a:p>
          <a:p>
            <a:pPr lvl="1"/>
            <a:r>
              <a:rPr lang="en-US" dirty="0"/>
              <a:t>Somewhat complex but very flexible</a:t>
            </a:r>
          </a:p>
          <a:p>
            <a:pPr lvl="1"/>
            <a:r>
              <a:rPr lang="en-US" dirty="0"/>
              <a:t>Specific for C++</a:t>
            </a:r>
          </a:p>
          <a:p>
            <a:r>
              <a:rPr lang="en-US" dirty="0">
                <a:hlinkClick r:id="rId4" action="ppaction://hlinksldjump"/>
              </a:rPr>
              <a:t>f2py</a:t>
            </a:r>
            <a:endParaRPr lang="en-US" dirty="0"/>
          </a:p>
          <a:p>
            <a:pPr lvl="1"/>
            <a:r>
              <a:rPr lang="en-US" dirty="0"/>
              <a:t>Fortran 90/95, some 2003</a:t>
            </a:r>
          </a:p>
          <a:p>
            <a:pPr lvl="1"/>
            <a:r>
              <a:rPr lang="en-US" dirty="0"/>
              <a:t>Quite straightforward</a:t>
            </a:r>
          </a:p>
          <a:p>
            <a:r>
              <a:rPr lang="en-US" dirty="0"/>
              <a:t>BOOST</a:t>
            </a:r>
          </a:p>
          <a:p>
            <a:pPr lvl="1"/>
            <a:r>
              <a:rPr lang="en-US" dirty="0"/>
              <a:t>Two-way integration between C++ and Python</a:t>
            </a:r>
          </a:p>
          <a:p>
            <a:pPr lvl="1"/>
            <a:r>
              <a:rPr lang="en-US" dirty="0"/>
              <a:t>May be overkill, harder to use, let's not go there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248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ctypes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8317395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Logistic map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827584" y="1772816"/>
                <a:ext cx="2841932" cy="46166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/>
                          </a:rPr>
                          <m:t>𝑛</m:t>
                        </m:r>
                        <m:r>
                          <a:rPr lang="en-US" sz="2400" b="0" i="1" smtClean="0">
                            <a:latin typeface="Cambria Math"/>
                          </a:rPr>
                          <m:t>+1</m:t>
                        </m:r>
                      </m:sub>
                    </m:sSub>
                    <m:r>
                      <a:rPr lang="en-US" sz="2400" b="0" i="1" smtClean="0">
                        <a:latin typeface="Cambria Math"/>
                      </a:rPr>
                      <m:t>=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/>
                      </a:rPr>
                      <m:t>𝑟</m:t>
                    </m:r>
                    <m:r>
                      <a:rPr lang="en-US" sz="2400" b="0" i="1" dirty="0" smtClean="0"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sz="2400" b="0" i="1" dirty="0" smtClean="0">
                            <a:latin typeface="Cambria Math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dirty="0" smtClean="0">
                            <a:latin typeface="Cambria Math"/>
                          </a:rPr>
                          <m:t>1−</m:t>
                        </m:r>
                        <m:sSub>
                          <m:sSubPr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b="0" i="1" dirty="0" smtClean="0">
                                <a:latin typeface="Cambria Math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584" y="1772816"/>
                <a:ext cx="2841932" cy="461665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/>
          <p:cNvGrpSpPr/>
          <p:nvPr/>
        </p:nvGrpSpPr>
        <p:grpSpPr>
          <a:xfrm>
            <a:off x="1355219" y="2636912"/>
            <a:ext cx="6169109" cy="3793232"/>
            <a:chOff x="1281004" y="2948136"/>
            <a:chExt cx="6169109" cy="3793232"/>
          </a:xfrm>
        </p:grpSpPr>
        <p:pic>
          <p:nvPicPr>
            <p:cNvPr id="1026" name="Picture 2" descr="http://www.upscale.utoronto.ca/GeneralInterest/Harrison/Chaos/Logistic/logistic.gif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63688" y="2948136"/>
              <a:ext cx="5686425" cy="3505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/>
                <p:cNvSpPr txBox="1"/>
                <p:nvPr/>
              </p:nvSpPr>
              <p:spPr>
                <a:xfrm>
                  <a:off x="4114800" y="6372036"/>
                  <a:ext cx="35163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/>
                          </a:rPr>
                          <m:t>𝑟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TextBox 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14800" y="6372036"/>
                  <a:ext cx="351635" cy="369332"/>
                </a:xfrm>
                <a:prstGeom prst="rect">
                  <a:avLst/>
                </a:prstGeom>
                <a:blipFill rotWithShape="1"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/>
                <p:cNvSpPr txBox="1"/>
                <p:nvPr/>
              </p:nvSpPr>
              <p:spPr>
                <a:xfrm>
                  <a:off x="1281004" y="4516070"/>
                  <a:ext cx="52604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 smtClean="0">
                                <a:latin typeface="Cambria Math"/>
                                <a:ea typeface="Cambria Math"/>
                              </a:rPr>
                              <m:t>∞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81004" y="4516070"/>
                  <a:ext cx="526041" cy="369332"/>
                </a:xfrm>
                <a:prstGeom prst="rect">
                  <a:avLst/>
                </a:prstGeom>
                <a:blipFill rotWithShape="1"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9201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example: logistic map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691677" y="1541691"/>
            <a:ext cx="6112571" cy="2031325"/>
            <a:chOff x="691677" y="1541691"/>
            <a:chExt cx="6112571" cy="2031325"/>
          </a:xfrm>
        </p:grpSpPr>
        <p:sp>
          <p:nvSpPr>
            <p:cNvPr id="5" name="TextBox 4"/>
            <p:cNvSpPr txBox="1"/>
            <p:nvPr/>
          </p:nvSpPr>
          <p:spPr>
            <a:xfrm>
              <a:off x="691677" y="1541691"/>
              <a:ext cx="6112571" cy="203132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double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log_map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(double x, double r,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int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n) {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int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for 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0;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&lt; n;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++) {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x = r*x*(1.0 - x);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}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return x;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4868578" y="3212976"/>
              <a:ext cx="191270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logistic_map.c</a:t>
              </a:r>
              <a:endParaRPr lang="en-US" sz="1600" dirty="0">
                <a:latin typeface="Courier New" pitchFamily="49" charset="0"/>
                <a:cs typeface="Courier New" pitchFamily="49" charset="0"/>
              </a:endParaRP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691677" y="3845947"/>
            <a:ext cx="5974713" cy="1754326"/>
            <a:chOff x="691677" y="1541691"/>
            <a:chExt cx="5974713" cy="1754326"/>
          </a:xfrm>
        </p:grpSpPr>
        <p:sp>
          <p:nvSpPr>
            <p:cNvPr id="9" name="TextBox 8"/>
            <p:cNvSpPr txBox="1"/>
            <p:nvPr/>
          </p:nvSpPr>
          <p:spPr>
            <a:xfrm>
              <a:off x="691677" y="1541691"/>
              <a:ext cx="5974713" cy="1754326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ifndef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LOG_MAP_HDR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#define LOG_MAP_HDR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double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log_map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(double x, double r,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int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n);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endif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741059" y="2924944"/>
              <a:ext cx="191270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logistic_map.h</a:t>
              </a:r>
              <a:endParaRPr lang="en-US" sz="1600" dirty="0">
                <a:latin typeface="Courier New" pitchFamily="49" charset="0"/>
                <a:cs typeface="Courier New" pitchFamily="49" charset="0"/>
              </a:endParaRPr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46889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 shared library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30161" y="1550237"/>
            <a:ext cx="8318303" cy="4524315"/>
            <a:chOff x="691677" y="1541691"/>
            <a:chExt cx="8318303" cy="4524315"/>
          </a:xfrm>
        </p:grpSpPr>
        <p:sp>
          <p:nvSpPr>
            <p:cNvPr id="4" name="TextBox 3"/>
            <p:cNvSpPr txBox="1"/>
            <p:nvPr/>
          </p:nvSpPr>
          <p:spPr>
            <a:xfrm>
              <a:off x="691677" y="1541691"/>
              <a:ext cx="8318303" cy="452431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CC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gcc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CFLAGS = -O2 -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fPIC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CPPFLAGS =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LDFLAGS =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LIBS = -lm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OBJS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logistic_map.o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all: libmy_stuff.so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libmy_stuff.so: $(OBJS)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$(CC) $(CFLAGS) $(CPPFLAGS) -shared -o $@ $(OBJS) \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$(LDFLAGS) $(LIBS)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clean: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rm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-f *.o libmy_stuff.so core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829318" y="5701092"/>
              <a:ext cx="1172116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Makefile</a:t>
              </a:r>
              <a:endParaRPr lang="en-US" sz="1600" dirty="0">
                <a:latin typeface="Courier New" pitchFamily="49" charset="0"/>
                <a:cs typeface="Courier New" pitchFamily="49" charset="0"/>
              </a:endParaRPr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5511459" y="2051556"/>
            <a:ext cx="1428404" cy="40011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For </a:t>
            </a:r>
            <a:r>
              <a:rPr lang="en-US" sz="2000" dirty="0" err="1"/>
              <a:t>gcc</a:t>
            </a:r>
            <a:r>
              <a:rPr lang="en-US" sz="2000" dirty="0"/>
              <a:t> 4.6+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0201321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the library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536" y="2032248"/>
            <a:ext cx="8229600" cy="4525963"/>
          </a:xfrm>
        </p:spPr>
        <p:txBody>
          <a:bodyPr/>
          <a:lstStyle/>
          <a:p>
            <a:r>
              <a:rPr lang="en-US" dirty="0"/>
              <a:t>Best to do with C main function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430161" y="1844824"/>
            <a:ext cx="6388287" cy="4801314"/>
            <a:chOff x="691677" y="1541691"/>
            <a:chExt cx="6388287" cy="4801314"/>
          </a:xfrm>
        </p:grpSpPr>
        <p:sp>
          <p:nvSpPr>
            <p:cNvPr id="5" name="TextBox 4"/>
            <p:cNvSpPr txBox="1"/>
            <p:nvPr/>
          </p:nvSpPr>
          <p:spPr>
            <a:xfrm>
              <a:off x="691677" y="1541691"/>
              <a:ext cx="6388287" cy="48013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#include &lt;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stdio.h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&gt;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#include &lt;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stdlib.h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&gt;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#include "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logistic_map.h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"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int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main(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int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argc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, char *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argv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[]) {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double x0 = 0.5, r = 3.2, x;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if 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argc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&gt; 1) {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x0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atof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argv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[1]);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}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if 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argc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&gt; 2) {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r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atof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argv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[2]);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}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x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log_map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(x0, r, 1000);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printf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("lm(%lf, %lf) = %lf\n", x0, r, x);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return EXIT_SUCCESS;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153061" y="5987104"/>
              <a:ext cx="191270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log_map_main.c</a:t>
              </a:r>
              <a:endParaRPr lang="en-US" sz="1600" dirty="0">
                <a:latin typeface="Courier New" pitchFamily="49" charset="0"/>
                <a:cs typeface="Courier New" pitchFamily="49" charset="0"/>
              </a:endParaRPr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3954783" y="1988840"/>
            <a:ext cx="5009705" cy="646331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gcc</a:t>
            </a:r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–O2 –o </a:t>
            </a:r>
            <a:r>
              <a:rPr lang="en-US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log_map_test</a:t>
            </a:r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\</a:t>
            </a:r>
            <a:b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  </a:t>
            </a:r>
            <a:r>
              <a:rPr lang="en-US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log_map_main.c</a:t>
            </a:r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–L. –</a:t>
            </a:r>
            <a:r>
              <a:rPr lang="en-US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lmy_stuff</a:t>
            </a:r>
            <a:endParaRPr lang="en-US" b="1" dirty="0">
              <a:solidFill>
                <a:schemeClr val="bg2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211960" y="4437112"/>
            <a:ext cx="4571829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Better: write some unit test (</a:t>
            </a:r>
            <a:r>
              <a:rPr lang="en-US" sz="2400" dirty="0" err="1"/>
              <a:t>CUnit</a:t>
            </a:r>
            <a:r>
              <a:rPr lang="en-US" sz="2400" dirty="0"/>
              <a:t>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5830" y="1239143"/>
            <a:ext cx="20679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Best done in C!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30535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library from Python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Simplest option: using </a:t>
            </a:r>
            <a:r>
              <a:rPr lang="en-US" dirty="0" err="1"/>
              <a:t>ctypes</a:t>
            </a:r>
            <a:r>
              <a:rPr lang="en-US" dirty="0"/>
              <a:t> in 4 easy steps</a:t>
            </a:r>
          </a:p>
          <a:p>
            <a:pPr lvl="1"/>
            <a:r>
              <a:rPr lang="en-US" dirty="0"/>
              <a:t>Import </a:t>
            </a:r>
            <a:r>
              <a:rPr lang="en-US" dirty="0" err="1"/>
              <a:t>ctypes</a:t>
            </a:r>
            <a:r>
              <a:rPr lang="en-US" dirty="0"/>
              <a:t> module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Load shared library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Retrieve function and set its attributes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Use function</a:t>
            </a:r>
          </a:p>
          <a:p>
            <a:pPr lvl="1"/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1115616" y="2612472"/>
            <a:ext cx="5698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ctypes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cdll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c_double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c_int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15616" y="3404508"/>
            <a:ext cx="76290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lib_name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os.path.join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os.getcwd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(), 'libmy_stuff.so')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my_stuff_lib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cdll.LoadLibrary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lib_name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616" y="4526916"/>
            <a:ext cx="652614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log_map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my_stuff_lib.log_map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log_map.argtypes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c_double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c_double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c_int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log_map.restype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c_double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15616" y="5737356"/>
            <a:ext cx="43204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print(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log_map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(0.5, 3.2, 1000))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60838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4" grpId="0"/>
      <p:bldP spid="5" grpId="0"/>
      <p:bldP spid="6" grpId="0"/>
      <p:bldP spid="7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Putting it all together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430161" y="1701963"/>
            <a:ext cx="8180445" cy="3970318"/>
            <a:chOff x="691677" y="1541691"/>
            <a:chExt cx="8180445" cy="3970318"/>
          </a:xfrm>
        </p:grpSpPr>
        <p:sp>
          <p:nvSpPr>
            <p:cNvPr id="6" name="TextBox 5"/>
            <p:cNvSpPr txBox="1"/>
            <p:nvPr/>
          </p:nvSpPr>
          <p:spPr>
            <a:xfrm>
              <a:off x="691677" y="1541691"/>
              <a:ext cx="8180445" cy="397031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from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ctypes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import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cdll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c_int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c_double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import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os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def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get_log_map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():</a:t>
              </a:r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lib_name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os.path.join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os.getcwd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(), 'libmy_stuff.so')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my_stuff_lib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cdll.LoadLibrary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lib_name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log_map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my_stuff_lib.log_map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log_map.argtypes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[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c_double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c_double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c_int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]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log_map.restype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c_double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return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log_map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if __name__ == '__main__':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log_map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get_log_map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print(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log_map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(0.5, 3.2, 1000))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446986" y="5158028"/>
              <a:ext cx="1418978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log_map.py</a:t>
              </a:r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8264060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Fundamental types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31640" y="1576471"/>
          <a:ext cx="6336704" cy="4660841"/>
        </p:xfrm>
        <a:graphic>
          <a:graphicData uri="http://schemas.openxmlformats.org/drawingml/2006/table">
            <a:tbl>
              <a:tblPr/>
              <a:tblGrid>
                <a:gridCol w="15208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148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101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6747">
                <a:tc>
                  <a:txBody>
                    <a:bodyPr/>
                    <a:lstStyle/>
                    <a:p>
                      <a:pPr algn="ctr"/>
                      <a:r>
                        <a:rPr lang="en-US" sz="1300" dirty="0" err="1">
                          <a:effectLst/>
                        </a:rPr>
                        <a:t>ctypes</a:t>
                      </a:r>
                      <a:r>
                        <a:rPr lang="en-US" sz="1300" dirty="0">
                          <a:effectLst/>
                        </a:rPr>
                        <a:t> type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 w="9236" cap="flat" cmpd="sng" algn="ctr">
                      <a:solidFill>
                        <a:srgbClr val="CCAA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EEDD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>
                          <a:effectLst/>
                        </a:rPr>
                        <a:t>C type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 w="9236" cap="flat" cmpd="sng" algn="ctr">
                      <a:solidFill>
                        <a:srgbClr val="CCAA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EEDD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>
                          <a:effectLst/>
                        </a:rPr>
                        <a:t>Python type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 w="9236" cap="flat" cmpd="sng" algn="ctr">
                      <a:solidFill>
                        <a:srgbClr val="CCAA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EEDD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674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 dirty="0" err="1">
                          <a:solidFill>
                            <a:srgbClr val="355F7C"/>
                          </a:solidFill>
                          <a:effectLst/>
                          <a:hlinkClick r:id="rId2" tooltip="ctypes.c_bool"/>
                        </a:rPr>
                        <a:t>c_bool</a:t>
                      </a:r>
                      <a:endParaRPr lang="en-US" sz="1300" u="none" dirty="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_Bool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bool (1)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674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>
                          <a:solidFill>
                            <a:srgbClr val="355F7C"/>
                          </a:solidFill>
                          <a:effectLst/>
                          <a:hlinkClick r:id="rId3" tooltip="ctypes.c_char"/>
                        </a:rPr>
                        <a:t>c_char</a:t>
                      </a:r>
                      <a:endParaRPr lang="en-US" sz="130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char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1-character string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776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>
                          <a:solidFill>
                            <a:srgbClr val="355F7C"/>
                          </a:solidFill>
                          <a:effectLst/>
                          <a:hlinkClick r:id="rId4" tooltip="ctypes.c_wchar"/>
                        </a:rPr>
                        <a:t>c_wchar</a:t>
                      </a:r>
                      <a:endParaRPr lang="en-US" sz="130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wchar_t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1-character unicode string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674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>
                          <a:solidFill>
                            <a:srgbClr val="355F7C"/>
                          </a:solidFill>
                          <a:effectLst/>
                          <a:hlinkClick r:id="rId5" tooltip="ctypes.c_byte"/>
                        </a:rPr>
                        <a:t>c_byte</a:t>
                      </a:r>
                      <a:endParaRPr lang="en-US" sz="130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char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int/long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674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>
                          <a:solidFill>
                            <a:srgbClr val="355F7C"/>
                          </a:solidFill>
                          <a:effectLst/>
                          <a:hlinkClick r:id="rId6" tooltip="ctypes.c_ubyte"/>
                        </a:rPr>
                        <a:t>c_ubyte</a:t>
                      </a:r>
                      <a:endParaRPr lang="en-US" sz="130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unsigned char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int/long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674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>
                          <a:solidFill>
                            <a:srgbClr val="355F7C"/>
                          </a:solidFill>
                          <a:effectLst/>
                          <a:hlinkClick r:id="rId7" tooltip="ctypes.c_short"/>
                        </a:rPr>
                        <a:t>c_short</a:t>
                      </a:r>
                      <a:endParaRPr lang="en-US" sz="130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short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int/long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74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>
                          <a:solidFill>
                            <a:srgbClr val="355F7C"/>
                          </a:solidFill>
                          <a:effectLst/>
                          <a:hlinkClick r:id="rId8" tooltip="ctypes.c_ushort"/>
                        </a:rPr>
                        <a:t>c_ushort</a:t>
                      </a:r>
                      <a:endParaRPr lang="en-US" sz="130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unsigned short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int/long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74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>
                          <a:solidFill>
                            <a:srgbClr val="355F7C"/>
                          </a:solidFill>
                          <a:effectLst/>
                          <a:hlinkClick r:id="rId9" tooltip="ctypes.c_int"/>
                        </a:rPr>
                        <a:t>c_int</a:t>
                      </a:r>
                      <a:endParaRPr lang="en-US" sz="130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int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int/long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674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>
                          <a:solidFill>
                            <a:srgbClr val="355F7C"/>
                          </a:solidFill>
                          <a:effectLst/>
                          <a:hlinkClick r:id="rId10" tooltip="ctypes.c_uint"/>
                        </a:rPr>
                        <a:t>c_uint</a:t>
                      </a:r>
                      <a:endParaRPr lang="en-US" sz="130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unsigned int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int/long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674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>
                          <a:solidFill>
                            <a:srgbClr val="355F7C"/>
                          </a:solidFill>
                          <a:effectLst/>
                          <a:hlinkClick r:id="rId11" tooltip="ctypes.c_long"/>
                        </a:rPr>
                        <a:t>c_long</a:t>
                      </a:r>
                      <a:endParaRPr lang="en-US" sz="130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long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int/long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674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>
                          <a:solidFill>
                            <a:srgbClr val="355F7C"/>
                          </a:solidFill>
                          <a:effectLst/>
                          <a:hlinkClick r:id="rId12" tooltip="ctypes.c_ulong"/>
                        </a:rPr>
                        <a:t>c_ulong</a:t>
                      </a:r>
                      <a:endParaRPr lang="en-US" sz="130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unsigned long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int/long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674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>
                          <a:solidFill>
                            <a:srgbClr val="355F7C"/>
                          </a:solidFill>
                          <a:effectLst/>
                          <a:hlinkClick r:id="rId13" tooltip="ctypes.c_longlong"/>
                        </a:rPr>
                        <a:t>c_longlong</a:t>
                      </a:r>
                      <a:endParaRPr lang="en-US" sz="130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__int64 or long long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int/long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674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>
                          <a:solidFill>
                            <a:srgbClr val="355F7C"/>
                          </a:solidFill>
                          <a:effectLst/>
                          <a:hlinkClick r:id="rId14" tooltip="ctypes.c_ulonglong"/>
                        </a:rPr>
                        <a:t>c_ulonglong</a:t>
                      </a:r>
                      <a:endParaRPr lang="en-US" sz="130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unsigned __int64 or unsigned long long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int/long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674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>
                          <a:solidFill>
                            <a:srgbClr val="355F7C"/>
                          </a:solidFill>
                          <a:effectLst/>
                          <a:hlinkClick r:id="rId15" tooltip="ctypes.c_float"/>
                        </a:rPr>
                        <a:t>c_float</a:t>
                      </a:r>
                      <a:endParaRPr lang="en-US" sz="130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float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float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674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>
                          <a:solidFill>
                            <a:srgbClr val="355F7C"/>
                          </a:solidFill>
                          <a:effectLst/>
                          <a:hlinkClick r:id="rId16" tooltip="ctypes.c_double"/>
                        </a:rPr>
                        <a:t>c_double</a:t>
                      </a:r>
                      <a:endParaRPr lang="en-US" sz="130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double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float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674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>
                          <a:solidFill>
                            <a:srgbClr val="355F7C"/>
                          </a:solidFill>
                          <a:effectLst/>
                          <a:hlinkClick r:id="rId17" tooltip="ctypes.c_longdouble"/>
                        </a:rPr>
                        <a:t>c_longdouble</a:t>
                      </a:r>
                      <a:endParaRPr lang="en-US" sz="130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long double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float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674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>
                          <a:solidFill>
                            <a:srgbClr val="355F7C"/>
                          </a:solidFill>
                          <a:effectLst/>
                          <a:hlinkClick r:id="rId18" tooltip="ctypes.c_char_p"/>
                        </a:rPr>
                        <a:t>c_char_p</a:t>
                      </a:r>
                      <a:endParaRPr lang="en-US" sz="130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char * (NUL terminated)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string or None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674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>
                          <a:solidFill>
                            <a:srgbClr val="355F7C"/>
                          </a:solidFill>
                          <a:effectLst/>
                          <a:hlinkClick r:id="rId19" tooltip="ctypes.c_wchar_p"/>
                        </a:rPr>
                        <a:t>c_wchar_p</a:t>
                      </a:r>
                      <a:endParaRPr lang="en-US" sz="130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wchar_t * (NUL terminated)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unicode or None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6747">
                <a:tc>
                  <a:txBody>
                    <a:bodyPr/>
                    <a:lstStyle/>
                    <a:p>
                      <a:pPr algn="l"/>
                      <a:r>
                        <a:rPr lang="en-US" sz="1300" u="none" strike="noStrike">
                          <a:solidFill>
                            <a:srgbClr val="355F7C"/>
                          </a:solidFill>
                          <a:effectLst/>
                          <a:hlinkClick r:id="rId20" tooltip="ctypes.c_void_p"/>
                        </a:rPr>
                        <a:t>c_void_p</a:t>
                      </a:r>
                      <a:endParaRPr lang="en-US" sz="1300">
                        <a:effectLst/>
                      </a:endParaRP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>
                          <a:effectLst/>
                        </a:rPr>
                        <a:t>void *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 dirty="0" err="1">
                          <a:effectLst/>
                        </a:rPr>
                        <a:t>int</a:t>
                      </a:r>
                      <a:r>
                        <a:rPr lang="en-US" sz="1300" dirty="0">
                          <a:effectLst/>
                        </a:rPr>
                        <a:t>/long or None</a:t>
                      </a:r>
                    </a:p>
                  </a:txBody>
                  <a:tcPr marL="32158" marR="32158" marT="12863" marB="1286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sp>
        <p:nvSpPr>
          <p:cNvPr id="4" name="Rectangle 1"/>
          <p:cNvSpPr>
            <a:spLocks noChangeArrowheads="1"/>
          </p:cNvSpPr>
          <p:nvPr/>
        </p:nvSpPr>
        <p:spPr bwMode="auto">
          <a:xfrm>
            <a:off x="1706563" y="14271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</a:b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cs typeface="Arial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4829314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structures: points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1179335" y="4562326"/>
            <a:ext cx="6388287" cy="2031325"/>
            <a:chOff x="691677" y="1541691"/>
            <a:chExt cx="6388287" cy="2031325"/>
          </a:xfrm>
        </p:grpSpPr>
        <p:sp>
          <p:nvSpPr>
            <p:cNvPr id="4" name="TextBox 3"/>
            <p:cNvSpPr txBox="1"/>
            <p:nvPr/>
          </p:nvSpPr>
          <p:spPr>
            <a:xfrm>
              <a:off x="691677" y="1541691"/>
              <a:ext cx="6388287" cy="203132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#include &lt;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math.h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&gt;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#include "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point.h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"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double distance(Point p1, Point p2) {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return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sqrt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((p1.x - p2.x)*(p1.x - p2.x) +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  (p1.y - p2.y)*(p1.y - p2.y));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6012160" y="3212976"/>
              <a:ext cx="1048685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point.c</a:t>
              </a:r>
              <a:endParaRPr lang="en-US" sz="1600" dirty="0">
                <a:latin typeface="Courier New" pitchFamily="49" charset="0"/>
                <a:cs typeface="Courier New" pitchFamily="49" charset="0"/>
              </a:endParaRPr>
            </a:p>
          </p:txBody>
        </p:sp>
      </p:grpSp>
      <p:grpSp>
        <p:nvGrpSpPr>
          <p:cNvPr id="6" name="Group 5"/>
          <p:cNvGrpSpPr/>
          <p:nvPr/>
        </p:nvGrpSpPr>
        <p:grpSpPr>
          <a:xfrm>
            <a:off x="1187624" y="1516520"/>
            <a:ext cx="6369168" cy="2862322"/>
            <a:chOff x="691677" y="1412776"/>
            <a:chExt cx="6369168" cy="2862322"/>
          </a:xfrm>
        </p:grpSpPr>
        <p:sp>
          <p:nvSpPr>
            <p:cNvPr id="7" name="TextBox 6"/>
            <p:cNvSpPr txBox="1"/>
            <p:nvPr/>
          </p:nvSpPr>
          <p:spPr>
            <a:xfrm>
              <a:off x="691677" y="1412776"/>
              <a:ext cx="6369168" cy="2862322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ifndef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POINT_HDR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#define POINT_HDR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typedef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struct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{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double x, y;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} Point;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double distance(Point p1, Point p2);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endif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003534" y="3933056"/>
              <a:ext cx="1048685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point.h</a:t>
              </a:r>
              <a:endParaRPr lang="en-US" sz="1600" dirty="0">
                <a:latin typeface="Courier New" pitchFamily="49" charset="0"/>
                <a:cs typeface="Courier New" pitchFamily="49" charset="0"/>
              </a:endParaRPr>
            </a:p>
          </p:txBody>
        </p: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7049147" y="6356350"/>
            <a:ext cx="2133600" cy="365125"/>
          </a:xfrm>
        </p:spPr>
        <p:txBody>
          <a:bodyPr/>
          <a:lstStyle/>
          <a:p>
            <a:fld id="{D68CEE66-F348-4858-AA29-B71D1B0EBBA6}" type="slidenum">
              <a:rPr lang="en-US" smtClean="0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358264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structures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30161" y="1412776"/>
            <a:ext cx="7766870" cy="5082536"/>
            <a:chOff x="691677" y="1252504"/>
            <a:chExt cx="7766870" cy="5082536"/>
          </a:xfrm>
        </p:grpSpPr>
        <p:sp>
          <p:nvSpPr>
            <p:cNvPr id="4" name="TextBox 3"/>
            <p:cNvSpPr txBox="1"/>
            <p:nvPr/>
          </p:nvSpPr>
          <p:spPr>
            <a:xfrm>
              <a:off x="691677" y="1252504"/>
              <a:ext cx="7766870" cy="507831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from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ctypes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import Structure,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cdll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c_double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, Structure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class Point(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Structure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):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_fields_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[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('x',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c_double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),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('y',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c_double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]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def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get_distance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():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…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distance.argtypes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[Point, Point]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…</a:t>
              </a:r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if __name__ == '__main__':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distance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get_distance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p1 = Point(3.0, 4.0)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p2 = Point(-1.0, 5.0)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d = distance(p1, p2)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281788" y="5996486"/>
              <a:ext cx="1172116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point.py</a:t>
              </a: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184701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arrays: statistics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553819" y="2204864"/>
            <a:ext cx="6250429" cy="4524315"/>
            <a:chOff x="691677" y="1541691"/>
            <a:chExt cx="6250429" cy="4524315"/>
          </a:xfrm>
        </p:grpSpPr>
        <p:sp>
          <p:nvSpPr>
            <p:cNvPr id="4" name="TextBox 3"/>
            <p:cNvSpPr txBox="1"/>
            <p:nvPr/>
          </p:nvSpPr>
          <p:spPr>
            <a:xfrm>
              <a:off x="691677" y="1541691"/>
              <a:ext cx="6250429" cy="452431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#include &lt;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math.h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&gt;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#include "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stats.h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"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Stats stats(double *data,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int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n) {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Stats s;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double sum = 0.0, sum2 = 0.0;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int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for 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0;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&lt; n;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++) {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sum += data[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];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sum2 += data[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]*data[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];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}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s.mean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sum/n;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s.stddev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sqrt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(sum2/n -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s.mean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*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s.mean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);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s.n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n;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return s;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5876690" y="5712012"/>
              <a:ext cx="1048685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stats.c</a:t>
              </a:r>
              <a:endParaRPr lang="en-US" sz="1600" dirty="0">
                <a:latin typeface="Courier New" pitchFamily="49" charset="0"/>
                <a:cs typeface="Courier New" pitchFamily="49" charset="0"/>
              </a:endParaRPr>
            </a:p>
          </p:txBody>
        </p:sp>
      </p:grpSp>
      <p:grpSp>
        <p:nvGrpSpPr>
          <p:cNvPr id="6" name="Group 5"/>
          <p:cNvGrpSpPr/>
          <p:nvPr/>
        </p:nvGrpSpPr>
        <p:grpSpPr>
          <a:xfrm>
            <a:off x="3995936" y="1238236"/>
            <a:ext cx="4733988" cy="1758716"/>
            <a:chOff x="691677" y="1537301"/>
            <a:chExt cx="4733988" cy="1758716"/>
          </a:xfrm>
        </p:grpSpPr>
        <p:sp>
          <p:nvSpPr>
            <p:cNvPr id="7" name="TextBox 6"/>
            <p:cNvSpPr txBox="1"/>
            <p:nvPr/>
          </p:nvSpPr>
          <p:spPr>
            <a:xfrm>
              <a:off x="691677" y="1541691"/>
              <a:ext cx="4733988" cy="1754326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typedef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struct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{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double mean,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stddev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int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n;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} Stats;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Stats stats(double *data,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int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n);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372631" y="1537301"/>
              <a:ext cx="1048685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stats.h</a:t>
              </a:r>
              <a:endParaRPr lang="en-US" sz="1600" dirty="0">
                <a:latin typeface="Courier New" pitchFamily="49" charset="0"/>
                <a:cs typeface="Courier New" pitchFamily="49" charset="0"/>
              </a:endParaRPr>
            </a:p>
          </p:txBody>
        </p: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96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arrays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179512" y="1412776"/>
            <a:ext cx="5492209" cy="5078313"/>
            <a:chOff x="691677" y="1252504"/>
            <a:chExt cx="5492209" cy="5078313"/>
          </a:xfrm>
        </p:grpSpPr>
        <p:sp>
          <p:nvSpPr>
            <p:cNvPr id="4" name="TextBox 3"/>
            <p:cNvSpPr txBox="1"/>
            <p:nvPr/>
          </p:nvSpPr>
          <p:spPr>
            <a:xfrm>
              <a:off x="691677" y="1252504"/>
              <a:ext cx="5492209" cy="507831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_stats = None</a:t>
              </a:r>
            </a:p>
            <a:p>
              <a:endParaRPr lang="en-US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def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get_stats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(n):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global _stats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if _stats is None: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lib_name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= …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lib =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cdll.LoadLibrary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lib_name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)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_stats =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lib.stats</a:t>
              </a:r>
              <a:endParaRPr lang="en-US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_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stats.restype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= Stats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_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stats.argtypes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= [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c_double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* n,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c_int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]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return _stats</a:t>
              </a:r>
            </a:p>
            <a:p>
              <a:endParaRPr lang="en-US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def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compute_stats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(*data):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n =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len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(data)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stats =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get_stats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(n)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array_type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=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c_double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* n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d =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array_type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(*data)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return stats(d, n)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5003611" y="5979394"/>
              <a:ext cx="1172116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stats.py</a:t>
              </a:r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6135570" y="4966401"/>
            <a:ext cx="2684902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Varies with data size,</a:t>
            </a:r>
            <a:br>
              <a:rPr lang="en-US" sz="2000" dirty="0"/>
            </a:br>
            <a:r>
              <a:rPr lang="en-US" sz="2000" dirty="0"/>
              <a:t>hence wrapper function</a:t>
            </a:r>
            <a:br>
              <a:rPr lang="en-US" sz="2000" dirty="0"/>
            </a:br>
            <a:r>
              <a:rPr lang="en-US" sz="2000" dirty="0"/>
              <a:t>to set type to right size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4491446" y="2060848"/>
            <a:ext cx="4127455" cy="1800200"/>
            <a:chOff x="4491446" y="2060848"/>
            <a:chExt cx="4127455" cy="1800200"/>
          </a:xfrm>
        </p:grpSpPr>
        <p:sp>
          <p:nvSpPr>
            <p:cNvPr id="6" name="TextBox 5"/>
            <p:cNvSpPr txBox="1"/>
            <p:nvPr/>
          </p:nvSpPr>
          <p:spPr>
            <a:xfrm>
              <a:off x="6156176" y="2060848"/>
              <a:ext cx="2462725" cy="67710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Python type for array:</a:t>
              </a:r>
            </a:p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c_double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* n</a:t>
              </a:r>
            </a:p>
          </p:txBody>
        </p:sp>
        <p:cxnSp>
          <p:nvCxnSpPr>
            <p:cNvPr id="9" name="Straight Arrow Connector 8"/>
            <p:cNvCxnSpPr>
              <a:stCxn id="6" idx="1"/>
            </p:cNvCxnSpPr>
            <p:nvPr/>
          </p:nvCxnSpPr>
          <p:spPr>
            <a:xfrm flipH="1">
              <a:off x="4491446" y="2399402"/>
              <a:ext cx="1664730" cy="146164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9240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Doing the math…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17337" y="1833786"/>
            <a:ext cx="7713971" cy="2062103"/>
            <a:chOff x="691677" y="1252504"/>
            <a:chExt cx="7713971" cy="2062103"/>
          </a:xfrm>
        </p:grpSpPr>
        <p:sp>
          <p:nvSpPr>
            <p:cNvPr id="4" name="TextBox 3"/>
            <p:cNvSpPr txBox="1"/>
            <p:nvPr/>
          </p:nvSpPr>
          <p:spPr>
            <a:xfrm>
              <a:off x="691677" y="1252504"/>
              <a:ext cx="7713971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…</a:t>
              </a:r>
              <a:br>
                <a:rPr lang="en-US" sz="1600" dirty="0">
                  <a:latin typeface="Courier New" pitchFamily="49" charset="0"/>
                  <a:cs typeface="Courier New" pitchFamily="49" charset="0"/>
                </a:rPr>
              </a:b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if __name__ == '__main__':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s =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compute_stats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(1.0, 2.5, 2.0, 3.0, 3.5)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print('mean = {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s.mean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},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stddev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= {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s.stddev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}, n = {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s.n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}’)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s =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compute_stats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(1.0, 2.5, 2.0, 3.0, 3.5, -1.0, -3.0)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print('mean = {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s.mean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},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stddev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= {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s.stddev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}, n = {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s.n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}')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s =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compute_stats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(3.0, 4.0, 5.0)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print(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f'mean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= {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s.mean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},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stddev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= {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s.stddev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}, n = {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s.n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}')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226683" y="1256289"/>
              <a:ext cx="1172116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stats.py</a:t>
              </a: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1842355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ctypes</a:t>
            </a:r>
            <a:r>
              <a:rPr lang="en-US" dirty="0"/>
              <a:t>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Interacting with C and C shared libraries is relatively straightforward</a:t>
            </a:r>
          </a:p>
          <a:p>
            <a:r>
              <a:rPr lang="en-US" dirty="0"/>
              <a:t>Proper data type mapping helps a lot</a:t>
            </a:r>
          </a:p>
          <a:p>
            <a:pPr lvl="1"/>
            <a:r>
              <a:rPr lang="en-US" dirty="0"/>
              <a:t>Map C structures to Python classes (inherit 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ctype.Structure</a:t>
            </a:r>
            <a:r>
              <a:rPr lang="en-US" dirty="0"/>
              <a:t>)</a:t>
            </a:r>
          </a:p>
          <a:p>
            <a:r>
              <a:rPr lang="en-US" dirty="0"/>
              <a:t>Arrays are a nuisance</a:t>
            </a:r>
          </a:p>
          <a:p>
            <a:pPr lvl="1"/>
            <a:r>
              <a:rPr lang="en-US" dirty="0"/>
              <a:t>Write wrapper function that constructs and assigns type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7363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SWIG &amp; C++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99054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 class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764931" y="4148520"/>
            <a:ext cx="7057076" cy="2031325"/>
            <a:chOff x="691677" y="1541691"/>
            <a:chExt cx="7057076" cy="2031325"/>
          </a:xfrm>
        </p:grpSpPr>
        <p:sp>
          <p:nvSpPr>
            <p:cNvPr id="4" name="TextBox 3"/>
            <p:cNvSpPr txBox="1"/>
            <p:nvPr/>
          </p:nvSpPr>
          <p:spPr>
            <a:xfrm>
              <a:off x="691677" y="1541691"/>
              <a:ext cx="7057076" cy="203132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#include &lt;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math.h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&gt;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#include "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point_class.h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"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double Point::distance(Point p) {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return sqrt((x() -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p.x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())*(x() -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p.x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()) +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  (y() -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p.y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())*(y() - -.y()));</a:t>
              </a:r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6440779" y="3224547"/>
              <a:ext cx="1295547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point.cxx</a:t>
              </a:r>
            </a:p>
          </p:txBody>
        </p:sp>
      </p:grpSp>
      <p:grpSp>
        <p:nvGrpSpPr>
          <p:cNvPr id="6" name="Group 5"/>
          <p:cNvGrpSpPr/>
          <p:nvPr/>
        </p:nvGrpSpPr>
        <p:grpSpPr>
          <a:xfrm>
            <a:off x="764931" y="1394360"/>
            <a:ext cx="7074381" cy="2585323"/>
            <a:chOff x="557016" y="1412776"/>
            <a:chExt cx="7074381" cy="2585323"/>
          </a:xfrm>
        </p:grpSpPr>
        <p:sp>
          <p:nvSpPr>
            <p:cNvPr id="7" name="TextBox 6"/>
            <p:cNvSpPr txBox="1"/>
            <p:nvPr/>
          </p:nvSpPr>
          <p:spPr>
            <a:xfrm>
              <a:off x="557016" y="1412776"/>
              <a:ext cx="7074381" cy="258532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class Point {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private: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double x_, y_;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public: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Point(double x, double y) : x_ {x}, y_ {y} {};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double distance(Point p) const;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double x() const { return x_; }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double y() const { return y_; }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565407" y="3647069"/>
              <a:ext cx="1048685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point.h</a:t>
              </a:r>
              <a:endParaRPr lang="en-US" sz="1600" dirty="0">
                <a:latin typeface="Courier New" pitchFamily="49" charset="0"/>
                <a:cs typeface="Courier New" pitchFamily="49" charset="0"/>
              </a:endParaRPr>
            </a:p>
          </p:txBody>
        </p: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337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SWIG interface file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Create an interface file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Generate a C++ wrapper file and Python module file</a:t>
            </a:r>
            <a:endParaRPr lang="nl-BE" dirty="0"/>
          </a:p>
        </p:txBody>
      </p:sp>
      <p:grpSp>
        <p:nvGrpSpPr>
          <p:cNvPr id="3" name="Group 2"/>
          <p:cNvGrpSpPr/>
          <p:nvPr/>
        </p:nvGrpSpPr>
        <p:grpSpPr>
          <a:xfrm>
            <a:off x="899592" y="2361654"/>
            <a:ext cx="4320480" cy="1754326"/>
            <a:chOff x="691677" y="1541691"/>
            <a:chExt cx="4320480" cy="1754326"/>
          </a:xfrm>
        </p:grpSpPr>
        <p:sp>
          <p:nvSpPr>
            <p:cNvPr id="4" name="TextBox 3"/>
            <p:cNvSpPr txBox="1"/>
            <p:nvPr/>
          </p:nvSpPr>
          <p:spPr>
            <a:xfrm>
              <a:off x="691677" y="1541691"/>
              <a:ext cx="4320480" cy="1754326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%module Point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%{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#include "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point.h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"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%}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%include "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point.h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"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3963472" y="2948917"/>
              <a:ext cx="1048685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point.i</a:t>
              </a:r>
              <a:endParaRPr lang="en-US" sz="1600" dirty="0">
                <a:latin typeface="Courier New" pitchFamily="49" charset="0"/>
                <a:cs typeface="Courier New" pitchFamily="49" charset="0"/>
              </a:endParaRPr>
            </a:p>
          </p:txBody>
        </p:sp>
      </p:grpSp>
      <p:grpSp>
        <p:nvGrpSpPr>
          <p:cNvPr id="6" name="Group 5"/>
          <p:cNvGrpSpPr/>
          <p:nvPr/>
        </p:nvGrpSpPr>
        <p:grpSpPr>
          <a:xfrm>
            <a:off x="2915816" y="1811724"/>
            <a:ext cx="5235258" cy="1231106"/>
            <a:chOff x="3419872" y="2060848"/>
            <a:chExt cx="5235258" cy="1231106"/>
          </a:xfrm>
        </p:grpSpPr>
        <p:sp>
          <p:nvSpPr>
            <p:cNvPr id="7" name="TextBox 6"/>
            <p:cNvSpPr txBox="1"/>
            <p:nvPr/>
          </p:nvSpPr>
          <p:spPr>
            <a:xfrm>
              <a:off x="6156176" y="2060848"/>
              <a:ext cx="2498954" cy="12311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Python module name: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Point</a:t>
              </a:r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>
                  <a:cs typeface="Courier New" pitchFamily="49" charset="0"/>
                </a:rPr>
                <a:t>Needs not be identical</a:t>
              </a:r>
              <a:br>
                <a:rPr lang="en-US" dirty="0">
                  <a:cs typeface="Courier New" pitchFamily="49" charset="0"/>
                </a:rPr>
              </a:br>
              <a:r>
                <a:rPr lang="en-US" dirty="0">
                  <a:cs typeface="Courier New" pitchFamily="49" charset="0"/>
                </a:rPr>
                <a:t>to C++ class</a:t>
              </a: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>
              <a:off x="3419872" y="2676401"/>
              <a:ext cx="2736304" cy="6155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3203848" y="3356992"/>
            <a:ext cx="3887813" cy="1336214"/>
            <a:chOff x="3203848" y="3030052"/>
            <a:chExt cx="3887813" cy="1336214"/>
          </a:xfrm>
        </p:grpSpPr>
        <p:sp>
          <p:nvSpPr>
            <p:cNvPr id="13" name="TextBox 12"/>
            <p:cNvSpPr txBox="1"/>
            <p:nvPr/>
          </p:nvSpPr>
          <p:spPr>
            <a:xfrm>
              <a:off x="4355976" y="3966156"/>
              <a:ext cx="273568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Include C++ declarations</a:t>
              </a:r>
              <a:endParaRPr lang="en-US" dirty="0">
                <a:cs typeface="Courier New" pitchFamily="49" charset="0"/>
              </a:endParaRPr>
            </a:p>
          </p:txBody>
        </p:sp>
        <p:cxnSp>
          <p:nvCxnSpPr>
            <p:cNvPr id="14" name="Straight Arrow Connector 13"/>
            <p:cNvCxnSpPr>
              <a:stCxn id="13" idx="1"/>
            </p:cNvCxnSpPr>
            <p:nvPr/>
          </p:nvCxnSpPr>
          <p:spPr>
            <a:xfrm flipH="1" flipV="1">
              <a:off x="3203848" y="3780494"/>
              <a:ext cx="1152128" cy="38571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/>
            <p:cNvCxnSpPr>
              <a:stCxn id="13" idx="1"/>
            </p:cNvCxnSpPr>
            <p:nvPr/>
          </p:nvCxnSpPr>
          <p:spPr>
            <a:xfrm flipH="1" flipV="1">
              <a:off x="3203848" y="3030052"/>
              <a:ext cx="1152128" cy="113615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TextBox 21"/>
          <p:cNvSpPr txBox="1"/>
          <p:nvPr/>
        </p:nvSpPr>
        <p:spPr>
          <a:xfrm>
            <a:off x="899592" y="5862899"/>
            <a:ext cx="4182555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$ swig  -python  -</a:t>
            </a:r>
            <a:r>
              <a:rPr lang="en-US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c++</a:t>
            </a:r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point.i</a:t>
            </a:r>
            <a:endParaRPr lang="en-US" b="1" dirty="0">
              <a:solidFill>
                <a:schemeClr val="bg2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796136" y="5589240"/>
            <a:ext cx="2114681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Creates: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point_wrap.cxx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Point.py</a:t>
            </a:r>
            <a:endParaRPr lang="nl-BE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04573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22" grpId="0" animBg="1"/>
      <p:bldP spid="12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Shared library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shared library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 the class in Python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683568" y="2339588"/>
            <a:ext cx="7766870" cy="646331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$ g++  -O2  -</a:t>
            </a:r>
            <a:r>
              <a:rPr lang="en-US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fPIC</a:t>
            </a:r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-shared  -I/</a:t>
            </a:r>
            <a:r>
              <a:rPr lang="en-US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usr</a:t>
            </a:r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/include/python3.6  \</a:t>
            </a:r>
            <a:b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   -o _Point.so  point.cxx  point_wrap.cxx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683568" y="2996952"/>
            <a:ext cx="3470309" cy="812123"/>
            <a:chOff x="683568" y="3154033"/>
            <a:chExt cx="3470309" cy="812123"/>
          </a:xfrm>
        </p:grpSpPr>
        <p:sp>
          <p:nvSpPr>
            <p:cNvPr id="6" name="TextBox 5"/>
            <p:cNvSpPr txBox="1"/>
            <p:nvPr/>
          </p:nvSpPr>
          <p:spPr>
            <a:xfrm>
              <a:off x="683568" y="3566046"/>
              <a:ext cx="347030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Note '_' in shared library name!</a:t>
              </a:r>
              <a:endParaRPr lang="en-US" dirty="0">
                <a:cs typeface="Courier New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6" idx="0"/>
            </p:cNvCxnSpPr>
            <p:nvPr/>
          </p:nvCxnSpPr>
          <p:spPr>
            <a:xfrm flipV="1">
              <a:off x="2418723" y="3154033"/>
              <a:ext cx="32522" cy="41201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5297387" y="2996952"/>
            <a:ext cx="3163045" cy="812123"/>
            <a:chOff x="990832" y="3154033"/>
            <a:chExt cx="3163045" cy="812123"/>
          </a:xfrm>
        </p:grpSpPr>
        <p:sp>
          <p:nvSpPr>
            <p:cNvPr id="12" name="TextBox 11"/>
            <p:cNvSpPr txBox="1"/>
            <p:nvPr/>
          </p:nvSpPr>
          <p:spPr>
            <a:xfrm>
              <a:off x="990832" y="3566046"/>
              <a:ext cx="316304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Don't forget the wrapper file</a:t>
              </a:r>
              <a:endParaRPr lang="en-US" dirty="0">
                <a:cs typeface="Courier New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0"/>
            </p:cNvCxnSpPr>
            <p:nvPr/>
          </p:nvCxnSpPr>
          <p:spPr>
            <a:xfrm flipH="1" flipV="1">
              <a:off x="2353677" y="3154033"/>
              <a:ext cx="218678" cy="41201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TextBox 17"/>
          <p:cNvSpPr txBox="1"/>
          <p:nvPr/>
        </p:nvSpPr>
        <p:spPr>
          <a:xfrm>
            <a:off x="683568" y="4964432"/>
            <a:ext cx="3906839" cy="1477328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&gt;&gt;&gt; from Point import Point</a:t>
            </a:r>
          </a:p>
          <a:p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&gt;&gt;&gt; p1 = Point(1.3, 2.5)</a:t>
            </a:r>
            <a:b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&gt;&gt;&gt; p2 = Point(0.9, 2.8)</a:t>
            </a:r>
          </a:p>
          <a:p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&gt;&gt;&gt; print p1.distance(p2)</a:t>
            </a:r>
          </a:p>
          <a:p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0.5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953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8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Makefile</a:t>
            </a:r>
            <a:endParaRPr lang="nl-BE" dirty="0"/>
          </a:p>
        </p:txBody>
      </p:sp>
      <p:grpSp>
        <p:nvGrpSpPr>
          <p:cNvPr id="4" name="Group 3"/>
          <p:cNvGrpSpPr/>
          <p:nvPr/>
        </p:nvGrpSpPr>
        <p:grpSpPr>
          <a:xfrm>
            <a:off x="179512" y="1369856"/>
            <a:ext cx="7904728" cy="5355312"/>
            <a:chOff x="441028" y="1233494"/>
            <a:chExt cx="7904728" cy="5355312"/>
          </a:xfrm>
        </p:grpSpPr>
        <p:sp>
          <p:nvSpPr>
            <p:cNvPr id="5" name="TextBox 4"/>
            <p:cNvSpPr txBox="1"/>
            <p:nvPr/>
          </p:nvSpPr>
          <p:spPr>
            <a:xfrm>
              <a:off x="441028" y="1233494"/>
              <a:ext cx="7904728" cy="5355312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CXX = g++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CXXFLAGS = -O2 -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fPIC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CPPFLAGS = $(shell python3-config –includes)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LDFLAGS =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LIBS = -lpython3.6 -lm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OBJS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point.o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point_wrap.o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all: _Point.so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_Point.so: $(OBJS)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$(CXX) $(CXXFLAGS) $(CPPFLAGS) -shared  -o $@  \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 $(OBJS) $(LDFLAGS) $(LIBS)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%.o: %.cxx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	$(CXX) $(CXXFLAGS)  -o $@  -c  $&lt;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point_wrap.cxx: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point.i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	swig  -python  -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c++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$&lt;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165800" y="6250252"/>
              <a:ext cx="1172116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Makefile</a:t>
              </a:r>
              <a:endParaRPr lang="en-US" sz="1600" dirty="0">
                <a:latin typeface="Courier New" pitchFamily="49" charset="0"/>
                <a:cs typeface="Courier New" pitchFamily="49" charset="0"/>
              </a:endParaRPr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5449706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Dealing with C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Header file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Interface file: declare array function</a:t>
            </a:r>
            <a:endParaRPr lang="nl-BE" dirty="0"/>
          </a:p>
        </p:txBody>
      </p:sp>
      <p:grpSp>
        <p:nvGrpSpPr>
          <p:cNvPr id="4" name="Group 3"/>
          <p:cNvGrpSpPr/>
          <p:nvPr/>
        </p:nvGrpSpPr>
        <p:grpSpPr>
          <a:xfrm>
            <a:off x="899592" y="2304300"/>
            <a:ext cx="7920880" cy="1477328"/>
            <a:chOff x="691677" y="1541691"/>
            <a:chExt cx="7920880" cy="1477328"/>
          </a:xfrm>
        </p:grpSpPr>
        <p:sp>
          <p:nvSpPr>
            <p:cNvPr id="5" name="TextBox 4"/>
            <p:cNvSpPr txBox="1"/>
            <p:nvPr/>
          </p:nvSpPr>
          <p:spPr>
            <a:xfrm>
              <a:off x="691677" y="1541691"/>
              <a:ext cx="7920880" cy="147732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typedef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struct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{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double mean,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stddev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int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n;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} Stats;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Stats stats(double *data,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int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n);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547544" y="2671340"/>
              <a:ext cx="1048685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stats.h</a:t>
              </a:r>
              <a:endParaRPr lang="en-US" sz="1600" dirty="0">
                <a:latin typeface="Courier New" pitchFamily="49" charset="0"/>
                <a:cs typeface="Courier New" pitchFamily="49" charset="0"/>
              </a:endParaRP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4028596" y="2199517"/>
            <a:ext cx="3126560" cy="1162690"/>
            <a:chOff x="68337" y="3566046"/>
            <a:chExt cx="3126560" cy="1162690"/>
          </a:xfrm>
        </p:grpSpPr>
        <p:sp>
          <p:nvSpPr>
            <p:cNvPr id="8" name="TextBox 7"/>
            <p:cNvSpPr txBox="1"/>
            <p:nvPr/>
          </p:nvSpPr>
          <p:spPr>
            <a:xfrm>
              <a:off x="990832" y="3566046"/>
              <a:ext cx="2204065" cy="4001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Unbounded C array</a:t>
              </a:r>
              <a:endParaRPr lang="en-US" dirty="0">
                <a:cs typeface="Courier New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2"/>
            </p:cNvCxnSpPr>
            <p:nvPr/>
          </p:nvCxnSpPr>
          <p:spPr>
            <a:xfrm flipH="1">
              <a:off x="68337" y="3966156"/>
              <a:ext cx="2024528" cy="76258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919761" y="4328036"/>
            <a:ext cx="7920880" cy="2031325"/>
            <a:chOff x="691677" y="1517199"/>
            <a:chExt cx="7920880" cy="2031325"/>
          </a:xfrm>
        </p:grpSpPr>
        <p:sp>
          <p:nvSpPr>
            <p:cNvPr id="13" name="TextBox 12"/>
            <p:cNvSpPr txBox="1"/>
            <p:nvPr/>
          </p:nvSpPr>
          <p:spPr>
            <a:xfrm>
              <a:off x="691677" y="1517199"/>
              <a:ext cx="7920880" cy="203132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%module stats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%{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#include "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stats.h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"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%}</a:t>
              </a:r>
            </a:p>
            <a:p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%include "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carrays.i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"</a:t>
              </a:r>
            </a:p>
            <a:p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%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array_class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(double, 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floatArray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%include "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stats.h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"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547544" y="3197875"/>
              <a:ext cx="1048685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stats.i</a:t>
              </a:r>
              <a:endParaRPr lang="en-US" sz="1600" dirty="0">
                <a:latin typeface="Courier New" pitchFamily="49" charset="0"/>
                <a:cs typeface="Courier New" pitchFamily="49" charset="0"/>
              </a:endParaRP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4541793" y="4598808"/>
            <a:ext cx="4375226" cy="1162690"/>
            <a:chOff x="68346" y="3566046"/>
            <a:chExt cx="4375226" cy="1162690"/>
          </a:xfrm>
        </p:grpSpPr>
        <p:sp>
          <p:nvSpPr>
            <p:cNvPr id="16" name="TextBox 15"/>
            <p:cNvSpPr txBox="1"/>
            <p:nvPr/>
          </p:nvSpPr>
          <p:spPr>
            <a:xfrm>
              <a:off x="990832" y="3566046"/>
              <a:ext cx="3452740" cy="70788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 err="1">
                  <a:latin typeface="Courier New" pitchFamily="49" charset="0"/>
                  <a:cs typeface="Courier New" pitchFamily="49" charset="0"/>
                </a:rPr>
                <a:t>floatArray</a:t>
              </a:r>
              <a:r>
                <a:rPr lang="en-US" sz="2000" dirty="0"/>
                <a:t> Python function</a:t>
              </a:r>
              <a:br>
                <a:rPr lang="en-US" sz="2000" dirty="0"/>
              </a:br>
              <a:r>
                <a:rPr lang="en-US" sz="2000" dirty="0"/>
                <a:t>creates array of C </a:t>
              </a:r>
              <a:r>
                <a:rPr lang="en-US" sz="2000" dirty="0">
                  <a:latin typeface="Courier New" pitchFamily="49" charset="0"/>
                  <a:cs typeface="Courier New" pitchFamily="49" charset="0"/>
                </a:rPr>
                <a:t>double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 flipH="1">
              <a:off x="68346" y="3919989"/>
              <a:ext cx="922486" cy="80874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61319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from Python</a:t>
            </a:r>
            <a:endParaRPr lang="nl-BE" dirty="0"/>
          </a:p>
        </p:txBody>
      </p:sp>
      <p:grpSp>
        <p:nvGrpSpPr>
          <p:cNvPr id="3" name="Group 2"/>
          <p:cNvGrpSpPr/>
          <p:nvPr/>
        </p:nvGrpSpPr>
        <p:grpSpPr>
          <a:xfrm>
            <a:off x="611560" y="2089879"/>
            <a:ext cx="7992888" cy="3139321"/>
            <a:chOff x="441028" y="1233494"/>
            <a:chExt cx="7992888" cy="3139321"/>
          </a:xfrm>
        </p:grpSpPr>
        <p:sp>
          <p:nvSpPr>
            <p:cNvPr id="4" name="TextBox 3"/>
            <p:cNvSpPr txBox="1"/>
            <p:nvPr/>
          </p:nvSpPr>
          <p:spPr>
            <a:xfrm>
              <a:off x="441028" y="1233494"/>
              <a:ext cx="7992888" cy="3139321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import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stats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def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main():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n = 100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data = 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stats.floatArray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(n)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for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in range(n):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data[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] = float(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+ 1)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data_stats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stats.stats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(data, n)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print(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data_stats.mean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data_stats.stddev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return 0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6274350" y="4018004"/>
              <a:ext cx="2159566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compute_stats.py</a:t>
              </a: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622853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SWIG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Using SWIG is somewhat more complex</a:t>
            </a:r>
          </a:p>
          <a:p>
            <a:pPr lvl="1"/>
            <a:r>
              <a:rPr lang="en-US" dirty="0"/>
              <a:t>Interface file must be created</a:t>
            </a:r>
          </a:p>
          <a:p>
            <a:r>
              <a:rPr lang="en-US" dirty="0"/>
              <a:t>Data type mapping is taken care of by SWIG</a:t>
            </a:r>
          </a:p>
          <a:p>
            <a:pPr lvl="1"/>
            <a:r>
              <a:rPr lang="en-US" dirty="0"/>
              <a:t>No fiddling with wrapper functions required</a:t>
            </a:r>
          </a:p>
          <a:p>
            <a:pPr lvl="1"/>
            <a:r>
              <a:rPr lang="en-US" dirty="0"/>
              <a:t>Use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carrays.i</a:t>
            </a:r>
            <a:r>
              <a:rPr lang="en-US" dirty="0"/>
              <a:t> library for dealing with C arrays</a:t>
            </a:r>
          </a:p>
          <a:p>
            <a:r>
              <a:rPr lang="en-US" dirty="0"/>
              <a:t>Use of classes is transparent</a:t>
            </a:r>
          </a:p>
          <a:p>
            <a:r>
              <a:rPr lang="en-US" dirty="0"/>
              <a:t>Interfacing from other languages is similar</a:t>
            </a:r>
          </a:p>
          <a:p>
            <a:r>
              <a:rPr lang="en-US" dirty="0"/>
              <a:t>Many C++ features are supported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9561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pybind11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71832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C++ functions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233680" y="3726877"/>
            <a:ext cx="8281670" cy="2585323"/>
            <a:chOff x="404267" y="1541691"/>
            <a:chExt cx="8281670" cy="2585323"/>
          </a:xfrm>
        </p:grpSpPr>
        <p:sp>
          <p:nvSpPr>
            <p:cNvPr id="4" name="TextBox 3"/>
            <p:cNvSpPr txBox="1"/>
            <p:nvPr/>
          </p:nvSpPr>
          <p:spPr>
            <a:xfrm>
              <a:off x="404267" y="1541691"/>
              <a:ext cx="8281670" cy="258532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#include &lt;pybind11/pybind11.h&gt;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#include "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computations.h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"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PYBIND11_MODULE(computations, m) {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m.doc() = "pybind11 wrapper module for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cmoputations.h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";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m.def("add", &amp;add, "function that adds two numbers");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m.def("div", &amp;div, "function that divides two numbers"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py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arg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("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left_op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"),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py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arg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("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right_op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"));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5520950" y="1553260"/>
              <a:ext cx="3147015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Computation_bindings.cxx</a:t>
              </a:r>
            </a:p>
          </p:txBody>
        </p:sp>
      </p:grpSp>
      <p:grpSp>
        <p:nvGrpSpPr>
          <p:cNvPr id="6" name="Group 5"/>
          <p:cNvGrpSpPr/>
          <p:nvPr/>
        </p:nvGrpSpPr>
        <p:grpSpPr>
          <a:xfrm>
            <a:off x="233680" y="1394360"/>
            <a:ext cx="8263697" cy="2031325"/>
            <a:chOff x="557016" y="1412776"/>
            <a:chExt cx="7074381" cy="2031325"/>
          </a:xfrm>
        </p:grpSpPr>
        <p:sp>
          <p:nvSpPr>
            <p:cNvPr id="7" name="TextBox 6"/>
            <p:cNvSpPr txBox="1"/>
            <p:nvPr/>
          </p:nvSpPr>
          <p:spPr>
            <a:xfrm>
              <a:off x="557016" y="1412776"/>
              <a:ext cx="7074381" cy="203132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#ifndef COMPUTATIONS_HDR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#define COMPUTATIONS_HDR</a:t>
              </a:r>
            </a:p>
            <a:p>
              <a:endParaRPr lang="fr-FR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double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add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(double a, double b);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double div(double a, double b);</a:t>
              </a:r>
            </a:p>
            <a:p>
              <a:endParaRPr lang="fr-FR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#endif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701807" y="1422029"/>
              <a:ext cx="191270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computations.h</a:t>
              </a:r>
              <a:endParaRPr lang="en-US" sz="1600" dirty="0">
                <a:latin typeface="Courier New" pitchFamily="49" charset="0"/>
                <a:cs typeface="Courier New" pitchFamily="49" charset="0"/>
              </a:endParaRPr>
            </a:p>
          </p:txBody>
        </p: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107</a:t>
            </a:fld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182A66B3-0BE1-DAC7-34F4-B7B8AFFC7D49}"/>
              </a:ext>
            </a:extLst>
          </p:cNvPr>
          <p:cNvGrpSpPr/>
          <p:nvPr/>
        </p:nvGrpSpPr>
        <p:grpSpPr>
          <a:xfrm>
            <a:off x="3881120" y="4180717"/>
            <a:ext cx="2053205" cy="400110"/>
            <a:chOff x="568202" y="3566046"/>
            <a:chExt cx="2053205" cy="40011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317046D-F4E1-9C2D-617C-FD6B61381DBF}"/>
                </a:ext>
              </a:extLst>
            </p:cNvPr>
            <p:cNvSpPr txBox="1"/>
            <p:nvPr/>
          </p:nvSpPr>
          <p:spPr>
            <a:xfrm>
              <a:off x="990832" y="3566046"/>
              <a:ext cx="1630575" cy="4001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module name</a:t>
              </a:r>
              <a:endParaRPr lang="en-US" dirty="0">
                <a:cs typeface="Courier New" pitchFamily="49" charset="0"/>
              </a:endParaRP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797BF749-427B-23D2-19F0-336FDCCB8120}"/>
                </a:ext>
              </a:extLst>
            </p:cNvPr>
            <p:cNvCxnSpPr>
              <a:cxnSpLocks/>
              <a:stCxn id="11" idx="1"/>
            </p:cNvCxnSpPr>
            <p:nvPr/>
          </p:nvCxnSpPr>
          <p:spPr>
            <a:xfrm flipH="1">
              <a:off x="568202" y="3766101"/>
              <a:ext cx="422630" cy="20005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3B1039A3-9755-92F9-9176-A32EB4CA81DA}"/>
              </a:ext>
            </a:extLst>
          </p:cNvPr>
          <p:cNvGrpSpPr/>
          <p:nvPr/>
        </p:nvGrpSpPr>
        <p:grpSpPr>
          <a:xfrm>
            <a:off x="6533015" y="4338150"/>
            <a:ext cx="2426512" cy="400110"/>
            <a:chOff x="568202" y="3566046"/>
            <a:chExt cx="2426512" cy="400110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81AB51B-7D30-BFF3-6FC0-AA58D588F052}"/>
                </a:ext>
              </a:extLst>
            </p:cNvPr>
            <p:cNvSpPr txBox="1"/>
            <p:nvPr/>
          </p:nvSpPr>
          <p:spPr>
            <a:xfrm>
              <a:off x="990832" y="3566046"/>
              <a:ext cx="2003882" cy="4001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module </a:t>
              </a:r>
              <a:r>
                <a:rPr lang="en-US" sz="2000" dirty="0" err="1"/>
                <a:t>dcostring</a:t>
              </a:r>
              <a:endParaRPr lang="en-US" dirty="0">
                <a:cs typeface="Courier New" pitchFamily="49" charset="0"/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CB703E21-FDD4-0BC7-D4AB-C7D4D445AEE2}"/>
                </a:ext>
              </a:extLst>
            </p:cNvPr>
            <p:cNvCxnSpPr>
              <a:cxnSpLocks/>
              <a:stCxn id="18" idx="1"/>
            </p:cNvCxnSpPr>
            <p:nvPr/>
          </p:nvCxnSpPr>
          <p:spPr>
            <a:xfrm flipH="1">
              <a:off x="568202" y="3766101"/>
              <a:ext cx="422630" cy="20005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B8FAFACF-AFB3-665F-8B2B-446CD1D761D6}"/>
              </a:ext>
            </a:extLst>
          </p:cNvPr>
          <p:cNvGrpSpPr/>
          <p:nvPr/>
        </p:nvGrpSpPr>
        <p:grpSpPr>
          <a:xfrm>
            <a:off x="1310640" y="5781040"/>
            <a:ext cx="3067707" cy="832352"/>
            <a:chOff x="212919" y="3133804"/>
            <a:chExt cx="3067707" cy="832352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B544393-C04C-3EBA-C71B-F02EEE248807}"/>
                </a:ext>
              </a:extLst>
            </p:cNvPr>
            <p:cNvSpPr txBox="1"/>
            <p:nvPr/>
          </p:nvSpPr>
          <p:spPr>
            <a:xfrm>
              <a:off x="990832" y="3566046"/>
              <a:ext cx="2289794" cy="4001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function declaration</a:t>
              </a:r>
              <a:endParaRPr lang="en-US" dirty="0">
                <a:cs typeface="Courier New" pitchFamily="49" charset="0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3FCAB680-3FAE-4FED-5EFC-1F393415F16A}"/>
                </a:ext>
              </a:extLst>
            </p:cNvPr>
            <p:cNvCxnSpPr>
              <a:cxnSpLocks/>
              <a:stCxn id="21" idx="1"/>
            </p:cNvCxnSpPr>
            <p:nvPr/>
          </p:nvCxnSpPr>
          <p:spPr>
            <a:xfrm flipH="1" flipV="1">
              <a:off x="212919" y="3133804"/>
              <a:ext cx="777913" cy="63229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684561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Building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3680" y="1587400"/>
            <a:ext cx="8676640" cy="4524315"/>
            <a:chOff x="557016" y="1412776"/>
            <a:chExt cx="7427893" cy="4524315"/>
          </a:xfrm>
        </p:grpSpPr>
        <p:sp>
          <p:nvSpPr>
            <p:cNvPr id="7" name="TextBox 6"/>
            <p:cNvSpPr txBox="1"/>
            <p:nvPr/>
          </p:nvSpPr>
          <p:spPr>
            <a:xfrm>
              <a:off x="557016" y="1412776"/>
              <a:ext cx="7427893" cy="452431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CXX = g++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CXXFLAGS = -O3 -Wall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CPPFLAGS = $(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shell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 python -m pybind11 --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includes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)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LDFLAGS = -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shared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 -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fPIC</a:t>
              </a:r>
              <a:endParaRPr lang="fr-FR" dirty="0">
                <a:latin typeface="Courier New" pitchFamily="49" charset="0"/>
                <a:cs typeface="Courier New" pitchFamily="49" charset="0"/>
              </a:endParaRPr>
            </a:p>
            <a:p>
              <a:endParaRPr lang="fr-FR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EXTENSION_SUFFIX = $(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shell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 python3-config --extension-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suffix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)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COMPUTATION_LIB = computations$(EXTENSION_SUFFIX)</a:t>
              </a:r>
            </a:p>
            <a:p>
              <a:endParaRPr lang="fr-FR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COMPUTATION_LIB: computations.cpp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computations.h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 computations_bind.cpp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    $(CXX) $(CXXFLAGS) $(CPPFLAGS) $(LDFLAGS) \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           -o $(COMPUTATION_LIB)              \               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           computations.cpp computations_bind.cpp</a:t>
              </a:r>
            </a:p>
            <a:p>
              <a:endParaRPr lang="fr-FR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clean: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    $(RM) $(COMPUTATION_LIB)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606373" y="1422029"/>
              <a:ext cx="1003424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Makefile</a:t>
              </a:r>
              <a:endParaRPr lang="en-US" sz="1600" dirty="0">
                <a:latin typeface="Courier New" pitchFamily="49" charset="0"/>
                <a:cs typeface="Courier New" pitchFamily="49" charset="0"/>
              </a:endParaRPr>
            </a:p>
          </p:txBody>
        </p: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108</a:t>
            </a:fld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182A66B3-0BE1-DAC7-34F4-B7B8AFFC7D49}"/>
              </a:ext>
            </a:extLst>
          </p:cNvPr>
          <p:cNvGrpSpPr/>
          <p:nvPr/>
        </p:nvGrpSpPr>
        <p:grpSpPr>
          <a:xfrm>
            <a:off x="4775200" y="1032397"/>
            <a:ext cx="4135120" cy="1006225"/>
            <a:chOff x="572307" y="3566046"/>
            <a:chExt cx="4135120" cy="1006225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317046D-F4E1-9C2D-617C-FD6B61381DBF}"/>
                </a:ext>
              </a:extLst>
            </p:cNvPr>
            <p:cNvSpPr txBox="1"/>
            <p:nvPr/>
          </p:nvSpPr>
          <p:spPr>
            <a:xfrm>
              <a:off x="990832" y="3566046"/>
              <a:ext cx="3716595" cy="4001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pybind11 include directory option</a:t>
              </a:r>
              <a:endParaRPr lang="en-US" dirty="0">
                <a:cs typeface="Courier New" pitchFamily="49" charset="0"/>
              </a:endParaRP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797BF749-427B-23D2-19F0-336FDCCB8120}"/>
                </a:ext>
              </a:extLst>
            </p:cNvPr>
            <p:cNvCxnSpPr>
              <a:cxnSpLocks/>
              <a:stCxn id="11" idx="1"/>
            </p:cNvCxnSpPr>
            <p:nvPr/>
          </p:nvCxnSpPr>
          <p:spPr>
            <a:xfrm flipH="1">
              <a:off x="572307" y="3766101"/>
              <a:ext cx="418525" cy="80617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3B1039A3-9755-92F9-9176-A32EB4CA81DA}"/>
              </a:ext>
            </a:extLst>
          </p:cNvPr>
          <p:cNvGrpSpPr/>
          <p:nvPr/>
        </p:nvGrpSpPr>
        <p:grpSpPr>
          <a:xfrm>
            <a:off x="3830320" y="2564331"/>
            <a:ext cx="3541340" cy="400110"/>
            <a:chOff x="-945773" y="3566046"/>
            <a:chExt cx="3541340" cy="400110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81AB51B-7D30-BFF3-6FC0-AA58D588F052}"/>
                </a:ext>
              </a:extLst>
            </p:cNvPr>
            <p:cNvSpPr txBox="1"/>
            <p:nvPr/>
          </p:nvSpPr>
          <p:spPr>
            <a:xfrm>
              <a:off x="990832" y="3566046"/>
              <a:ext cx="1604735" cy="4001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shared object</a:t>
              </a:r>
              <a:endParaRPr lang="en-US" dirty="0">
                <a:cs typeface="Courier New" pitchFamily="49" charset="0"/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CB703E21-FDD4-0BC7-D4AB-C7D4D445AEE2}"/>
                </a:ext>
              </a:extLst>
            </p:cNvPr>
            <p:cNvCxnSpPr>
              <a:cxnSpLocks/>
              <a:stCxn id="18" idx="1"/>
            </p:cNvCxnSpPr>
            <p:nvPr/>
          </p:nvCxnSpPr>
          <p:spPr>
            <a:xfrm flipH="1" flipV="1">
              <a:off x="-945773" y="3566046"/>
              <a:ext cx="1936605" cy="20005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B8FAFACF-AFB3-665F-8B2B-446CD1D761D6}"/>
              </a:ext>
            </a:extLst>
          </p:cNvPr>
          <p:cNvGrpSpPr/>
          <p:nvPr/>
        </p:nvGrpSpPr>
        <p:grpSpPr>
          <a:xfrm>
            <a:off x="6569292" y="3633309"/>
            <a:ext cx="2363091" cy="646331"/>
            <a:chOff x="212919" y="3566046"/>
            <a:chExt cx="2363091" cy="646331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B544393-C04C-3EBA-C71B-F02EEE248807}"/>
                </a:ext>
              </a:extLst>
            </p:cNvPr>
            <p:cNvSpPr txBox="1"/>
            <p:nvPr/>
          </p:nvSpPr>
          <p:spPr>
            <a:xfrm>
              <a:off x="990832" y="3566046"/>
              <a:ext cx="1585178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cs typeface="Courier New" pitchFamily="49" charset="0"/>
                </a:rPr>
                <a:t>Python version</a:t>
              </a:r>
              <a:br>
                <a:rPr lang="en-US" dirty="0">
                  <a:cs typeface="Courier New" pitchFamily="49" charset="0"/>
                </a:rPr>
              </a:br>
              <a:r>
                <a:rPr lang="en-US" dirty="0">
                  <a:cs typeface="Courier New" pitchFamily="49" charset="0"/>
                </a:rPr>
                <a:t>dependent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3FCAB680-3FAE-4FED-5EFC-1F393415F16A}"/>
                </a:ext>
              </a:extLst>
            </p:cNvPr>
            <p:cNvCxnSpPr>
              <a:cxnSpLocks/>
              <a:stCxn id="21" idx="1"/>
            </p:cNvCxnSpPr>
            <p:nvPr/>
          </p:nvCxnSpPr>
          <p:spPr>
            <a:xfrm flipH="1" flipV="1">
              <a:off x="212919" y="3611852"/>
              <a:ext cx="777913" cy="27736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46284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C++ classes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03200" y="1587400"/>
            <a:ext cx="8768080" cy="4801314"/>
            <a:chOff x="557016" y="1412776"/>
            <a:chExt cx="7506173" cy="4801314"/>
          </a:xfrm>
        </p:grpSpPr>
        <p:sp>
          <p:nvSpPr>
            <p:cNvPr id="7" name="TextBox 6"/>
            <p:cNvSpPr txBox="1"/>
            <p:nvPr/>
          </p:nvSpPr>
          <p:spPr>
            <a:xfrm>
              <a:off x="557016" y="1412776"/>
              <a:ext cx="7506173" cy="480131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class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Statistics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 {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 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private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: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    std::string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name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_;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size_t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 n_;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    double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sum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_;</a:t>
              </a:r>
            </a:p>
            <a:p>
              <a:endParaRPr lang="fr-FR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  public: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Statistics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() :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     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name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_ {""}, n_ {0},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sum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_ {0.0} {};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    explicit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Statistics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const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 std::string&amp;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name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) :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     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Statistics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() {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name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_ =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name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; };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const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 std::string&amp;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name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()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const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 { return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name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_; };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size_t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 n()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const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 { return n_; };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void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add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const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 double value);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void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add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const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 std::string&amp;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str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);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    double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mean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()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const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 { check(); return </a:t>
              </a:r>
              <a:r>
                <a:rPr lang="fr-FR" dirty="0" err="1">
                  <a:latin typeface="Courier New" pitchFamily="49" charset="0"/>
                  <a:cs typeface="Courier New" pitchFamily="49" charset="0"/>
                </a:rPr>
                <a:t>sum</a:t>
              </a:r>
              <a:r>
                <a:rPr lang="fr-FR" dirty="0">
                  <a:latin typeface="Courier New" pitchFamily="49" charset="0"/>
                  <a:cs typeface="Courier New" pitchFamily="49" charset="0"/>
                </a:rPr>
                <a:t>/n; };</a:t>
              </a:r>
            </a:p>
            <a:p>
              <a:r>
                <a:rPr lang="fr-FR" dirty="0">
                  <a:latin typeface="Courier New" pitchFamily="49" charset="0"/>
                  <a:cs typeface="Courier New" pitchFamily="49" charset="0"/>
                </a:rPr>
                <a:t>};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623768" y="1422029"/>
              <a:ext cx="1426092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statistics.h</a:t>
              </a:r>
              <a:endParaRPr lang="en-US" sz="1600" dirty="0">
                <a:latin typeface="Courier New" pitchFamily="49" charset="0"/>
                <a:cs typeface="Courier New" pitchFamily="49" charset="0"/>
              </a:endParaRPr>
            </a:p>
          </p:txBody>
        </p: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109</a:t>
            </a:fld>
            <a:endParaRPr lang="en-U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31F89D4-5409-0BCC-63BA-60EF01B18808}"/>
              </a:ext>
            </a:extLst>
          </p:cNvPr>
          <p:cNvGrpSpPr/>
          <p:nvPr/>
        </p:nvGrpSpPr>
        <p:grpSpPr>
          <a:xfrm>
            <a:off x="7151112" y="3004478"/>
            <a:ext cx="1943353" cy="1639005"/>
            <a:chOff x="7151112" y="3004478"/>
            <a:chExt cx="1943353" cy="1639005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A31C0F6E-5C86-8004-64E4-7CD31DAE75C8}"/>
                </a:ext>
              </a:extLst>
            </p:cNvPr>
            <p:cNvGrpSpPr/>
            <p:nvPr/>
          </p:nvGrpSpPr>
          <p:grpSpPr>
            <a:xfrm>
              <a:off x="7151112" y="3004478"/>
              <a:ext cx="1943353" cy="1121641"/>
              <a:chOff x="990832" y="3566046"/>
              <a:chExt cx="1943353" cy="1121641"/>
            </a:xfrm>
          </p:grpSpPr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AFDB3D8-FF7B-C06A-8688-9BFE979C3A59}"/>
                  </a:ext>
                </a:extLst>
              </p:cNvPr>
              <p:cNvSpPr txBox="1"/>
              <p:nvPr/>
            </p:nvSpPr>
            <p:spPr>
              <a:xfrm>
                <a:off x="990832" y="3566046"/>
                <a:ext cx="1943353" cy="40011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000" dirty="0"/>
                  <a:t>two constructors</a:t>
                </a:r>
                <a:endParaRPr lang="en-US" dirty="0">
                  <a:cs typeface="Courier New" pitchFamily="49" charset="0"/>
                </a:endParaRPr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E05A83B0-8E16-2879-3EA1-0C65256055A9}"/>
                  </a:ext>
                </a:extLst>
              </p:cNvPr>
              <p:cNvCxnSpPr>
                <a:cxnSpLocks/>
                <a:stCxn id="14" idx="2"/>
                <a:endCxn id="25" idx="1"/>
              </p:cNvCxnSpPr>
              <p:nvPr/>
            </p:nvCxnSpPr>
            <p:spPr>
              <a:xfrm flipH="1">
                <a:off x="1523239" y="3966156"/>
                <a:ext cx="439270" cy="721531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5" name="Right Brace 24">
              <a:extLst>
                <a:ext uri="{FF2B5EF4-FFF2-40B4-BE49-F238E27FC236}">
                  <a16:creationId xmlns:a16="http://schemas.microsoft.com/office/drawing/2014/main" id="{69FE00DC-CB14-77D6-2672-B0DBE98D3308}"/>
                </a:ext>
              </a:extLst>
            </p:cNvPr>
            <p:cNvSpPr/>
            <p:nvPr/>
          </p:nvSpPr>
          <p:spPr>
            <a:xfrm>
              <a:off x="7289869" y="3608754"/>
              <a:ext cx="393650" cy="1034729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chemeClr val="tx1"/>
                  </a:solidFill>
                </a:ln>
              </a:endParaRP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22395768-DEB0-54F9-7CE5-152CCF8CFD34}"/>
              </a:ext>
            </a:extLst>
          </p:cNvPr>
          <p:cNvGrpSpPr/>
          <p:nvPr/>
        </p:nvGrpSpPr>
        <p:grpSpPr>
          <a:xfrm>
            <a:off x="7289869" y="4438088"/>
            <a:ext cx="1757678" cy="1336229"/>
            <a:chOff x="7262065" y="3215814"/>
            <a:chExt cx="1757678" cy="1336229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A61B73A3-9935-930C-C65C-3A48A5140B91}"/>
                </a:ext>
              </a:extLst>
            </p:cNvPr>
            <p:cNvGrpSpPr/>
            <p:nvPr/>
          </p:nvGrpSpPr>
          <p:grpSpPr>
            <a:xfrm>
              <a:off x="7655715" y="3215814"/>
              <a:ext cx="1364028" cy="1127864"/>
              <a:chOff x="1495435" y="3777382"/>
              <a:chExt cx="1364028" cy="1127864"/>
            </a:xfrm>
          </p:grpSpPr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64A506C1-E44E-3667-A106-0DB07833857B}"/>
                  </a:ext>
                </a:extLst>
              </p:cNvPr>
              <p:cNvSpPr txBox="1"/>
              <p:nvPr/>
            </p:nvSpPr>
            <p:spPr>
              <a:xfrm>
                <a:off x="1495435" y="3777382"/>
                <a:ext cx="1364028" cy="707886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000" dirty="0"/>
                  <a:t>overloaded</a:t>
                </a:r>
                <a:br>
                  <a:rPr lang="en-US" sz="2000" dirty="0"/>
                </a:br>
                <a:r>
                  <a:rPr lang="en-US" sz="2000" dirty="0"/>
                  <a:t>methods</a:t>
                </a:r>
                <a:endParaRPr lang="en-US" dirty="0">
                  <a:cs typeface="Courier New" pitchFamily="49" charset="0"/>
                </a:endParaRPr>
              </a:p>
            </p:txBody>
          </p:sp>
          <p:cxnSp>
            <p:nvCxnSpPr>
              <p:cNvPr id="32" name="Straight Arrow Connector 31">
                <a:extLst>
                  <a:ext uri="{FF2B5EF4-FFF2-40B4-BE49-F238E27FC236}">
                    <a16:creationId xmlns:a16="http://schemas.microsoft.com/office/drawing/2014/main" id="{C7377D4D-B17B-EE1C-BE18-97CCFDA5AA6D}"/>
                  </a:ext>
                </a:extLst>
              </p:cNvPr>
              <p:cNvCxnSpPr>
                <a:cxnSpLocks/>
                <a:stCxn id="31" idx="2"/>
                <a:endCxn id="30" idx="1"/>
              </p:cNvCxnSpPr>
              <p:nvPr/>
            </p:nvCxnSpPr>
            <p:spPr>
              <a:xfrm flipH="1">
                <a:off x="1523239" y="4485268"/>
                <a:ext cx="654210" cy="419978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0" name="Right Brace 29">
              <a:extLst>
                <a:ext uri="{FF2B5EF4-FFF2-40B4-BE49-F238E27FC236}">
                  <a16:creationId xmlns:a16="http://schemas.microsoft.com/office/drawing/2014/main" id="{63691041-43CD-6A68-AF10-98D7785712E6}"/>
                </a:ext>
              </a:extLst>
            </p:cNvPr>
            <p:cNvSpPr/>
            <p:nvPr/>
          </p:nvSpPr>
          <p:spPr>
            <a:xfrm>
              <a:off x="7262065" y="4135312"/>
              <a:ext cx="421454" cy="416731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chemeClr val="tx1"/>
                  </a:solidFill>
                </a:ln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530125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Bindings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03200" y="1992893"/>
            <a:ext cx="8768082" cy="3755781"/>
            <a:chOff x="557016" y="1411869"/>
            <a:chExt cx="7506173" cy="3755781"/>
          </a:xfrm>
        </p:grpSpPr>
        <p:sp>
          <p:nvSpPr>
            <p:cNvPr id="7" name="TextBox 6"/>
            <p:cNvSpPr txBox="1"/>
            <p:nvPr/>
          </p:nvSpPr>
          <p:spPr>
            <a:xfrm>
              <a:off x="557016" y="1412776"/>
              <a:ext cx="7506173" cy="375487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#include &lt;pybind11/pybind11.h&gt;</a:t>
              </a:r>
            </a:p>
            <a:p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#include &lt;</a:t>
              </a:r>
              <a:r>
                <a:rPr lang="en-US" sz="1400" dirty="0" err="1">
                  <a:latin typeface="Courier New" pitchFamily="49" charset="0"/>
                  <a:cs typeface="Courier New" pitchFamily="49" charset="0"/>
                </a:rPr>
                <a:t>statistics.h</a:t>
              </a:r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&gt;</a:t>
              </a:r>
            </a:p>
            <a:p>
              <a:endParaRPr lang="en-US" sz="14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PYBIND11_MODULE(stats, m) {</a:t>
              </a:r>
            </a:p>
            <a:p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  m.doc() = "module defining Statistics class";</a:t>
              </a:r>
            </a:p>
            <a:p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  </a:t>
              </a:r>
              <a:r>
                <a:rPr lang="en-US" sz="1400" dirty="0" err="1">
                  <a:latin typeface="Courier New" pitchFamily="49" charset="0"/>
                  <a:cs typeface="Courier New" pitchFamily="49" charset="0"/>
                </a:rPr>
                <a:t>py</a:t>
              </a:r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::class_&lt;Statistics&gt;(m, "Statistics")</a:t>
              </a:r>
            </a:p>
            <a:p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    .def(</a:t>
              </a:r>
              <a:r>
                <a:rPr lang="en-US" sz="1400" dirty="0" err="1">
                  <a:latin typeface="Courier New" pitchFamily="49" charset="0"/>
                  <a:cs typeface="Courier New" pitchFamily="49" charset="0"/>
                </a:rPr>
                <a:t>py</a:t>
              </a:r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400" dirty="0" err="1">
                  <a:latin typeface="Courier New" pitchFamily="49" charset="0"/>
                  <a:cs typeface="Courier New" pitchFamily="49" charset="0"/>
                </a:rPr>
                <a:t>init</a:t>
              </a:r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&lt;&gt;(), "initialize without name")</a:t>
              </a:r>
            </a:p>
            <a:p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    .def(</a:t>
              </a:r>
              <a:r>
                <a:rPr lang="en-US" sz="1400" dirty="0" err="1">
                  <a:latin typeface="Courier New" pitchFamily="49" charset="0"/>
                  <a:cs typeface="Courier New" pitchFamily="49" charset="0"/>
                </a:rPr>
                <a:t>py</a:t>
              </a:r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400" dirty="0" err="1">
                  <a:latin typeface="Courier New" pitchFamily="49" charset="0"/>
                  <a:cs typeface="Courier New" pitchFamily="49" charset="0"/>
                </a:rPr>
                <a:t>init</a:t>
              </a:r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&lt;const std::string&amp;&gt;(),</a:t>
              </a:r>
            </a:p>
            <a:p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         "initialize with name")</a:t>
              </a:r>
            </a:p>
            <a:p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    .def("name", &amp;Statistics::name, “get name of object")</a:t>
              </a:r>
            </a:p>
            <a:p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    .def("n", &amp;Statistics::n, “get number of data items")</a:t>
              </a:r>
            </a:p>
            <a:p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    .def("add", (void (Statistics::*)(const double)) &amp;Statistics::add,</a:t>
              </a:r>
            </a:p>
            <a:p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         "add a floating point value")</a:t>
              </a:r>
            </a:p>
            <a:p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    .def("add", (void (Statistics::*)(const std::string&amp;)) &amp;Statistics::add,</a:t>
              </a:r>
            </a:p>
            <a:p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             "add a string representation of a value")</a:t>
              </a:r>
            </a:p>
            <a:p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    .def("mean", &amp;Statistics::mean, "return the mean value")</a:t>
              </a:r>
            </a:p>
            <a:p>
              <a:r>
                <a:rPr lang="en-US" sz="14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875762" y="1411869"/>
              <a:ext cx="2165762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Statistics_bind.cpp</a:t>
              </a:r>
            </a:p>
          </p:txBody>
        </p: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9474433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D06F39-EBD5-E8CD-6045-A50CD5162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pybind11 conclusions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12878C-E436-53A8-4D8B-B3377F1FFA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More options/flexibility than SWIG</a:t>
            </a:r>
          </a:p>
          <a:p>
            <a:pPr lvl="1"/>
            <a:r>
              <a:rPr lang="en-US" dirty="0"/>
              <a:t>Function can have different names in modules</a:t>
            </a:r>
          </a:p>
          <a:p>
            <a:pPr lvl="1"/>
            <a:r>
              <a:rPr lang="en-US" dirty="0"/>
              <a:t>Supports overloaded C++ functions/methods</a:t>
            </a:r>
          </a:p>
          <a:p>
            <a:pPr lvl="1"/>
            <a:r>
              <a:rPr lang="en-US" dirty="0"/>
              <a:t>Better performance</a:t>
            </a:r>
          </a:p>
          <a:p>
            <a:r>
              <a:rPr lang="en-US" dirty="0"/>
              <a:t>However, you need to know C++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052EB0B-9C57-C2E2-B07A-92BB7F8009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111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23310465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f2py3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9662610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le 3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Computing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/>
                        <a:ea typeface="Cambria Math"/>
                      </a:rPr>
                      <m:t>𝜋</m:t>
                    </m:r>
                  </m:oMath>
                </a14:m>
                <a:endParaRPr lang="nl-BE" dirty="0"/>
              </a:p>
            </p:txBody>
          </p:sp>
        </mc:Choice>
        <mc:Fallback xmlns="">
          <p:sp>
            <p:nvSpPr>
              <p:cNvPr id="4" name="Tit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 rotWithShape="1">
                <a:blip r:embed="rId2"/>
                <a:stretch>
                  <a:fillRect b="-8511"/>
                </a:stretch>
              </a:blipFill>
            </p:spPr>
            <p:txBody>
              <a:bodyPr/>
              <a:lstStyle/>
              <a:p>
                <a:r>
                  <a:rPr lang="nl-B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/>
          <p:cNvGrpSpPr/>
          <p:nvPr/>
        </p:nvGrpSpPr>
        <p:grpSpPr>
          <a:xfrm>
            <a:off x="899592" y="1812880"/>
            <a:ext cx="6939720" cy="3693319"/>
            <a:chOff x="691677" y="1541691"/>
            <a:chExt cx="6939720" cy="3693319"/>
          </a:xfrm>
        </p:grpSpPr>
        <p:sp>
          <p:nvSpPr>
            <p:cNvPr id="6" name="TextBox 5"/>
            <p:cNvSpPr txBox="1"/>
            <p:nvPr/>
          </p:nvSpPr>
          <p:spPr>
            <a:xfrm>
              <a:off x="691677" y="1541691"/>
              <a:ext cx="6939720" cy="3693319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function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compute_pi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(n) result(pi)</a:t>
              </a:r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>
                  <a:latin typeface="Courier New" pitchFamily="49" charset="0"/>
                  <a:cs typeface="Courier New" pitchFamily="49" charset="0"/>
                </a:rPr>
                <a:t>    integer, intent(in) :: n</a:t>
              </a:r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>
                  <a:latin typeface="Courier New" pitchFamily="49" charset="0"/>
                  <a:cs typeface="Courier New" pitchFamily="49" charset="0"/>
                </a:rPr>
                <a:t>    real(kind=8) :: pi, x, y</a:t>
              </a:r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>
                  <a:latin typeface="Courier New" pitchFamily="49" charset="0"/>
                  <a:cs typeface="Courier New" pitchFamily="49" charset="0"/>
                </a:rPr>
                <a:t>    integer :: i</a:t>
              </a:r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>
                  <a:latin typeface="Courier New" pitchFamily="49" charset="0"/>
                  <a:cs typeface="Courier New" pitchFamily="49" charset="0"/>
                </a:rPr>
                <a:t>    do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1, n</a:t>
              </a:r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call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random_number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(x)</a:t>
              </a:r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call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random_number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(y)</a:t>
              </a:r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if (x**2.0D00 + y**2.0D00 &lt;= 1.0D00) then</a:t>
              </a:r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pi = pi + 1.0D00</a:t>
              </a:r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end if</a:t>
              </a:r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>
                  <a:latin typeface="Courier New" pitchFamily="49" charset="0"/>
                  <a:cs typeface="Courier New" pitchFamily="49" charset="0"/>
                </a:rPr>
                <a:t>    end do</a:t>
              </a:r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>
                  <a:latin typeface="Courier New" pitchFamily="49" charset="0"/>
                  <a:cs typeface="Courier New" pitchFamily="49" charset="0"/>
                </a:rPr>
                <a:t>    pi = 4.0D00*pi/n</a:t>
              </a:r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>
                  <a:latin typeface="Courier New" pitchFamily="49" charset="0"/>
                  <a:cs typeface="Courier New" pitchFamily="49" charset="0"/>
                </a:rPr>
                <a:t>end function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compute_pi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695520" y="4886003"/>
              <a:ext cx="92525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pi.f90</a:t>
              </a:r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8241775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the Fortran routine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Generate a shared library from the Fortran file</a:t>
            </a:r>
          </a:p>
          <a:p>
            <a:endParaRPr lang="en-US" dirty="0"/>
          </a:p>
          <a:p>
            <a:r>
              <a:rPr lang="en-US" dirty="0"/>
              <a:t>Use function in Python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899592" y="2276872"/>
            <a:ext cx="4458272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$ f2py3  -c  -m </a:t>
            </a:r>
            <a:r>
              <a:rPr lang="en-US" b="1" dirty="0" err="1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comp_pi</a:t>
            </a:r>
            <a:r>
              <a:rPr lang="en-US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pi.f90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36974" y="2492896"/>
            <a:ext cx="332751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generates </a:t>
            </a:r>
            <a:r>
              <a:rPr lang="en-US" sz="2400" dirty="0">
                <a:latin typeface="Courier New" pitchFamily="49" charset="0"/>
                <a:cs typeface="Courier New" pitchFamily="49" charset="0"/>
              </a:rPr>
              <a:t>comp_pi.so</a:t>
            </a:r>
            <a:endParaRPr lang="nl-BE" sz="24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683568" y="3458031"/>
            <a:ext cx="8043577" cy="3139321"/>
            <a:chOff x="691677" y="2095689"/>
            <a:chExt cx="8043577" cy="3139321"/>
          </a:xfrm>
        </p:grpSpPr>
        <p:sp>
          <p:nvSpPr>
            <p:cNvPr id="7" name="TextBox 6"/>
            <p:cNvSpPr txBox="1"/>
            <p:nvPr/>
          </p:nvSpPr>
          <p:spPr>
            <a:xfrm>
              <a:off x="691677" y="2095689"/>
              <a:ext cx="8042586" cy="3139321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import sys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from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comp_pi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import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compute_pi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def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main():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n = 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int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sys.argv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[1]) if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len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sys.argv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) &gt; 1 else 1000)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print(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compute_pi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(n))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return 0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if __name__ == '__main__':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status = main()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sys.exit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(status)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945982" y="4874970"/>
              <a:ext cx="1789272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compute_pi.py</a:t>
              </a:r>
            </a:p>
          </p:txBody>
        </p: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9687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arrays</a:t>
            </a:r>
            <a:endParaRPr lang="nl-BE" dirty="0"/>
          </a:p>
        </p:txBody>
      </p:sp>
      <p:grpSp>
        <p:nvGrpSpPr>
          <p:cNvPr id="4" name="Group 3"/>
          <p:cNvGrpSpPr/>
          <p:nvPr/>
        </p:nvGrpSpPr>
        <p:grpSpPr>
          <a:xfrm>
            <a:off x="956963" y="1712997"/>
            <a:ext cx="7215437" cy="4524315"/>
            <a:chOff x="691677" y="2095689"/>
            <a:chExt cx="7215437" cy="4524315"/>
          </a:xfrm>
        </p:grpSpPr>
        <p:sp>
          <p:nvSpPr>
            <p:cNvPr id="5" name="TextBox 4"/>
            <p:cNvSpPr txBox="1"/>
            <p:nvPr/>
          </p:nvSpPr>
          <p:spPr>
            <a:xfrm>
              <a:off x="691677" y="2095689"/>
              <a:ext cx="7215437" cy="452431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module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array_utils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implicit none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public ::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sum_array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contains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function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sum_array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 result(s)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implicit none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real(kind=8), intent(in), dimension(:) :: a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real(kind=8) :: s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integer ::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, n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n = size(a)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s = 0.0D00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do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1, n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s = s + a(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end do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end function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sum_array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end module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array_utils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865862" y="6264608"/>
              <a:ext cx="2036135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array_utils.f95</a:t>
              </a:r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115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3610310" y="1224081"/>
            <a:ext cx="3368671" cy="675692"/>
            <a:chOff x="68343" y="3984350"/>
            <a:chExt cx="3368671" cy="675692"/>
          </a:xfrm>
        </p:grpSpPr>
        <p:sp>
          <p:nvSpPr>
            <p:cNvPr id="8" name="TextBox 7"/>
            <p:cNvSpPr txBox="1"/>
            <p:nvPr/>
          </p:nvSpPr>
          <p:spPr>
            <a:xfrm>
              <a:off x="990832" y="3984350"/>
              <a:ext cx="2446182" cy="4001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Note: Fortran module</a:t>
              </a:r>
              <a:endParaRPr lang="en-US" dirty="0">
                <a:cs typeface="Courier New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2"/>
            </p:cNvCxnSpPr>
            <p:nvPr/>
          </p:nvCxnSpPr>
          <p:spPr>
            <a:xfrm flipH="1">
              <a:off x="68343" y="4384460"/>
              <a:ext cx="2145580" cy="27558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953383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Python list/</a:t>
            </a:r>
            <a:r>
              <a:rPr lang="en-US" dirty="0" err="1"/>
              <a:t>numpy</a:t>
            </a:r>
            <a:r>
              <a:rPr lang="en-US" dirty="0"/>
              <a:t>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be used with lists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Can be used with </a:t>
            </a:r>
            <a:r>
              <a:rPr lang="en-US" dirty="0" err="1"/>
              <a:t>numpy</a:t>
            </a:r>
            <a:r>
              <a:rPr lang="en-US" dirty="0"/>
              <a:t> arrays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956963" y="2239704"/>
            <a:ext cx="5024342" cy="147732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array_utils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array_utils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a = range(1, n + 1)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a_sum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array_utils.sum_array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1600" y="4376840"/>
            <a:ext cx="5009705" cy="1754326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array_utils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array_utils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(1.0, n + 1.0)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a_sum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array_utils.sum_array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116</a:t>
            </a:fld>
            <a:endParaRPr lang="en-US"/>
          </a:p>
        </p:txBody>
      </p:sp>
      <p:grpSp>
        <p:nvGrpSpPr>
          <p:cNvPr id="8" name="Group 7"/>
          <p:cNvGrpSpPr/>
          <p:nvPr/>
        </p:nvGrpSpPr>
        <p:grpSpPr>
          <a:xfrm>
            <a:off x="4562272" y="2684834"/>
            <a:ext cx="4152585" cy="1270514"/>
            <a:chOff x="-608297" y="3421722"/>
            <a:chExt cx="4152585" cy="1270514"/>
          </a:xfrm>
        </p:grpSpPr>
        <p:sp>
          <p:nvSpPr>
            <p:cNvPr id="9" name="TextBox 8"/>
            <p:cNvSpPr txBox="1"/>
            <p:nvPr/>
          </p:nvSpPr>
          <p:spPr>
            <a:xfrm>
              <a:off x="990832" y="3984350"/>
              <a:ext cx="2553456" cy="70788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Import Python module</a:t>
              </a:r>
              <a:br>
                <a:rPr lang="en-US" sz="2000" dirty="0"/>
              </a:br>
              <a:r>
                <a:rPr lang="en-US" sz="2000" dirty="0"/>
                <a:t>from Python package</a:t>
              </a:r>
              <a:endParaRPr lang="en-US" dirty="0">
                <a:cs typeface="Courier New" pitchFamily="49" charset="0"/>
              </a:endParaRPr>
            </a:p>
          </p:txBody>
        </p:sp>
        <p:cxnSp>
          <p:nvCxnSpPr>
            <p:cNvPr id="10" name="Straight Arrow Connector 9"/>
            <p:cNvCxnSpPr/>
            <p:nvPr/>
          </p:nvCxnSpPr>
          <p:spPr>
            <a:xfrm flipH="1" flipV="1">
              <a:off x="-608297" y="3421722"/>
              <a:ext cx="3025303" cy="56262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103216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Makefile</a:t>
            </a:r>
            <a:endParaRPr lang="nl-BE" dirty="0"/>
          </a:p>
        </p:txBody>
      </p:sp>
      <p:grpSp>
        <p:nvGrpSpPr>
          <p:cNvPr id="4" name="Group 3"/>
          <p:cNvGrpSpPr/>
          <p:nvPr/>
        </p:nvGrpSpPr>
        <p:grpSpPr>
          <a:xfrm>
            <a:off x="554477" y="1916832"/>
            <a:ext cx="7833947" cy="1754326"/>
            <a:chOff x="147933" y="1233494"/>
            <a:chExt cx="7833947" cy="1754326"/>
          </a:xfrm>
        </p:grpSpPr>
        <p:sp>
          <p:nvSpPr>
            <p:cNvPr id="5" name="TextBox 4"/>
            <p:cNvSpPr txBox="1"/>
            <p:nvPr/>
          </p:nvSpPr>
          <p:spPr>
            <a:xfrm>
              <a:off x="147933" y="1233494"/>
              <a:ext cx="7833947" cy="1754326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ARRAY_LIB = array_utils.cpython-36m-x86_64-linux-gnu.so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all: $(ARRAY_LIB)</a:t>
              </a:r>
            </a:p>
            <a:p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$(ARRAY_LIB): array_utils.f95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	f2py3  -c  -m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array_utils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 $&lt;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787460" y="2618556"/>
              <a:ext cx="1172116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Makefile</a:t>
              </a:r>
              <a:endParaRPr lang="en-US" sz="1600" dirty="0">
                <a:latin typeface="Courier New" pitchFamily="49" charset="0"/>
                <a:cs typeface="Courier New" pitchFamily="49" charset="0"/>
              </a:endParaRPr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56387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f2py3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Using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f2py3</a:t>
            </a:r>
            <a:r>
              <a:rPr lang="en-US" dirty="0"/>
              <a:t> is quite simple, part of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/>
              <a:t> distribution</a:t>
            </a:r>
          </a:p>
          <a:p>
            <a:r>
              <a:rPr lang="en-US" dirty="0"/>
              <a:t>Data type mapping is taken care of by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f2py3</a:t>
            </a:r>
            <a:r>
              <a:rPr lang="en-US" dirty="0"/>
              <a:t>, including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/>
              <a:t> arrays</a:t>
            </a:r>
          </a:p>
          <a:p>
            <a:r>
              <a:rPr lang="en-US" dirty="0"/>
              <a:t>Fairly complete for Fortran 90/95, partial for Fortran 2003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CEE66-F348-4858-AA29-B71D1B0EBBA6}" type="slidenum">
              <a:rPr lang="en-US" smtClean="0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8608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Wrapping conclusions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Advantages</a:t>
            </a:r>
          </a:p>
          <a:p>
            <a:pPr lvl="1"/>
            <a:r>
              <a:rPr lang="en-US" dirty="0"/>
              <a:t>Core code is C/C++/Fortran in shared object</a:t>
            </a:r>
          </a:p>
          <a:p>
            <a:pPr lvl="2"/>
            <a:r>
              <a:rPr lang="en-US" dirty="0"/>
              <a:t>Can be wrapped for other languages, besides Python</a:t>
            </a:r>
          </a:p>
          <a:p>
            <a:pPr lvl="2"/>
            <a:r>
              <a:rPr lang="en-US" dirty="0"/>
              <a:t>Can be part of C/C++/Fortran programs</a:t>
            </a:r>
          </a:p>
          <a:p>
            <a:pPr lvl="1"/>
            <a:r>
              <a:rPr lang="en-US" dirty="0"/>
              <a:t>Not a Python lock-in</a:t>
            </a:r>
          </a:p>
          <a:p>
            <a:pPr lvl="2"/>
            <a:r>
              <a:rPr lang="en-US" dirty="0"/>
              <a:t>Better long term prospects</a:t>
            </a:r>
          </a:p>
          <a:p>
            <a:r>
              <a:rPr lang="en-US" dirty="0"/>
              <a:t>Risks</a:t>
            </a:r>
          </a:p>
          <a:p>
            <a:pPr lvl="1"/>
            <a:r>
              <a:rPr lang="en-US" dirty="0"/>
              <a:t>"Boundary" between C/C++/Fortran should be sharp</a:t>
            </a:r>
          </a:p>
          <a:p>
            <a:pPr lvl="1"/>
            <a:r>
              <a:rPr lang="en-US" dirty="0"/>
              <a:t>Type conversions should be controlled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setup.py</a:t>
            </a:r>
            <a:r>
              <a:rPr lang="en-US" dirty="0"/>
              <a:t> for distribution will be more complex</a:t>
            </a:r>
          </a:p>
          <a:p>
            <a:pPr lvl="1"/>
            <a:r>
              <a:rPr lang="en-US" dirty="0"/>
              <a:t>Cross platform development &amp; distribution is more complex</a:t>
            </a:r>
          </a:p>
          <a:p>
            <a:pPr lvl="1"/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119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83367574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Multicore programming</a:t>
            </a:r>
            <a:br>
              <a:rPr lang="en-US" dirty="0"/>
            </a:br>
            <a:r>
              <a:rPr lang="en-US" dirty="0"/>
              <a:t>in Python</a:t>
            </a:r>
            <a:endParaRPr lang="nl-B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sz="1400" dirty="0">
                <a:hlinkClick r:id="rId2"/>
              </a:rPr>
              <a:t>https://github.com/gjbex/Python-for-HPC/tree/master/source-code/multiprocessing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132898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Concurrent programming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multithreaded libraries</a:t>
            </a:r>
          </a:p>
          <a:p>
            <a:pPr lvl="1"/>
            <a:r>
              <a:rPr lang="en-US" dirty="0"/>
              <a:t>e.g., </a:t>
            </a:r>
            <a:r>
              <a:rPr lang="en-US" dirty="0" err="1"/>
              <a:t>numpy</a:t>
            </a:r>
            <a:endParaRPr lang="en-US" dirty="0"/>
          </a:p>
          <a:p>
            <a:r>
              <a:rPr lang="en-US" dirty="0"/>
              <a:t>Use explicit threading model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threading</a:t>
            </a:r>
            <a:r>
              <a:rPr lang="en-US" dirty="0"/>
              <a:t> module</a:t>
            </a:r>
          </a:p>
          <a:p>
            <a:r>
              <a:rPr lang="en-US" dirty="0"/>
              <a:t>Use higher level model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multiprocessing</a:t>
            </a:r>
            <a:r>
              <a:rPr lang="en-US" dirty="0"/>
              <a:t> module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concurrent.futures</a:t>
            </a:r>
            <a:r>
              <a:rPr lang="en-US" dirty="0"/>
              <a:t> module</a:t>
            </a:r>
            <a:endParaRPr lang="nl-BE" dirty="0"/>
          </a:p>
        </p:txBody>
      </p:sp>
      <p:cxnSp>
        <p:nvCxnSpPr>
          <p:cNvPr id="5" name="Straight Connector 4"/>
          <p:cNvCxnSpPr/>
          <p:nvPr/>
        </p:nvCxnSpPr>
        <p:spPr>
          <a:xfrm>
            <a:off x="1143000" y="2743200"/>
            <a:ext cx="3962400" cy="990600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97871" y="2819400"/>
            <a:ext cx="2331729" cy="646331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Usually not in</a:t>
            </a:r>
          </a:p>
          <a:p>
            <a:r>
              <a:rPr lang="en-US" dirty="0">
                <a:solidFill>
                  <a:srgbClr val="C00000"/>
                </a:solidFill>
              </a:rPr>
              <a:t>scientific programming</a:t>
            </a:r>
            <a:endParaRPr lang="nl-BE" dirty="0">
              <a:solidFill>
                <a:srgbClr val="C0000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69606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Threads in Python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Not a big success</a:t>
            </a:r>
          </a:p>
          <a:p>
            <a:pPr lvl="1"/>
            <a:r>
              <a:rPr lang="en-US" dirty="0"/>
              <a:t>Global Interpreter Lock (GIL)</a:t>
            </a:r>
          </a:p>
          <a:p>
            <a:r>
              <a:rPr lang="en-US" dirty="0"/>
              <a:t>Does not influence threaded libraries</a:t>
            </a:r>
          </a:p>
          <a:p>
            <a:pPr lvl="1"/>
            <a:r>
              <a:rPr lang="en-US" dirty="0"/>
              <a:t>e.g., </a:t>
            </a:r>
            <a:r>
              <a:rPr lang="en-US" dirty="0" err="1"/>
              <a:t>numpy</a:t>
            </a:r>
            <a:endParaRPr lang="en-US" dirty="0"/>
          </a:p>
          <a:p>
            <a:r>
              <a:rPr lang="en-US" dirty="0"/>
              <a:t>To exploit multiple cores efficiently, use processes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14422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163153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algebra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 err="1"/>
              <a:t>numpy</a:t>
            </a:r>
            <a:r>
              <a:rPr lang="en-US" dirty="0"/>
              <a:t> build on top of BLAS (</a:t>
            </a:r>
            <a:r>
              <a:rPr lang="en-US" b="1" dirty="0"/>
              <a:t>B</a:t>
            </a:r>
            <a:r>
              <a:rPr lang="en-US" dirty="0"/>
              <a:t>asic </a:t>
            </a:r>
            <a:r>
              <a:rPr lang="en-US" b="1" dirty="0"/>
              <a:t>L</a:t>
            </a:r>
            <a:r>
              <a:rPr lang="en-US" dirty="0"/>
              <a:t>inear </a:t>
            </a:r>
            <a:r>
              <a:rPr lang="en-US" b="1" dirty="0"/>
              <a:t>A</a:t>
            </a:r>
            <a:r>
              <a:rPr lang="en-US" dirty="0"/>
              <a:t>lgebra </a:t>
            </a:r>
            <a:r>
              <a:rPr lang="en-US" b="1" dirty="0" err="1"/>
              <a:t>S</a:t>
            </a:r>
            <a:r>
              <a:rPr lang="en-US" dirty="0" err="1"/>
              <a:t>ubpackage</a:t>
            </a:r>
            <a:r>
              <a:rPr lang="en-US" dirty="0"/>
              <a:t>)</a:t>
            </a:r>
          </a:p>
          <a:p>
            <a:r>
              <a:rPr lang="en-US" dirty="0"/>
              <a:t>Good BLAS implementation are multithreaded</a:t>
            </a:r>
          </a:p>
          <a:p>
            <a:pPr lvl="1"/>
            <a:r>
              <a:rPr lang="en-US" dirty="0" err="1"/>
              <a:t>OpenBLAS</a:t>
            </a:r>
            <a:endParaRPr lang="en-US" dirty="0"/>
          </a:p>
          <a:p>
            <a:pPr lvl="1"/>
            <a:r>
              <a:rPr lang="en-US" dirty="0"/>
              <a:t>Intel MKL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Many operations scale on multiple cores</a:t>
            </a:r>
          </a:p>
          <a:p>
            <a:pPr lvl="1"/>
            <a:r>
              <a:rPr lang="en-US" dirty="0"/>
              <a:t>matrix-matrix multiplication</a:t>
            </a:r>
          </a:p>
          <a:p>
            <a:pPr lvl="1"/>
            <a:r>
              <a:rPr lang="en-US" dirty="0"/>
              <a:t>solving sets of linear equations</a:t>
            </a:r>
          </a:p>
          <a:p>
            <a:pPr lvl="1"/>
            <a:r>
              <a:rPr lang="en-US" dirty="0"/>
              <a:t>singular value decomposition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Many packages build on top of </a:t>
            </a:r>
            <a:r>
              <a:rPr lang="en-US" dirty="0" err="1"/>
              <a:t>numpy</a:t>
            </a:r>
            <a:endParaRPr lang="en-US" dirty="0"/>
          </a:p>
          <a:p>
            <a:pPr lvl="1"/>
            <a:r>
              <a:rPr lang="en-US" dirty="0" err="1"/>
              <a:t>scipy</a:t>
            </a:r>
            <a:endParaRPr lang="en-US" dirty="0"/>
          </a:p>
          <a:p>
            <a:pPr lvl="1"/>
            <a:r>
              <a:rPr lang="en-US" dirty="0"/>
              <a:t>pandas</a:t>
            </a:r>
          </a:p>
          <a:p>
            <a:pPr lvl="1"/>
            <a:r>
              <a:rPr lang="en-US" dirty="0"/>
              <a:t>…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6320795" y="5105400"/>
            <a:ext cx="2061205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Free lunch!</a:t>
            </a:r>
            <a:endParaRPr lang="nl-BE" sz="32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55428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Scaling numpy.dot</a:t>
            </a:r>
            <a:endParaRPr lang="nl-BE" dirty="0"/>
          </a:p>
        </p:txBody>
      </p:sp>
      <p:grpSp>
        <p:nvGrpSpPr>
          <p:cNvPr id="14" name="Group 13"/>
          <p:cNvGrpSpPr/>
          <p:nvPr/>
        </p:nvGrpSpPr>
        <p:grpSpPr>
          <a:xfrm>
            <a:off x="41565" y="1447800"/>
            <a:ext cx="4865132" cy="3036332"/>
            <a:chOff x="41565" y="1447800"/>
            <a:chExt cx="4865132" cy="3036332"/>
          </a:xfrm>
        </p:grpSpPr>
        <p:graphicFrame>
          <p:nvGraphicFramePr>
            <p:cNvPr id="3" name="Chart 2"/>
            <p:cNvGraphicFramePr>
              <a:graphicFrameLocks/>
            </p:cNvGraphicFramePr>
            <p:nvPr/>
          </p:nvGraphicFramePr>
          <p:xfrm>
            <a:off x="334697" y="1447800"/>
            <a:ext cx="4572000" cy="2743200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sp>
          <p:nvSpPr>
            <p:cNvPr id="4" name="TextBox 3"/>
            <p:cNvSpPr txBox="1"/>
            <p:nvPr/>
          </p:nvSpPr>
          <p:spPr>
            <a:xfrm>
              <a:off x="2317022" y="4114800"/>
              <a:ext cx="68467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cores</a:t>
              </a:r>
              <a:endParaRPr lang="nl-BE" dirty="0"/>
            </a:p>
          </p:txBody>
        </p:sp>
        <p:sp>
          <p:nvSpPr>
            <p:cNvPr id="5" name="TextBox 4"/>
            <p:cNvSpPr txBox="1"/>
            <p:nvPr/>
          </p:nvSpPr>
          <p:spPr>
            <a:xfrm rot="16200000">
              <a:off x="-270059" y="2597624"/>
              <a:ext cx="9925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speedup</a:t>
              </a:r>
              <a:endParaRPr lang="nl-BE" dirty="0"/>
            </a:p>
          </p:txBody>
        </p:sp>
      </p:grpSp>
      <p:sp>
        <p:nvSpPr>
          <p:cNvPr id="9" name="TextBox 8"/>
          <p:cNvSpPr txBox="1"/>
          <p:nvPr/>
        </p:nvSpPr>
        <p:spPr>
          <a:xfrm>
            <a:off x="6553200" y="6260068"/>
            <a:ext cx="6846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cores</a:t>
            </a:r>
            <a:endParaRPr lang="nl-BE" dirty="0"/>
          </a:p>
        </p:txBody>
      </p:sp>
      <p:grpSp>
        <p:nvGrpSpPr>
          <p:cNvPr id="15" name="Group 14"/>
          <p:cNvGrpSpPr/>
          <p:nvPr/>
        </p:nvGrpSpPr>
        <p:grpSpPr>
          <a:xfrm>
            <a:off x="4126468" y="3657600"/>
            <a:ext cx="4941332" cy="2743200"/>
            <a:chOff x="4126468" y="3657600"/>
            <a:chExt cx="4941332" cy="2743200"/>
          </a:xfrm>
        </p:grpSpPr>
        <p:graphicFrame>
          <p:nvGraphicFramePr>
            <p:cNvPr id="8" name="Chart 7"/>
            <p:cNvGraphicFramePr>
              <a:graphicFrameLocks/>
            </p:cNvGraphicFramePr>
            <p:nvPr/>
          </p:nvGraphicFramePr>
          <p:xfrm>
            <a:off x="4495800" y="3657600"/>
            <a:ext cx="4572000" cy="2743200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  <p:sp>
          <p:nvSpPr>
            <p:cNvPr id="11" name="TextBox 10"/>
            <p:cNvSpPr txBox="1"/>
            <p:nvPr/>
          </p:nvSpPr>
          <p:spPr>
            <a:xfrm rot="16200000">
              <a:off x="3771306" y="4957844"/>
              <a:ext cx="107965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efficiency</a:t>
              </a:r>
              <a:endParaRPr lang="nl-BE" dirty="0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5799115" y="1981200"/>
            <a:ext cx="2201885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scaling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np.dot</a:t>
            </a:r>
            <a:br>
              <a:rPr lang="en-US" sz="2400" dirty="0"/>
            </a:br>
            <a:r>
              <a:rPr lang="en-US" sz="2400" dirty="0"/>
              <a:t>on 8000 </a:t>
            </a:r>
            <a:r>
              <a:rPr lang="en-US" sz="2400" dirty="0">
                <a:sym typeface="Symbol"/>
              </a:rPr>
              <a:t></a:t>
            </a:r>
            <a:r>
              <a:rPr lang="en-US" sz="2400" dirty="0"/>
              <a:t> 8000</a:t>
            </a:r>
            <a:br>
              <a:rPr lang="en-US" sz="2400" dirty="0"/>
            </a:br>
            <a:r>
              <a:rPr lang="en-US" sz="2400" dirty="0"/>
              <a:t>matrices</a:t>
            </a:r>
            <a:endParaRPr lang="nl-BE" sz="2400" dirty="0"/>
          </a:p>
        </p:txBody>
      </p:sp>
      <p:sp>
        <p:nvSpPr>
          <p:cNvPr id="13" name="TextBox 12"/>
          <p:cNvSpPr txBox="1"/>
          <p:nvPr/>
        </p:nvSpPr>
        <p:spPr>
          <a:xfrm>
            <a:off x="609600" y="5682338"/>
            <a:ext cx="1938672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 err="1"/>
              <a:t>numpy</a:t>
            </a:r>
            <a:r>
              <a:rPr lang="en-US" sz="2400" dirty="0"/>
              <a:t> on top</a:t>
            </a:r>
            <a:br>
              <a:rPr lang="en-US" sz="2400" dirty="0"/>
            </a:br>
            <a:r>
              <a:rPr lang="en-US" sz="2400" dirty="0"/>
              <a:t>of Intel MKL</a:t>
            </a:r>
            <a:endParaRPr lang="nl-BE" sz="24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384025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Scaling </a:t>
            </a:r>
            <a:r>
              <a:rPr lang="en-US" dirty="0" err="1"/>
              <a:t>sp.linalg.svd</a:t>
            </a:r>
            <a:endParaRPr lang="nl-BE" dirty="0"/>
          </a:p>
        </p:txBody>
      </p:sp>
      <p:sp>
        <p:nvSpPr>
          <p:cNvPr id="3" name="TextBox 2"/>
          <p:cNvSpPr txBox="1"/>
          <p:nvPr/>
        </p:nvSpPr>
        <p:spPr>
          <a:xfrm>
            <a:off x="5346897" y="1981200"/>
            <a:ext cx="3492303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scaling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sp.linalg.svd</a:t>
            </a:r>
            <a:br>
              <a:rPr lang="en-US" sz="2400" dirty="0"/>
            </a:br>
            <a:r>
              <a:rPr lang="en-US" sz="2400" dirty="0"/>
              <a:t>on 8000 </a:t>
            </a:r>
            <a:r>
              <a:rPr lang="en-US" sz="2400" dirty="0">
                <a:sym typeface="Symbol"/>
              </a:rPr>
              <a:t></a:t>
            </a:r>
            <a:r>
              <a:rPr lang="en-US" sz="2400" dirty="0"/>
              <a:t> 8000 matrix</a:t>
            </a:r>
            <a:endParaRPr lang="nl-BE" sz="2400" dirty="0"/>
          </a:p>
        </p:txBody>
      </p:sp>
      <p:grpSp>
        <p:nvGrpSpPr>
          <p:cNvPr id="11" name="Group 10"/>
          <p:cNvGrpSpPr/>
          <p:nvPr/>
        </p:nvGrpSpPr>
        <p:grpSpPr>
          <a:xfrm>
            <a:off x="87868" y="1440597"/>
            <a:ext cx="4941332" cy="3043535"/>
            <a:chOff x="76201" y="1440597"/>
            <a:chExt cx="4941332" cy="3043535"/>
          </a:xfrm>
        </p:grpSpPr>
        <p:graphicFrame>
          <p:nvGraphicFramePr>
            <p:cNvPr id="4" name="Chart 3"/>
            <p:cNvGraphicFramePr>
              <a:graphicFrameLocks/>
            </p:cNvGraphicFramePr>
            <p:nvPr/>
          </p:nvGraphicFramePr>
          <p:xfrm>
            <a:off x="445533" y="1440597"/>
            <a:ext cx="4572000" cy="2743200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sp>
          <p:nvSpPr>
            <p:cNvPr id="5" name="TextBox 4"/>
            <p:cNvSpPr txBox="1"/>
            <p:nvPr/>
          </p:nvSpPr>
          <p:spPr>
            <a:xfrm>
              <a:off x="2439525" y="4114800"/>
              <a:ext cx="68467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cores</a:t>
              </a:r>
              <a:endParaRPr lang="nl-BE" dirty="0"/>
            </a:p>
          </p:txBody>
        </p:sp>
        <p:sp>
          <p:nvSpPr>
            <p:cNvPr id="6" name="TextBox 5"/>
            <p:cNvSpPr txBox="1"/>
            <p:nvPr/>
          </p:nvSpPr>
          <p:spPr>
            <a:xfrm rot="16200000">
              <a:off x="-235423" y="2597624"/>
              <a:ext cx="9925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speedup</a:t>
              </a:r>
              <a:endParaRPr lang="nl-BE" dirty="0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4050269" y="3581400"/>
            <a:ext cx="4941331" cy="3048000"/>
            <a:chOff x="4050269" y="3581400"/>
            <a:chExt cx="4941331" cy="3048000"/>
          </a:xfrm>
        </p:grpSpPr>
        <p:graphicFrame>
          <p:nvGraphicFramePr>
            <p:cNvPr id="7" name="Chart 6"/>
            <p:cNvGraphicFramePr>
              <a:graphicFrameLocks/>
            </p:cNvGraphicFramePr>
            <p:nvPr/>
          </p:nvGraphicFramePr>
          <p:xfrm>
            <a:off x="4419600" y="3581400"/>
            <a:ext cx="4572000" cy="2743200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  <p:sp>
          <p:nvSpPr>
            <p:cNvPr id="8" name="TextBox 7"/>
            <p:cNvSpPr txBox="1"/>
            <p:nvPr/>
          </p:nvSpPr>
          <p:spPr>
            <a:xfrm>
              <a:off x="6553200" y="6260068"/>
              <a:ext cx="68467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cores</a:t>
              </a:r>
              <a:endParaRPr lang="nl-BE" dirty="0"/>
            </a:p>
          </p:txBody>
        </p:sp>
        <p:sp>
          <p:nvSpPr>
            <p:cNvPr id="9" name="TextBox 8"/>
            <p:cNvSpPr txBox="1"/>
            <p:nvPr/>
          </p:nvSpPr>
          <p:spPr>
            <a:xfrm rot="16200000">
              <a:off x="3695107" y="4957844"/>
              <a:ext cx="107965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efficiency</a:t>
              </a:r>
              <a:endParaRPr lang="nl-BE" dirty="0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609600" y="5682338"/>
            <a:ext cx="1690206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 err="1"/>
              <a:t>scipy</a:t>
            </a:r>
            <a:r>
              <a:rPr lang="en-US" sz="2400" dirty="0"/>
              <a:t> on top</a:t>
            </a:r>
          </a:p>
          <a:p>
            <a:r>
              <a:rPr lang="en-US" sz="2400" dirty="0"/>
              <a:t>of </a:t>
            </a:r>
            <a:r>
              <a:rPr lang="en-US" sz="2400" dirty="0" err="1"/>
              <a:t>numpy</a:t>
            </a:r>
            <a:endParaRPr lang="nl-BE" sz="2400" dirty="0"/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5625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multiprocessing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1732503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Count nucleotides in DNA sequence:</a:t>
            </a:r>
            <a:br>
              <a:rPr lang="en-US" dirty="0"/>
            </a:br>
            <a:r>
              <a:rPr lang="en-US" dirty="0"/>
              <a:t>how many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620769" y="3429000"/>
            <a:ext cx="2941831" cy="120032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AGTCATCCAAGTGGTGATAT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TATTGCCGGCGAGTAACTAT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CGATCTTAGACATCTGTATT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AAGAGAAGTTACTAGCGGGA</a:t>
            </a:r>
          </a:p>
        </p:txBody>
      </p:sp>
      <p:grpSp>
        <p:nvGrpSpPr>
          <p:cNvPr id="23" name="Group 22"/>
          <p:cNvGrpSpPr/>
          <p:nvPr/>
        </p:nvGrpSpPr>
        <p:grpSpPr>
          <a:xfrm>
            <a:off x="990600" y="2667000"/>
            <a:ext cx="1871930" cy="2667000"/>
            <a:chOff x="990600" y="2667000"/>
            <a:chExt cx="1871930" cy="2667000"/>
          </a:xfrm>
        </p:grpSpPr>
        <p:grpSp>
          <p:nvGrpSpPr>
            <p:cNvPr id="9" name="Group 8"/>
            <p:cNvGrpSpPr/>
            <p:nvPr/>
          </p:nvGrpSpPr>
          <p:grpSpPr>
            <a:xfrm>
              <a:off x="1524000" y="2667000"/>
              <a:ext cx="1338530" cy="1066800"/>
              <a:chOff x="1524000" y="2667000"/>
              <a:chExt cx="1338530" cy="1066800"/>
            </a:xfrm>
          </p:grpSpPr>
          <p:sp>
            <p:nvSpPr>
              <p:cNvPr id="5" name="TextBox 4"/>
              <p:cNvSpPr txBox="1"/>
              <p:nvPr/>
            </p:nvSpPr>
            <p:spPr>
              <a:xfrm>
                <a:off x="1524000" y="2667000"/>
                <a:ext cx="1064202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Process 0</a:t>
                </a:r>
                <a:endParaRPr lang="nl-BE" dirty="0"/>
              </a:p>
            </p:txBody>
          </p:sp>
          <p:sp>
            <p:nvSpPr>
              <p:cNvPr id="6" name="Rectangle 5"/>
              <p:cNvSpPr/>
              <p:nvPr/>
            </p:nvSpPr>
            <p:spPr>
              <a:xfrm>
                <a:off x="2710130" y="3429000"/>
                <a:ext cx="152400" cy="3048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cxnSp>
            <p:nvCxnSpPr>
              <p:cNvPr id="8" name="Straight Arrow Connector 7"/>
              <p:cNvCxnSpPr>
                <a:stCxn id="5" idx="2"/>
                <a:endCxn id="6" idx="1"/>
              </p:cNvCxnSpPr>
              <p:nvPr/>
            </p:nvCxnSpPr>
            <p:spPr>
              <a:xfrm>
                <a:off x="2056101" y="3036332"/>
                <a:ext cx="654029" cy="545068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dash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" name="Group 9"/>
            <p:cNvGrpSpPr/>
            <p:nvPr/>
          </p:nvGrpSpPr>
          <p:grpSpPr>
            <a:xfrm>
              <a:off x="990600" y="3212068"/>
              <a:ext cx="1871930" cy="826532"/>
              <a:chOff x="990600" y="2907268"/>
              <a:chExt cx="1871930" cy="826532"/>
            </a:xfrm>
          </p:grpSpPr>
          <p:sp>
            <p:nvSpPr>
              <p:cNvPr id="11" name="TextBox 10"/>
              <p:cNvSpPr txBox="1"/>
              <p:nvPr/>
            </p:nvSpPr>
            <p:spPr>
              <a:xfrm>
                <a:off x="990600" y="2907268"/>
                <a:ext cx="1064202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70C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0070C0"/>
                    </a:solidFill>
                  </a:rPr>
                  <a:t>Process 1</a:t>
                </a:r>
                <a:endParaRPr lang="nl-BE" dirty="0">
                  <a:solidFill>
                    <a:srgbClr val="0070C0"/>
                  </a:solidFill>
                </a:endParaRPr>
              </a:p>
            </p:txBody>
          </p:sp>
          <p:sp>
            <p:nvSpPr>
              <p:cNvPr id="12" name="Rectangle 11"/>
              <p:cNvSpPr/>
              <p:nvPr/>
            </p:nvSpPr>
            <p:spPr>
              <a:xfrm>
                <a:off x="2710130" y="3429000"/>
                <a:ext cx="152400" cy="304800"/>
              </a:xfrm>
              <a:prstGeom prst="rect">
                <a:avLst/>
              </a:prstGeom>
              <a:noFill/>
              <a:ln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cxnSp>
            <p:nvCxnSpPr>
              <p:cNvPr id="13" name="Straight Arrow Connector 12"/>
              <p:cNvCxnSpPr>
                <a:stCxn id="11" idx="2"/>
                <a:endCxn id="12" idx="1"/>
              </p:cNvCxnSpPr>
              <p:nvPr/>
            </p:nvCxnSpPr>
            <p:spPr>
              <a:xfrm>
                <a:off x="1522701" y="3276600"/>
                <a:ext cx="1187429" cy="304800"/>
              </a:xfrm>
              <a:prstGeom prst="straightConnector1">
                <a:avLst/>
              </a:prstGeom>
              <a:ln w="19050">
                <a:solidFill>
                  <a:srgbClr val="0070C0"/>
                </a:solidFill>
                <a:prstDash val="dash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4" name="Group 13"/>
            <p:cNvGrpSpPr/>
            <p:nvPr/>
          </p:nvGrpSpPr>
          <p:grpSpPr>
            <a:xfrm>
              <a:off x="990600" y="4038600"/>
              <a:ext cx="1871930" cy="705920"/>
              <a:chOff x="990600" y="3429000"/>
              <a:chExt cx="1871930" cy="705920"/>
            </a:xfrm>
          </p:grpSpPr>
          <p:sp>
            <p:nvSpPr>
              <p:cNvPr id="15" name="TextBox 14"/>
              <p:cNvSpPr txBox="1"/>
              <p:nvPr/>
            </p:nvSpPr>
            <p:spPr>
              <a:xfrm>
                <a:off x="990600" y="3765588"/>
                <a:ext cx="1064202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Process 2</a:t>
                </a:r>
                <a:endParaRPr lang="nl-BE" dirty="0">
                  <a:solidFill>
                    <a:srgbClr val="C00000"/>
                  </a:solidFill>
                </a:endParaRPr>
              </a:p>
            </p:txBody>
          </p:sp>
          <p:sp>
            <p:nvSpPr>
              <p:cNvPr id="16" name="Rectangle 15"/>
              <p:cNvSpPr/>
              <p:nvPr/>
            </p:nvSpPr>
            <p:spPr>
              <a:xfrm>
                <a:off x="2710130" y="3429000"/>
                <a:ext cx="152400" cy="304800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cxnSp>
            <p:nvCxnSpPr>
              <p:cNvPr id="17" name="Straight Arrow Connector 16"/>
              <p:cNvCxnSpPr>
                <a:stCxn id="15" idx="0"/>
                <a:endCxn id="16" idx="1"/>
              </p:cNvCxnSpPr>
              <p:nvPr/>
            </p:nvCxnSpPr>
            <p:spPr>
              <a:xfrm flipV="1">
                <a:off x="1522701" y="3581400"/>
                <a:ext cx="1187429" cy="184188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prstDash val="dash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/>
            <p:cNvGrpSpPr/>
            <p:nvPr/>
          </p:nvGrpSpPr>
          <p:grpSpPr>
            <a:xfrm>
              <a:off x="1450398" y="4343400"/>
              <a:ext cx="1412132" cy="990600"/>
              <a:chOff x="1450398" y="3429000"/>
              <a:chExt cx="1412132" cy="990600"/>
            </a:xfrm>
          </p:grpSpPr>
          <p:sp>
            <p:nvSpPr>
              <p:cNvPr id="20" name="TextBox 19"/>
              <p:cNvSpPr txBox="1"/>
              <p:nvPr/>
            </p:nvSpPr>
            <p:spPr>
              <a:xfrm>
                <a:off x="1450398" y="4050268"/>
                <a:ext cx="1064202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B05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00B050"/>
                    </a:solidFill>
                  </a:rPr>
                  <a:t>Process 3</a:t>
                </a:r>
                <a:endParaRPr lang="nl-BE" dirty="0">
                  <a:solidFill>
                    <a:srgbClr val="00B050"/>
                  </a:solidFill>
                </a:endParaRPr>
              </a:p>
            </p:txBody>
          </p:sp>
          <p:sp>
            <p:nvSpPr>
              <p:cNvPr id="21" name="Rectangle 20"/>
              <p:cNvSpPr/>
              <p:nvPr/>
            </p:nvSpPr>
            <p:spPr>
              <a:xfrm>
                <a:off x="2710130" y="3429000"/>
                <a:ext cx="152400" cy="304800"/>
              </a:xfrm>
              <a:prstGeom prst="rect">
                <a:avLst/>
              </a:prstGeom>
              <a:noFill/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cxnSp>
            <p:nvCxnSpPr>
              <p:cNvPr id="22" name="Straight Arrow Connector 21"/>
              <p:cNvCxnSpPr>
                <a:stCxn id="20" idx="0"/>
                <a:endCxn id="21" idx="1"/>
              </p:cNvCxnSpPr>
              <p:nvPr/>
            </p:nvCxnSpPr>
            <p:spPr>
              <a:xfrm flipV="1">
                <a:off x="1982499" y="3581400"/>
                <a:ext cx="727631" cy="468868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prstDash val="dash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6" name="Group 25"/>
          <p:cNvGrpSpPr/>
          <p:nvPr/>
        </p:nvGrpSpPr>
        <p:grpSpPr>
          <a:xfrm>
            <a:off x="6127990" y="3657600"/>
            <a:ext cx="1111010" cy="1131332"/>
            <a:chOff x="6127990" y="3657600"/>
            <a:chExt cx="1111010" cy="1131332"/>
          </a:xfrm>
        </p:grpSpPr>
        <p:sp>
          <p:nvSpPr>
            <p:cNvPr id="24" name="Flowchart: Or 23"/>
            <p:cNvSpPr/>
            <p:nvPr/>
          </p:nvSpPr>
          <p:spPr>
            <a:xfrm>
              <a:off x="6324600" y="3657600"/>
              <a:ext cx="685800" cy="685800"/>
            </a:xfrm>
            <a:prstGeom prst="flowChartOr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6127990" y="4419600"/>
              <a:ext cx="11110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aggregate</a:t>
              </a:r>
              <a:endParaRPr lang="nl-BE" dirty="0"/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756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7778E-7 -3.33333E-6 L 0.28108 -3.33333E-6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045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 a chunk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Given: file name, start position, chunk size</a:t>
            </a:r>
          </a:p>
          <a:p>
            <a:r>
              <a:rPr lang="en-US" dirty="0"/>
              <a:t>Return: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en-US" dirty="0"/>
              <a:t> of counts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143000" y="3005078"/>
            <a:ext cx="6526146" cy="286232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count_chunk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file_name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file_pos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chunk_size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counter = {'A': 0, 'C': 0, 'G': 0,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'T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': 0}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open(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file_name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'r') as file: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file.seek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file_pos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file.read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chunk_size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in counter: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counter[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] += 1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counter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4038600" y="2362200"/>
            <a:ext cx="3198600" cy="642878"/>
            <a:chOff x="4038600" y="2362200"/>
            <a:chExt cx="3198600" cy="642878"/>
          </a:xfrm>
        </p:grpSpPr>
        <p:sp>
          <p:nvSpPr>
            <p:cNvPr id="5" name="TextBox 4"/>
            <p:cNvSpPr txBox="1"/>
            <p:nvPr/>
          </p:nvSpPr>
          <p:spPr>
            <a:xfrm>
              <a:off x="5486400" y="2362200"/>
              <a:ext cx="1750800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tuple</a:t>
              </a:r>
              <a:r>
                <a:rPr lang="en-US" dirty="0"/>
                <a:t> as input!</a:t>
              </a:r>
              <a:endParaRPr lang="nl-BE" dirty="0"/>
            </a:p>
          </p:txBody>
        </p:sp>
        <p:cxnSp>
          <p:nvCxnSpPr>
            <p:cNvPr id="7" name="Straight Arrow Connector 6"/>
            <p:cNvCxnSpPr/>
            <p:nvPr/>
          </p:nvCxnSpPr>
          <p:spPr>
            <a:xfrm flipH="1">
              <a:off x="4038600" y="2590800"/>
              <a:ext cx="1447800" cy="414278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0675807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Throw'em</a:t>
            </a:r>
            <a:r>
              <a:rPr lang="en-US" dirty="0"/>
              <a:t> in the pool!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641796" y="2021681"/>
            <a:ext cx="7215437" cy="369331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count_nucl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file_name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pool_size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os.path.getsize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file_name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chunk_size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pool_size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+ 1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offsets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range(0,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chunk_size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[(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file_name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offset,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chunk_size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offset in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offsets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multiprocessing.Pool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pool_size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 as pool: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counters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pool.map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count_chunk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counter = {'A': 0, 'C': 0, 'G': 0,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'T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': 0}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part_counter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in counters: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nucl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part_counter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counter[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nucl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] +=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part_counter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nucl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counter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154600" y="1981200"/>
            <a:ext cx="2055200" cy="1250374"/>
            <a:chOff x="5793400" y="2133600"/>
            <a:chExt cx="2055200" cy="1250374"/>
          </a:xfrm>
        </p:grpSpPr>
        <p:sp>
          <p:nvSpPr>
            <p:cNvPr id="6" name="TextBox 5"/>
            <p:cNvSpPr txBox="1"/>
            <p:nvPr/>
          </p:nvSpPr>
          <p:spPr>
            <a:xfrm>
              <a:off x="5793400" y="2133600"/>
              <a:ext cx="1293200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tuple</a:t>
              </a:r>
              <a:r>
                <a:rPr lang="en-US" dirty="0"/>
                <a:t>s as</a:t>
              </a:r>
              <a:br>
                <a:rPr lang="en-US" dirty="0"/>
              </a:br>
              <a:r>
                <a:rPr lang="en-US" dirty="0"/>
                <a:t>input</a:t>
              </a:r>
              <a:endParaRPr lang="nl-BE" dirty="0"/>
            </a:p>
          </p:txBody>
        </p:sp>
        <p:cxnSp>
          <p:nvCxnSpPr>
            <p:cNvPr id="7" name="Straight Arrow Connector 6"/>
            <p:cNvCxnSpPr>
              <a:stCxn id="6" idx="3"/>
            </p:cNvCxnSpPr>
            <p:nvPr/>
          </p:nvCxnSpPr>
          <p:spPr>
            <a:xfrm>
              <a:off x="7086600" y="2456766"/>
              <a:ext cx="762000" cy="927208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152400" y="2819400"/>
            <a:ext cx="2819400" cy="990600"/>
            <a:chOff x="5791200" y="2362200"/>
            <a:chExt cx="2819400" cy="990600"/>
          </a:xfrm>
        </p:grpSpPr>
        <p:sp>
          <p:nvSpPr>
            <p:cNvPr id="12" name="TextBox 11"/>
            <p:cNvSpPr txBox="1"/>
            <p:nvPr/>
          </p:nvSpPr>
          <p:spPr>
            <a:xfrm>
              <a:off x="5791200" y="2362200"/>
              <a:ext cx="1295400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pool of</a:t>
              </a:r>
              <a:br>
                <a:rPr lang="en-US" dirty="0"/>
              </a:br>
              <a:r>
                <a:rPr lang="en-US" dirty="0"/>
                <a:t>processes</a:t>
              </a:r>
              <a:endParaRPr lang="nl-BE" dirty="0"/>
            </a:p>
          </p:txBody>
        </p:sp>
        <p:cxnSp>
          <p:nvCxnSpPr>
            <p:cNvPr id="13" name="Straight Arrow Connector 12"/>
            <p:cNvCxnSpPr>
              <a:stCxn id="12" idx="3"/>
            </p:cNvCxnSpPr>
            <p:nvPr/>
          </p:nvCxnSpPr>
          <p:spPr>
            <a:xfrm>
              <a:off x="7086600" y="2685366"/>
              <a:ext cx="1524000" cy="667434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177390" y="3594910"/>
            <a:ext cx="2032409" cy="646332"/>
            <a:chOff x="5802115" y="2751823"/>
            <a:chExt cx="2205368" cy="621371"/>
          </a:xfrm>
        </p:grpSpPr>
        <p:sp>
          <p:nvSpPr>
            <p:cNvPr id="15" name="TextBox 14"/>
            <p:cNvSpPr txBox="1"/>
            <p:nvPr/>
          </p:nvSpPr>
          <p:spPr>
            <a:xfrm>
              <a:off x="5802115" y="2751823"/>
              <a:ext cx="1378523" cy="62137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concurrent</a:t>
              </a:r>
              <a:br>
                <a:rPr lang="en-US" dirty="0"/>
              </a:br>
              <a:r>
                <a:rPr lang="en-US" dirty="0"/>
                <a:t>processing</a:t>
              </a:r>
              <a:endParaRPr lang="nl-BE" dirty="0"/>
            </a:p>
          </p:txBody>
        </p:sp>
        <p:cxnSp>
          <p:nvCxnSpPr>
            <p:cNvPr id="16" name="Straight Arrow Connector 15"/>
            <p:cNvCxnSpPr>
              <a:stCxn id="15" idx="3"/>
            </p:cNvCxnSpPr>
            <p:nvPr/>
          </p:nvCxnSpPr>
          <p:spPr>
            <a:xfrm>
              <a:off x="7180638" y="3062509"/>
              <a:ext cx="826845" cy="18912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/>
          <p:cNvGrpSpPr/>
          <p:nvPr/>
        </p:nvGrpSpPr>
        <p:grpSpPr>
          <a:xfrm>
            <a:off x="152400" y="4325034"/>
            <a:ext cx="2060274" cy="1085165"/>
            <a:chOff x="457200" y="4325034"/>
            <a:chExt cx="2060274" cy="1085165"/>
          </a:xfrm>
        </p:grpSpPr>
        <p:grpSp>
          <p:nvGrpSpPr>
            <p:cNvPr id="19" name="Group 18"/>
            <p:cNvGrpSpPr/>
            <p:nvPr/>
          </p:nvGrpSpPr>
          <p:grpSpPr>
            <a:xfrm>
              <a:off x="457200" y="4546123"/>
              <a:ext cx="1828800" cy="646331"/>
              <a:chOff x="5733524" y="2594677"/>
              <a:chExt cx="1984432" cy="888963"/>
            </a:xfrm>
          </p:grpSpPr>
          <p:sp>
            <p:nvSpPr>
              <p:cNvPr id="20" name="TextBox 19"/>
              <p:cNvSpPr txBox="1"/>
              <p:nvPr/>
            </p:nvSpPr>
            <p:spPr>
              <a:xfrm>
                <a:off x="5733524" y="2594677"/>
                <a:ext cx="1405638" cy="88896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aggregating</a:t>
                </a:r>
                <a:br>
                  <a:rPr lang="en-US" dirty="0"/>
                </a:br>
                <a:r>
                  <a:rPr lang="en-US" dirty="0"/>
                  <a:t>results</a:t>
                </a:r>
                <a:endParaRPr lang="nl-BE" dirty="0"/>
              </a:p>
            </p:txBody>
          </p:sp>
          <p:cxnSp>
            <p:nvCxnSpPr>
              <p:cNvPr id="21" name="Straight Arrow Connector 20"/>
              <p:cNvCxnSpPr>
                <a:stCxn id="20" idx="3"/>
                <a:endCxn id="40" idx="1"/>
              </p:cNvCxnSpPr>
              <p:nvPr/>
            </p:nvCxnSpPr>
            <p:spPr>
              <a:xfrm flipV="1">
                <a:off x="7139162" y="3036860"/>
                <a:ext cx="578794" cy="230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0" name="Left Brace 39"/>
            <p:cNvSpPr/>
            <p:nvPr/>
          </p:nvSpPr>
          <p:spPr>
            <a:xfrm>
              <a:off x="2286000" y="4325034"/>
              <a:ext cx="231474" cy="1085165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</p:grpSp>
      <p:grpSp>
        <p:nvGrpSpPr>
          <p:cNvPr id="44" name="Group 43"/>
          <p:cNvGrpSpPr/>
          <p:nvPr/>
        </p:nvGrpSpPr>
        <p:grpSpPr>
          <a:xfrm>
            <a:off x="7086600" y="1840468"/>
            <a:ext cx="1752600" cy="1893332"/>
            <a:chOff x="5371108" y="2635746"/>
            <a:chExt cx="1752600" cy="1893332"/>
          </a:xfrm>
        </p:grpSpPr>
        <p:sp>
          <p:nvSpPr>
            <p:cNvPr id="45" name="TextBox 44"/>
            <p:cNvSpPr txBox="1"/>
            <p:nvPr/>
          </p:nvSpPr>
          <p:spPr>
            <a:xfrm>
              <a:off x="5486400" y="2635746"/>
              <a:ext cx="163730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cs typeface="Courier New" panose="02070309020205020404" pitchFamily="49" charset="0"/>
                </a:rPr>
                <a:t>nr</a:t>
              </a:r>
              <a:r>
                <a:rPr lang="en-US" dirty="0">
                  <a:cs typeface="Courier New" panose="02070309020205020404" pitchFamily="49" charset="0"/>
                </a:rPr>
                <a:t>. of processes</a:t>
              </a:r>
              <a:endParaRPr lang="nl-BE" dirty="0"/>
            </a:p>
          </p:txBody>
        </p:sp>
        <p:cxnSp>
          <p:nvCxnSpPr>
            <p:cNvPr id="46" name="Straight Arrow Connector 45"/>
            <p:cNvCxnSpPr>
              <a:stCxn id="45" idx="2"/>
            </p:cNvCxnSpPr>
            <p:nvPr/>
          </p:nvCxnSpPr>
          <p:spPr>
            <a:xfrm flipH="1">
              <a:off x="5371108" y="3005078"/>
              <a:ext cx="933946" cy="152400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16584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Scaling</a:t>
            </a:r>
            <a:endParaRPr lang="nl-BE" dirty="0"/>
          </a:p>
        </p:txBody>
      </p:sp>
      <p:graphicFrame>
        <p:nvGraphicFramePr>
          <p:cNvPr id="3" name="Chart 2"/>
          <p:cNvGraphicFramePr>
            <a:graphicFrameLocks/>
          </p:cNvGraphicFramePr>
          <p:nvPr/>
        </p:nvGraphicFramePr>
        <p:xfrm>
          <a:off x="2286000" y="2057400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419600" y="4736068"/>
            <a:ext cx="6846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cores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 rot="16200000">
            <a:off x="1605044" y="3207224"/>
            <a:ext cx="99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speedup</a:t>
            </a:r>
            <a:endParaRPr lang="nl-BE" dirty="0"/>
          </a:p>
        </p:txBody>
      </p:sp>
      <p:grpSp>
        <p:nvGrpSpPr>
          <p:cNvPr id="11" name="Group 10"/>
          <p:cNvGrpSpPr/>
          <p:nvPr/>
        </p:nvGrpSpPr>
        <p:grpSpPr>
          <a:xfrm>
            <a:off x="228600" y="2057400"/>
            <a:ext cx="2429774" cy="609600"/>
            <a:chOff x="228600" y="2057400"/>
            <a:chExt cx="2429774" cy="609600"/>
          </a:xfrm>
        </p:grpSpPr>
        <p:sp>
          <p:nvSpPr>
            <p:cNvPr id="6" name="Oval 5"/>
            <p:cNvSpPr/>
            <p:nvPr/>
          </p:nvSpPr>
          <p:spPr>
            <a:xfrm>
              <a:off x="2582174" y="2590800"/>
              <a:ext cx="76200" cy="76200"/>
            </a:xfrm>
            <a:prstGeom prst="ellipse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8" name="Straight Arrow Connector 7"/>
            <p:cNvCxnSpPr>
              <a:stCxn id="9" idx="3"/>
            </p:cNvCxnSpPr>
            <p:nvPr/>
          </p:nvCxnSpPr>
          <p:spPr>
            <a:xfrm>
              <a:off x="1627509" y="2242066"/>
              <a:ext cx="954665" cy="348734"/>
            </a:xfrm>
            <a:prstGeom prst="straightConnector1">
              <a:avLst/>
            </a:prstGeom>
            <a:ln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/>
            <p:cNvSpPr txBox="1"/>
            <p:nvPr/>
          </p:nvSpPr>
          <p:spPr>
            <a:xfrm>
              <a:off x="228600" y="2057400"/>
              <a:ext cx="1398909" cy="369332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C application</a:t>
              </a:r>
              <a:endParaRPr lang="nl-BE" dirty="0">
                <a:solidFill>
                  <a:srgbClr val="C00000"/>
                </a:solidFill>
              </a:endParaRPr>
            </a:p>
          </p:txBody>
        </p:sp>
      </p:grpSp>
      <p:grpSp>
        <p:nvGrpSpPr>
          <p:cNvPr id="16" name="Group 15"/>
          <p:cNvGrpSpPr/>
          <p:nvPr/>
        </p:nvGrpSpPr>
        <p:grpSpPr>
          <a:xfrm>
            <a:off x="5867400" y="2038709"/>
            <a:ext cx="2966975" cy="552091"/>
            <a:chOff x="5867400" y="2038709"/>
            <a:chExt cx="2966975" cy="552091"/>
          </a:xfrm>
        </p:grpSpPr>
        <p:sp>
          <p:nvSpPr>
            <p:cNvPr id="12" name="TextBox 11"/>
            <p:cNvSpPr txBox="1"/>
            <p:nvPr/>
          </p:nvSpPr>
          <p:spPr>
            <a:xfrm>
              <a:off x="7264715" y="2038709"/>
              <a:ext cx="1569660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10</a:t>
              </a:r>
              <a:r>
                <a:rPr lang="en-US" baseline="30000" dirty="0"/>
                <a:t>9</a:t>
              </a:r>
              <a:r>
                <a:rPr lang="en-US" dirty="0"/>
                <a:t> bases: 21 s</a:t>
              </a:r>
              <a:endParaRPr lang="nl-BE" dirty="0"/>
            </a:p>
          </p:txBody>
        </p:sp>
        <p:cxnSp>
          <p:nvCxnSpPr>
            <p:cNvPr id="13" name="Straight Arrow Connector 12"/>
            <p:cNvCxnSpPr>
              <a:stCxn id="12" idx="1"/>
            </p:cNvCxnSpPr>
            <p:nvPr/>
          </p:nvCxnSpPr>
          <p:spPr>
            <a:xfrm flipH="1">
              <a:off x="5867400" y="2223375"/>
              <a:ext cx="1397315" cy="36742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865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Pool methods</a:t>
            </a:r>
            <a:endParaRPr lang="nl-BE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apply</a:t>
            </a:r>
            <a:r>
              <a:rPr lang="en-US" dirty="0"/>
              <a:t>: call function with single argument, blocking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apply_async</a:t>
            </a:r>
            <a:r>
              <a:rPr lang="en-US" dirty="0"/>
              <a:t>: call function with single argument, non-blocking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map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imap</a:t>
            </a:r>
            <a:r>
              <a:rPr lang="en-US" dirty="0"/>
              <a:t>: call function on each of </a:t>
            </a:r>
            <a:r>
              <a:rPr lang="en-US" dirty="0" err="1"/>
              <a:t>iterable</a:t>
            </a:r>
            <a:r>
              <a:rPr lang="en-US" dirty="0"/>
              <a:t>, blocking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map_async</a:t>
            </a:r>
            <a:r>
              <a:rPr lang="en-US" dirty="0"/>
              <a:t>: call function on each of </a:t>
            </a:r>
            <a:r>
              <a:rPr lang="en-US" dirty="0" err="1"/>
              <a:t>iterable</a:t>
            </a:r>
            <a:r>
              <a:rPr lang="en-US" dirty="0"/>
              <a:t>, non-blocking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starmap</a:t>
            </a:r>
            <a:r>
              <a:rPr lang="en-US" dirty="0"/>
              <a:t>: call function on each of </a:t>
            </a:r>
            <a:r>
              <a:rPr lang="en-US" dirty="0" err="1"/>
              <a:t>iterable</a:t>
            </a:r>
            <a:r>
              <a:rPr lang="en-US" dirty="0"/>
              <a:t>, itself </a:t>
            </a:r>
            <a:r>
              <a:rPr lang="en-US" dirty="0" err="1"/>
              <a:t>iterables</a:t>
            </a:r>
            <a:r>
              <a:rPr lang="en-US" dirty="0"/>
              <a:t> and unpacked as arguments, blocking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starmap_async</a:t>
            </a:r>
            <a:r>
              <a:rPr lang="en-US" dirty="0"/>
              <a:t>: call function on each of </a:t>
            </a:r>
            <a:r>
              <a:rPr lang="en-US" dirty="0" err="1"/>
              <a:t>iterable</a:t>
            </a:r>
            <a:r>
              <a:rPr lang="en-US" dirty="0"/>
              <a:t>, itself </a:t>
            </a:r>
            <a:r>
              <a:rPr lang="en-US" dirty="0" err="1"/>
              <a:t>iterables</a:t>
            </a:r>
            <a:r>
              <a:rPr lang="en-US" dirty="0"/>
              <a:t> and unpacked as arguments, non-blocking</a:t>
            </a:r>
            <a:endParaRPr lang="nl-BE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934572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Asynchronous methods return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AsyncResult</a:t>
            </a:r>
            <a:r>
              <a:rPr lang="en-US" dirty="0"/>
              <a:t> objects with methods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wait(): </a:t>
            </a:r>
            <a:r>
              <a:rPr lang="en-US" dirty="0"/>
              <a:t>blocks till result is ready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get()</a:t>
            </a:r>
            <a:r>
              <a:rPr lang="en-US" dirty="0"/>
              <a:t>: blocks till result is ready, then returns it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ready()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/>
              <a:t> when result is ready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successful()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/>
              <a:t> when no exceptions where raised, only call when ready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172125" y="3581400"/>
            <a:ext cx="505747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Both take optional time out value</a:t>
            </a:r>
            <a:endParaRPr lang="nl-BE" sz="28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3216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4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Shared memory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Explicitly work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Process</a:t>
            </a:r>
          </a:p>
          <a:p>
            <a:r>
              <a:rPr lang="en-US" dirty="0"/>
              <a:t>Processes can share</a:t>
            </a:r>
          </a:p>
          <a:p>
            <a:pPr lvl="1"/>
            <a:r>
              <a:rPr lang="en-US" dirty="0"/>
              <a:t>Single value: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multiprocessing.Value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Array: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multiprocessing.Array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/>
              <a:t>Syncronized</a:t>
            </a:r>
            <a:r>
              <a:rPr lang="en-US" dirty="0"/>
              <a:t> FIFO queue: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multiprocessing.Queue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Shared variables should be locked for non-atomic update operations</a:t>
            </a:r>
            <a:endParaRPr lang="nl-BE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0616746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Computing a part of </a:t>
            </a:r>
            <a:r>
              <a:rPr lang="en-US" dirty="0">
                <a:sym typeface="Symbol" panose="05050102010706020507" pitchFamily="18" charset="2"/>
              </a:rPr>
              <a:t></a:t>
            </a:r>
            <a:endParaRPr lang="nl-BE" dirty="0"/>
          </a:p>
        </p:txBody>
      </p:sp>
      <p:sp>
        <p:nvSpPr>
          <p:cNvPr id="3" name="TextBox 2"/>
          <p:cNvSpPr txBox="1"/>
          <p:nvPr/>
        </p:nvSpPr>
        <p:spPr>
          <a:xfrm>
            <a:off x="914400" y="1981200"/>
            <a:ext cx="6112571" cy="258532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partial_pi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nr_tries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p_sum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nr_hits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0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_ in range(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nr_tries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x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random.random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random.random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x**2 + y**2 &lt; 1.0: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nr_hits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+= 1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p_sum.get_lock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p_sum.value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+= 4.0*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nr_hits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nr_tries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4" name="Group 3"/>
          <p:cNvGrpSpPr/>
          <p:nvPr/>
        </p:nvGrpSpPr>
        <p:grpSpPr>
          <a:xfrm>
            <a:off x="5154546" y="2323445"/>
            <a:ext cx="2916554" cy="369332"/>
            <a:chOff x="4189200" y="2362200"/>
            <a:chExt cx="2916554" cy="369332"/>
          </a:xfrm>
        </p:grpSpPr>
        <p:sp>
          <p:nvSpPr>
            <p:cNvPr id="5" name="TextBox 4"/>
            <p:cNvSpPr txBox="1"/>
            <p:nvPr/>
          </p:nvSpPr>
          <p:spPr>
            <a:xfrm>
              <a:off x="5486400" y="2362200"/>
              <a:ext cx="161935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cs typeface="Courier New" panose="02070309020205020404" pitchFamily="49" charset="0"/>
                </a:rPr>
                <a:t>shared variable</a:t>
              </a:r>
              <a:endParaRPr lang="nl-BE" dirty="0"/>
            </a:p>
          </p:txBody>
        </p:sp>
        <p:cxnSp>
          <p:nvCxnSpPr>
            <p:cNvPr id="6" name="Straight Arrow Connector 5"/>
            <p:cNvCxnSpPr>
              <a:stCxn id="5" idx="1"/>
            </p:cNvCxnSpPr>
            <p:nvPr/>
          </p:nvCxnSpPr>
          <p:spPr>
            <a:xfrm flipH="1" flipV="1">
              <a:off x="4189200" y="2362200"/>
              <a:ext cx="1297200" cy="184666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oup 6"/>
          <p:cNvGrpSpPr/>
          <p:nvPr/>
        </p:nvGrpSpPr>
        <p:grpSpPr>
          <a:xfrm>
            <a:off x="4087746" y="4490324"/>
            <a:ext cx="4485025" cy="1066799"/>
            <a:chOff x="3124200" y="1941732"/>
            <a:chExt cx="4485025" cy="1066799"/>
          </a:xfrm>
        </p:grpSpPr>
        <p:sp>
          <p:nvSpPr>
            <p:cNvPr id="8" name="TextBox 7"/>
            <p:cNvSpPr txBox="1"/>
            <p:nvPr/>
          </p:nvSpPr>
          <p:spPr>
            <a:xfrm>
              <a:off x="5486400" y="2362200"/>
              <a:ext cx="2122825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cs typeface="Courier New" panose="02070309020205020404" pitchFamily="49" charset="0"/>
                </a:rPr>
                <a:t>non-atomic update</a:t>
              </a:r>
              <a:br>
                <a:rPr lang="en-US" dirty="0">
                  <a:cs typeface="Courier New" panose="02070309020205020404" pitchFamily="49" charset="0"/>
                </a:rPr>
              </a:br>
              <a:r>
                <a:rPr lang="en-US" dirty="0">
                  <a:cs typeface="Courier New" panose="02070309020205020404" pitchFamily="49" charset="0"/>
                </a:rPr>
                <a:t>load/store operation</a:t>
              </a:r>
              <a:endParaRPr lang="nl-BE" dirty="0"/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 flipV="1">
              <a:off x="3124200" y="1941732"/>
              <a:ext cx="2362200" cy="743634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4621146" y="3234392"/>
            <a:ext cx="3140569" cy="798731"/>
            <a:chOff x="3657600" y="2362200"/>
            <a:chExt cx="3140569" cy="798731"/>
          </a:xfrm>
        </p:grpSpPr>
        <p:sp>
          <p:nvSpPr>
            <p:cNvPr id="14" name="TextBox 13"/>
            <p:cNvSpPr txBox="1"/>
            <p:nvPr/>
          </p:nvSpPr>
          <p:spPr>
            <a:xfrm>
              <a:off x="5486400" y="2362200"/>
              <a:ext cx="131176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cs typeface="Courier New" panose="02070309020205020404" pitchFamily="49" charset="0"/>
                </a:rPr>
                <a:t>acquire lock</a:t>
              </a:r>
              <a:endParaRPr lang="nl-BE" dirty="0"/>
            </a:p>
          </p:txBody>
        </p:sp>
        <p:cxnSp>
          <p:nvCxnSpPr>
            <p:cNvPr id="15" name="Straight Arrow Connector 14"/>
            <p:cNvCxnSpPr>
              <a:stCxn id="14" idx="1"/>
            </p:cNvCxnSpPr>
            <p:nvPr/>
          </p:nvCxnSpPr>
          <p:spPr>
            <a:xfrm flipH="1">
              <a:off x="3657600" y="2546866"/>
              <a:ext cx="1828800" cy="61406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11341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Computing it all</a:t>
            </a:r>
            <a:endParaRPr lang="nl-BE" dirty="0"/>
          </a:p>
        </p:txBody>
      </p:sp>
      <p:sp>
        <p:nvSpPr>
          <p:cNvPr id="3" name="TextBox 2"/>
          <p:cNvSpPr txBox="1"/>
          <p:nvPr/>
        </p:nvSpPr>
        <p:spPr>
          <a:xfrm>
            <a:off x="1717073" y="2121165"/>
            <a:ext cx="7215437" cy="341632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nr_tries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=10000,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pool_size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=1):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p_tries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nr_tries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pool_size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ctx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multiprocessing.get_context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forkserver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')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p_sum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ctx.Value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('d', 0.0)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processes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[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ctx.Process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(target=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partial_pi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p_tries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p_sum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_ in range(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pool_size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)]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process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processes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process.start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process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processes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process.join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return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p_sum.value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pool_size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4" name="Group 3"/>
          <p:cNvGrpSpPr/>
          <p:nvPr/>
        </p:nvGrpSpPr>
        <p:grpSpPr>
          <a:xfrm>
            <a:off x="169509" y="1435365"/>
            <a:ext cx="2133600" cy="1447800"/>
            <a:chOff x="5714999" y="2133600"/>
            <a:chExt cx="2133600" cy="1447800"/>
          </a:xfrm>
        </p:grpSpPr>
        <p:sp>
          <p:nvSpPr>
            <p:cNvPr id="5" name="TextBox 4"/>
            <p:cNvSpPr txBox="1"/>
            <p:nvPr/>
          </p:nvSpPr>
          <p:spPr>
            <a:xfrm>
              <a:off x="5714999" y="2133600"/>
              <a:ext cx="1547563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cs typeface="Courier New" panose="02070309020205020404" pitchFamily="49" charset="0"/>
                </a:rPr>
                <a:t>create a</a:t>
              </a:r>
              <a:br>
                <a:rPr lang="en-US" dirty="0">
                  <a:cs typeface="Courier New" panose="02070309020205020404" pitchFamily="49" charset="0"/>
                </a:rPr>
              </a:br>
              <a:r>
                <a:rPr lang="en-US" dirty="0">
                  <a:cs typeface="Courier New" panose="02070309020205020404" pitchFamily="49" charset="0"/>
                </a:rPr>
                <a:t>context</a:t>
              </a:r>
              <a:endParaRPr lang="nl-BE" dirty="0"/>
            </a:p>
          </p:txBody>
        </p:sp>
        <p:cxnSp>
          <p:nvCxnSpPr>
            <p:cNvPr id="6" name="Straight Arrow Connector 5"/>
            <p:cNvCxnSpPr>
              <a:stCxn id="5" idx="3"/>
            </p:cNvCxnSpPr>
            <p:nvPr/>
          </p:nvCxnSpPr>
          <p:spPr>
            <a:xfrm>
              <a:off x="7262562" y="2456766"/>
              <a:ext cx="586037" cy="1124634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oup 6"/>
          <p:cNvGrpSpPr/>
          <p:nvPr/>
        </p:nvGrpSpPr>
        <p:grpSpPr>
          <a:xfrm>
            <a:off x="169509" y="2121165"/>
            <a:ext cx="2133601" cy="990600"/>
            <a:chOff x="5714999" y="2362200"/>
            <a:chExt cx="2133601" cy="990600"/>
          </a:xfrm>
        </p:grpSpPr>
        <p:sp>
          <p:nvSpPr>
            <p:cNvPr id="8" name="TextBox 7"/>
            <p:cNvSpPr txBox="1"/>
            <p:nvPr/>
          </p:nvSpPr>
          <p:spPr>
            <a:xfrm>
              <a:off x="5714999" y="2362200"/>
              <a:ext cx="1547563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create shared</a:t>
              </a:r>
              <a:br>
                <a:rPr lang="en-US" dirty="0"/>
              </a:br>
              <a:r>
                <a:rPr lang="en-US" dirty="0"/>
                <a:t>variable</a:t>
              </a:r>
              <a:endParaRPr lang="nl-BE" dirty="0"/>
            </a:p>
          </p:txBody>
        </p:sp>
        <p:cxnSp>
          <p:nvCxnSpPr>
            <p:cNvPr id="9" name="Straight Arrow Connector 8"/>
            <p:cNvCxnSpPr>
              <a:stCxn id="8" idx="3"/>
            </p:cNvCxnSpPr>
            <p:nvPr/>
          </p:nvCxnSpPr>
          <p:spPr>
            <a:xfrm>
              <a:off x="7262562" y="2685366"/>
              <a:ext cx="586038" cy="667434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169508" y="3645165"/>
            <a:ext cx="2032410" cy="646332"/>
            <a:chOff x="5802114" y="2751823"/>
            <a:chExt cx="2205369" cy="621371"/>
          </a:xfrm>
        </p:grpSpPr>
        <p:sp>
          <p:nvSpPr>
            <p:cNvPr id="11" name="TextBox 10"/>
            <p:cNvSpPr txBox="1"/>
            <p:nvPr/>
          </p:nvSpPr>
          <p:spPr>
            <a:xfrm>
              <a:off x="5802114" y="2751823"/>
              <a:ext cx="1679259" cy="62137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start all</a:t>
              </a:r>
              <a:br>
                <a:rPr lang="en-US" dirty="0"/>
              </a:br>
              <a:r>
                <a:rPr lang="en-US" dirty="0"/>
                <a:t>processes</a:t>
              </a:r>
              <a:endParaRPr lang="nl-BE" dirty="0"/>
            </a:p>
          </p:txBody>
        </p:sp>
        <p:cxnSp>
          <p:nvCxnSpPr>
            <p:cNvPr id="12" name="Straight Arrow Connector 11"/>
            <p:cNvCxnSpPr>
              <a:stCxn id="11" idx="3"/>
            </p:cNvCxnSpPr>
            <p:nvPr/>
          </p:nvCxnSpPr>
          <p:spPr>
            <a:xfrm>
              <a:off x="7481373" y="3062509"/>
              <a:ext cx="526110" cy="18913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/>
          <p:cNvGrpSpPr/>
          <p:nvPr/>
        </p:nvGrpSpPr>
        <p:grpSpPr>
          <a:xfrm>
            <a:off x="169509" y="2883165"/>
            <a:ext cx="2032410" cy="646332"/>
            <a:chOff x="5802114" y="2751823"/>
            <a:chExt cx="2205369" cy="621371"/>
          </a:xfrm>
        </p:grpSpPr>
        <p:sp>
          <p:nvSpPr>
            <p:cNvPr id="24" name="TextBox 23"/>
            <p:cNvSpPr txBox="1"/>
            <p:nvPr/>
          </p:nvSpPr>
          <p:spPr>
            <a:xfrm>
              <a:off x="5802114" y="2751823"/>
              <a:ext cx="1679259" cy="62137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create</a:t>
              </a:r>
              <a:br>
                <a:rPr lang="en-US" dirty="0"/>
              </a:br>
              <a:r>
                <a:rPr lang="en-US" dirty="0"/>
                <a:t>processes</a:t>
              </a:r>
              <a:endParaRPr lang="nl-BE" dirty="0"/>
            </a:p>
          </p:txBody>
        </p:sp>
        <p:cxnSp>
          <p:nvCxnSpPr>
            <p:cNvPr id="25" name="Straight Arrow Connector 24"/>
            <p:cNvCxnSpPr>
              <a:stCxn id="24" idx="3"/>
            </p:cNvCxnSpPr>
            <p:nvPr/>
          </p:nvCxnSpPr>
          <p:spPr>
            <a:xfrm>
              <a:off x="7481373" y="3062509"/>
              <a:ext cx="526110" cy="189131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/>
          <p:cNvGrpSpPr/>
          <p:nvPr/>
        </p:nvGrpSpPr>
        <p:grpSpPr>
          <a:xfrm>
            <a:off x="169510" y="4864365"/>
            <a:ext cx="2032408" cy="762000"/>
            <a:chOff x="5802114" y="2640622"/>
            <a:chExt cx="2205367" cy="732572"/>
          </a:xfrm>
        </p:grpSpPr>
        <p:sp>
          <p:nvSpPr>
            <p:cNvPr id="29" name="TextBox 28"/>
            <p:cNvSpPr txBox="1"/>
            <p:nvPr/>
          </p:nvSpPr>
          <p:spPr>
            <a:xfrm>
              <a:off x="5802114" y="2751823"/>
              <a:ext cx="1679259" cy="62137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wait for all</a:t>
              </a:r>
              <a:br>
                <a:rPr lang="en-US" dirty="0"/>
              </a:br>
              <a:r>
                <a:rPr lang="en-US" dirty="0"/>
                <a:t>processes</a:t>
              </a:r>
              <a:endParaRPr lang="nl-BE" dirty="0"/>
            </a:p>
          </p:txBody>
        </p:sp>
        <p:cxnSp>
          <p:nvCxnSpPr>
            <p:cNvPr id="30" name="Straight Arrow Connector 29"/>
            <p:cNvCxnSpPr>
              <a:stCxn id="29" idx="3"/>
            </p:cNvCxnSpPr>
            <p:nvPr/>
          </p:nvCxnSpPr>
          <p:spPr>
            <a:xfrm flipV="1">
              <a:off x="7481373" y="2640622"/>
              <a:ext cx="526108" cy="421886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/>
          <p:cNvGrpSpPr/>
          <p:nvPr/>
        </p:nvGrpSpPr>
        <p:grpSpPr>
          <a:xfrm>
            <a:off x="1752600" y="4521678"/>
            <a:ext cx="6449351" cy="1802921"/>
            <a:chOff x="1752600" y="4521678"/>
            <a:chExt cx="6449351" cy="1802921"/>
          </a:xfrm>
        </p:grpSpPr>
        <p:cxnSp>
          <p:nvCxnSpPr>
            <p:cNvPr id="33" name="Straight Connector 32"/>
            <p:cNvCxnSpPr/>
            <p:nvPr/>
          </p:nvCxnSpPr>
          <p:spPr>
            <a:xfrm>
              <a:off x="1752600" y="4521678"/>
              <a:ext cx="6400800" cy="0"/>
            </a:xfrm>
            <a:prstGeom prst="line">
              <a:avLst/>
            </a:prstGeom>
            <a:ln w="38100">
              <a:solidFill>
                <a:srgbClr val="00B050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4" name="Group 33"/>
            <p:cNvGrpSpPr/>
            <p:nvPr/>
          </p:nvGrpSpPr>
          <p:grpSpPr>
            <a:xfrm>
              <a:off x="6654390" y="4521678"/>
              <a:ext cx="1547561" cy="1802921"/>
              <a:chOff x="5802114" y="1639900"/>
              <a:chExt cx="1679259" cy="1733293"/>
            </a:xfrm>
          </p:grpSpPr>
          <p:sp>
            <p:nvSpPr>
              <p:cNvPr id="35" name="TextBox 34"/>
              <p:cNvSpPr txBox="1"/>
              <p:nvPr/>
            </p:nvSpPr>
            <p:spPr>
              <a:xfrm>
                <a:off x="5802114" y="2751823"/>
                <a:ext cx="1679259" cy="621370"/>
              </a:xfrm>
              <a:prstGeom prst="rect">
                <a:avLst/>
              </a:prstGeom>
              <a:noFill/>
              <a:ln>
                <a:solidFill>
                  <a:srgbClr val="00B05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rgbClr val="00B050"/>
                    </a:solidFill>
                  </a:rPr>
                  <a:t>concurrent</a:t>
                </a:r>
                <a:br>
                  <a:rPr lang="en-US" dirty="0">
                    <a:solidFill>
                      <a:srgbClr val="00B050"/>
                    </a:solidFill>
                  </a:rPr>
                </a:br>
                <a:r>
                  <a:rPr lang="en-US" dirty="0">
                    <a:solidFill>
                      <a:srgbClr val="00B050"/>
                    </a:solidFill>
                  </a:rPr>
                  <a:t>processing</a:t>
                </a:r>
                <a:endParaRPr lang="nl-BE" dirty="0">
                  <a:solidFill>
                    <a:srgbClr val="00B050"/>
                  </a:solidFill>
                </a:endParaRPr>
              </a:p>
            </p:txBody>
          </p:sp>
          <p:cxnSp>
            <p:nvCxnSpPr>
              <p:cNvPr id="36" name="Straight Arrow Connector 35"/>
              <p:cNvCxnSpPr>
                <a:stCxn id="35" idx="0"/>
              </p:cNvCxnSpPr>
              <p:nvPr/>
            </p:nvCxnSpPr>
            <p:spPr>
              <a:xfrm flipH="1" flipV="1">
                <a:off x="6023051" y="1639900"/>
                <a:ext cx="618693" cy="1111923"/>
              </a:xfrm>
              <a:prstGeom prst="straightConnector1">
                <a:avLst/>
              </a:prstGeom>
              <a:ln w="12700">
                <a:solidFill>
                  <a:srgbClr val="00B05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3" name="Slide Number Placeholder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2854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ADBB1A-3BC5-440D-86E9-B03D2E1CC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S</a:t>
            </a:r>
            <a:r>
              <a:rPr lang="en-GB" dirty="0"/>
              <a:t>h</a:t>
            </a:r>
            <a:r>
              <a:rPr lang="en-BE" dirty="0" err="1"/>
              <a:t>aring</a:t>
            </a:r>
            <a:r>
              <a:rPr lang="en-BE" dirty="0"/>
              <a:t> chunks of bytes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B98C4E-1BC3-483E-938D-6C0825BE8D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BE" dirty="0"/>
              <a:t>S</a:t>
            </a:r>
            <a:r>
              <a:rPr lang="en-GB" dirty="0"/>
              <a:t>h</a:t>
            </a:r>
            <a:r>
              <a:rPr lang="en-BE" dirty="0"/>
              <a:t>a</a:t>
            </a:r>
            <a:r>
              <a:rPr lang="en-GB" dirty="0"/>
              <a:t>r</a:t>
            </a:r>
            <a:r>
              <a:rPr lang="en-BE" dirty="0"/>
              <a:t>ed memory manager</a:t>
            </a:r>
          </a:p>
          <a:p>
            <a:pPr lvl="1"/>
            <a:r>
              <a:rPr lang="en-BE" dirty="0"/>
              <a:t>takes care of allocation/deallocation</a:t>
            </a:r>
          </a:p>
          <a:p>
            <a:pPr lvl="1"/>
            <a:r>
              <a:rPr lang="en-BE" dirty="0"/>
              <a:t>works </a:t>
            </a:r>
            <a:r>
              <a:rPr lang="en-GB" dirty="0"/>
              <a:t>a</a:t>
            </a:r>
            <a:r>
              <a:rPr lang="en-BE" dirty="0"/>
              <a:t>s context manager</a:t>
            </a:r>
          </a:p>
          <a:p>
            <a:r>
              <a:rPr lang="en-BE" dirty="0"/>
              <a:t>Shared memory</a:t>
            </a:r>
          </a:p>
          <a:p>
            <a:pPr lvl="1"/>
            <a:r>
              <a:rPr lang="en-BE" dirty="0"/>
              <a:t>sequence of bytes</a:t>
            </a:r>
          </a:p>
          <a:p>
            <a:pPr lvl="1"/>
            <a:r>
              <a:rPr lang="en-BE" dirty="0"/>
              <a:t>interoperates with data structure that support buffer proto</a:t>
            </a:r>
            <a:r>
              <a:rPr lang="en-GB" dirty="0"/>
              <a:t>c</a:t>
            </a:r>
            <a:r>
              <a:rPr lang="en-BE" dirty="0"/>
              <a:t>o</a:t>
            </a:r>
            <a:r>
              <a:rPr lang="en-GB" dirty="0"/>
              <a:t>l</a:t>
            </a:r>
            <a:endParaRPr lang="en-BE" dirty="0"/>
          </a:p>
          <a:p>
            <a:pPr lvl="2"/>
            <a:r>
              <a:rPr lang="en-BE" dirty="0"/>
              <a:t>Python standard library </a:t>
            </a:r>
            <a:r>
              <a:rPr lang="en-B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array</a:t>
            </a:r>
          </a:p>
          <a:p>
            <a:pPr lvl="2"/>
            <a:r>
              <a:rPr lang="en-BE" dirty="0" err="1"/>
              <a:t>numpy</a:t>
            </a:r>
            <a:r>
              <a:rPr lang="en-BE" dirty="0"/>
              <a:t> arrays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1AA544F-9FBC-4B42-8F9C-EC6795C12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137</a:t>
            </a:fld>
            <a:endParaRPr lang="nl-B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97E6ED-3F1E-45DE-A239-8208E8E4AA07}"/>
              </a:ext>
            </a:extLst>
          </p:cNvPr>
          <p:cNvSpPr txBox="1"/>
          <p:nvPr/>
        </p:nvSpPr>
        <p:spPr>
          <a:xfrm>
            <a:off x="6905883" y="1321357"/>
            <a:ext cx="168514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BE" sz="2400" dirty="0"/>
              <a:t>P</a:t>
            </a:r>
            <a:r>
              <a:rPr lang="en-GB" sz="2400" dirty="0"/>
              <a:t>y</a:t>
            </a:r>
            <a:r>
              <a:rPr lang="en-BE" sz="2400" dirty="0"/>
              <a:t>t</a:t>
            </a:r>
            <a:r>
              <a:rPr lang="en-GB" sz="2400" dirty="0"/>
              <a:t>h</a:t>
            </a:r>
            <a:r>
              <a:rPr lang="en-BE" sz="2400" dirty="0"/>
              <a:t>o</a:t>
            </a:r>
            <a:r>
              <a:rPr lang="en-GB" sz="2400" dirty="0"/>
              <a:t>n</a:t>
            </a:r>
            <a:r>
              <a:rPr lang="en-BE" sz="2400" dirty="0"/>
              <a:t> 3.8+</a:t>
            </a:r>
          </a:p>
        </p:txBody>
      </p:sp>
    </p:spTree>
    <p:extLst>
      <p:ext uri="{BB962C8B-B14F-4D97-AF65-F5344CB8AC3E}">
        <p14:creationId xmlns:p14="http://schemas.microsoft.com/office/powerpoint/2010/main" val="3867471624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7F6CA-7AA7-4DD7-A1D6-F7C8383D22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C</a:t>
            </a:r>
            <a:r>
              <a:rPr lang="en-GB" dirty="0"/>
              <a:t>r</a:t>
            </a:r>
            <a:r>
              <a:rPr lang="en-BE" dirty="0"/>
              <a:t>e</a:t>
            </a:r>
            <a:r>
              <a:rPr lang="en-GB" dirty="0"/>
              <a:t>a</a:t>
            </a:r>
            <a:r>
              <a:rPr lang="en-BE" dirty="0"/>
              <a:t>t</a:t>
            </a:r>
            <a:r>
              <a:rPr lang="en-GB" dirty="0" err="1"/>
              <a:t>i</a:t>
            </a:r>
            <a:r>
              <a:rPr lang="en-BE" dirty="0"/>
              <a:t>n</a:t>
            </a:r>
            <a:r>
              <a:rPr lang="en-GB" dirty="0"/>
              <a:t>g</a:t>
            </a:r>
            <a:r>
              <a:rPr lang="en-BE" dirty="0"/>
              <a:t> </a:t>
            </a:r>
            <a:r>
              <a:rPr lang="en-GB" dirty="0"/>
              <a:t>s</a:t>
            </a:r>
            <a:r>
              <a:rPr lang="en-BE" dirty="0"/>
              <a:t>h</a:t>
            </a:r>
            <a:r>
              <a:rPr lang="en-GB" dirty="0"/>
              <a:t>a</a:t>
            </a:r>
            <a:r>
              <a:rPr lang="en-BE" dirty="0"/>
              <a:t>r</a:t>
            </a:r>
            <a:r>
              <a:rPr lang="en-GB" dirty="0"/>
              <a:t>e</a:t>
            </a:r>
            <a:r>
              <a:rPr lang="en-BE" dirty="0"/>
              <a:t>d </a:t>
            </a:r>
            <a:r>
              <a:rPr lang="en-GB" dirty="0"/>
              <a:t>m</a:t>
            </a:r>
            <a:r>
              <a:rPr lang="en-BE" dirty="0"/>
              <a:t>e</a:t>
            </a:r>
            <a:r>
              <a:rPr lang="en-GB" dirty="0"/>
              <a:t>m</a:t>
            </a:r>
            <a:r>
              <a:rPr lang="en-BE" dirty="0"/>
              <a:t>o</a:t>
            </a:r>
            <a:r>
              <a:rPr lang="en-GB" dirty="0"/>
              <a:t>r</a:t>
            </a:r>
            <a:r>
              <a:rPr lang="en-BE" dirty="0"/>
              <a:t>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4766F1E-6898-427E-8A54-44CF5A4E1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138</a:t>
            </a:fld>
            <a:endParaRPr lang="nl-BE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038E9AC-4591-457A-9FBA-B87B4C40AD5F}"/>
              </a:ext>
            </a:extLst>
          </p:cNvPr>
          <p:cNvSpPr txBox="1"/>
          <p:nvPr/>
        </p:nvSpPr>
        <p:spPr>
          <a:xfrm>
            <a:off x="494268" y="1981200"/>
            <a:ext cx="8180445" cy="258532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</a:t>
            </a:r>
            <a:endParaRPr lang="en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SharedMemoryManager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() as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shmem_mgr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Pool(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pool_size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 as pool:</a:t>
            </a:r>
            <a:endParaRPr lang="en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en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ize</a:t>
            </a:r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np.dtype</a:t>
            </a:r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np.complex</a:t>
            </a:r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</a:rPr>
              <a:t>).</a:t>
            </a:r>
            <a:r>
              <a:rPr lang="en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itemsize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BE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z_shmem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shmem_mgr.SharedMemory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z_buf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np.ndarray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),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dtype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np.complex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endParaRPr lang="en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buffer=</a:t>
            </a:r>
            <a:r>
              <a:rPr lang="nl-BE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z_shmem.buf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BE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z_buf</a:t>
            </a:r>
            <a:r>
              <a:rPr lang="nl-BE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[:]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init_z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nr_points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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01CBC27-DCA9-4921-B71B-267BED7FD245}"/>
              </a:ext>
            </a:extLst>
          </p:cNvPr>
          <p:cNvGrpSpPr/>
          <p:nvPr/>
        </p:nvGrpSpPr>
        <p:grpSpPr>
          <a:xfrm>
            <a:off x="187487" y="3429000"/>
            <a:ext cx="1665584" cy="1677226"/>
            <a:chOff x="4901514" y="1113859"/>
            <a:chExt cx="1665584" cy="1677226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186151A-C9D7-4E64-B48E-544376A2A179}"/>
                </a:ext>
              </a:extLst>
            </p:cNvPr>
            <p:cNvSpPr txBox="1"/>
            <p:nvPr/>
          </p:nvSpPr>
          <p:spPr>
            <a:xfrm>
              <a:off x="4901514" y="2421753"/>
              <a:ext cx="166558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>
                  <a:cs typeface="Courier New" panose="02070309020205020404" pitchFamily="49" charset="0"/>
                </a:rPr>
                <a:t>s</a:t>
              </a:r>
              <a:r>
                <a:rPr lang="en-BE" dirty="0">
                  <a:cs typeface="Courier New" panose="02070309020205020404" pitchFamily="49" charset="0"/>
                </a:rPr>
                <a:t>h</a:t>
              </a:r>
              <a:r>
                <a:rPr lang="en-GB" dirty="0">
                  <a:cs typeface="Courier New" panose="02070309020205020404" pitchFamily="49" charset="0"/>
                </a:rPr>
                <a:t>a</a:t>
              </a:r>
              <a:r>
                <a:rPr lang="en-BE" dirty="0">
                  <a:cs typeface="Courier New" panose="02070309020205020404" pitchFamily="49" charset="0"/>
                </a:rPr>
                <a:t>r</a:t>
              </a:r>
              <a:r>
                <a:rPr lang="en-GB" dirty="0">
                  <a:cs typeface="Courier New" panose="02070309020205020404" pitchFamily="49" charset="0"/>
                </a:rPr>
                <a:t>e</a:t>
              </a:r>
              <a:r>
                <a:rPr lang="en-BE" dirty="0">
                  <a:cs typeface="Courier New" panose="02070309020205020404" pitchFamily="49" charset="0"/>
                </a:rPr>
                <a:t>d </a:t>
              </a:r>
              <a:r>
                <a:rPr lang="en-GB" dirty="0">
                  <a:cs typeface="Courier New" panose="02070309020205020404" pitchFamily="49" charset="0"/>
                </a:rPr>
                <a:t>m</a:t>
              </a:r>
              <a:r>
                <a:rPr lang="en-BE" dirty="0">
                  <a:cs typeface="Courier New" panose="02070309020205020404" pitchFamily="49" charset="0"/>
                </a:rPr>
                <a:t>e</a:t>
              </a:r>
              <a:r>
                <a:rPr lang="en-GB" dirty="0">
                  <a:cs typeface="Courier New" panose="02070309020205020404" pitchFamily="49" charset="0"/>
                </a:rPr>
                <a:t>m</a:t>
              </a:r>
              <a:r>
                <a:rPr lang="en-BE" dirty="0">
                  <a:cs typeface="Courier New" panose="02070309020205020404" pitchFamily="49" charset="0"/>
                </a:rPr>
                <a:t>o</a:t>
              </a:r>
              <a:r>
                <a:rPr lang="en-GB" dirty="0">
                  <a:cs typeface="Courier New" panose="02070309020205020404" pitchFamily="49" charset="0"/>
                </a:rPr>
                <a:t>r</a:t>
              </a:r>
              <a:r>
                <a:rPr lang="en-BE" dirty="0">
                  <a:cs typeface="Courier New" panose="02070309020205020404" pitchFamily="49" charset="0"/>
                </a:rPr>
                <a:t>y</a:t>
              </a:r>
              <a:endParaRPr lang="nl-BE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3F493936-33DE-4CCF-8916-8988A968A9D3}"/>
                </a:ext>
              </a:extLst>
            </p:cNvPr>
            <p:cNvCxnSpPr>
              <a:cxnSpLocks/>
              <a:stCxn id="10" idx="0"/>
            </p:cNvCxnSpPr>
            <p:nvPr/>
          </p:nvCxnSpPr>
          <p:spPr>
            <a:xfrm flipV="1">
              <a:off x="5734306" y="1113859"/>
              <a:ext cx="602575" cy="1307894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8383786D-3A07-440B-A1D0-B0CA9B4FFE18}"/>
              </a:ext>
            </a:extLst>
          </p:cNvPr>
          <p:cNvGrpSpPr/>
          <p:nvPr/>
        </p:nvGrpSpPr>
        <p:grpSpPr>
          <a:xfrm>
            <a:off x="6194854" y="1810829"/>
            <a:ext cx="2682169" cy="1083811"/>
            <a:chOff x="6194854" y="1506023"/>
            <a:chExt cx="2682169" cy="1083811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D5807CAA-D306-4F5F-8A9B-5892C8B16EA0}"/>
                </a:ext>
              </a:extLst>
            </p:cNvPr>
            <p:cNvGrpSpPr/>
            <p:nvPr/>
          </p:nvGrpSpPr>
          <p:grpSpPr>
            <a:xfrm>
              <a:off x="6376087" y="1506023"/>
              <a:ext cx="2500936" cy="784096"/>
              <a:chOff x="4536914" y="2362200"/>
              <a:chExt cx="2500936" cy="784096"/>
            </a:xfrm>
          </p:grpSpPr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68034D0-8523-4FDC-8DC3-4FF1437B729B}"/>
                  </a:ext>
                </a:extLst>
              </p:cNvPr>
              <p:cNvSpPr txBox="1"/>
              <p:nvPr/>
            </p:nvSpPr>
            <p:spPr>
              <a:xfrm>
                <a:off x="5486400" y="2362200"/>
                <a:ext cx="1551450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BE" dirty="0">
                    <a:cs typeface="Courier New" panose="02070309020205020404" pitchFamily="49" charset="0"/>
                  </a:rPr>
                  <a:t>o</a:t>
                </a:r>
                <a:r>
                  <a:rPr lang="en-GB" dirty="0">
                    <a:cs typeface="Courier New" panose="02070309020205020404" pitchFamily="49" charset="0"/>
                  </a:rPr>
                  <a:t>r</a:t>
                </a:r>
                <a:r>
                  <a:rPr lang="en-BE" dirty="0">
                    <a:cs typeface="Courier New" panose="02070309020205020404" pitchFamily="49" charset="0"/>
                  </a:rPr>
                  <a:t>d</a:t>
                </a:r>
                <a:r>
                  <a:rPr lang="en-GB" dirty="0">
                    <a:cs typeface="Courier New" panose="02070309020205020404" pitchFamily="49" charset="0"/>
                  </a:rPr>
                  <a:t>e</a:t>
                </a:r>
                <a:r>
                  <a:rPr lang="en-BE" dirty="0">
                    <a:cs typeface="Courier New" panose="02070309020205020404" pitchFamily="49" charset="0"/>
                  </a:rPr>
                  <a:t>r </a:t>
                </a:r>
                <a:r>
                  <a:rPr lang="en-GB" dirty="0">
                    <a:cs typeface="Courier New" panose="02070309020205020404" pitchFamily="49" charset="0"/>
                  </a:rPr>
                  <a:t>m</a:t>
                </a:r>
                <a:r>
                  <a:rPr lang="en-BE" dirty="0">
                    <a:cs typeface="Courier New" panose="02070309020205020404" pitchFamily="49" charset="0"/>
                  </a:rPr>
                  <a:t>a</a:t>
                </a:r>
                <a:r>
                  <a:rPr lang="en-GB" dirty="0">
                    <a:cs typeface="Courier New" panose="02070309020205020404" pitchFamily="49" charset="0"/>
                  </a:rPr>
                  <a:t>t</a:t>
                </a:r>
                <a:r>
                  <a:rPr lang="en-BE" dirty="0">
                    <a:cs typeface="Courier New" panose="02070309020205020404" pitchFamily="49" charset="0"/>
                  </a:rPr>
                  <a:t>t</a:t>
                </a:r>
                <a:r>
                  <a:rPr lang="en-GB" dirty="0">
                    <a:cs typeface="Courier New" panose="02070309020205020404" pitchFamily="49" charset="0"/>
                  </a:rPr>
                  <a:t>e</a:t>
                </a:r>
                <a:r>
                  <a:rPr lang="en-BE" dirty="0">
                    <a:cs typeface="Courier New" panose="02070309020205020404" pitchFamily="49" charset="0"/>
                  </a:rPr>
                  <a:t>r</a:t>
                </a:r>
                <a:r>
                  <a:rPr lang="en-GB" dirty="0">
                    <a:cs typeface="Courier New" panose="02070309020205020404" pitchFamily="49" charset="0"/>
                  </a:rPr>
                  <a:t>s</a:t>
                </a:r>
                <a:r>
                  <a:rPr lang="en-BE" dirty="0">
                    <a:cs typeface="Courier New" panose="02070309020205020404" pitchFamily="49" charset="0"/>
                  </a:rPr>
                  <a:t>!</a:t>
                </a:r>
                <a:endParaRPr lang="nl-BE" dirty="0"/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93E931A6-EECE-40F8-9293-A50DB5FD72A4}"/>
                  </a:ext>
                </a:extLst>
              </p:cNvPr>
              <p:cNvCxnSpPr>
                <a:cxnSpLocks/>
                <a:stCxn id="6" idx="1"/>
                <a:endCxn id="12" idx="1"/>
              </p:cNvCxnSpPr>
              <p:nvPr/>
            </p:nvCxnSpPr>
            <p:spPr>
              <a:xfrm flipH="1">
                <a:off x="4536914" y="2546866"/>
                <a:ext cx="949486" cy="59943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400C322C-6D11-4E24-8FD4-F397BFA5DD82}"/>
                </a:ext>
              </a:extLst>
            </p:cNvPr>
            <p:cNvSpPr/>
            <p:nvPr/>
          </p:nvSpPr>
          <p:spPr>
            <a:xfrm>
              <a:off x="6194854" y="1990404"/>
              <a:ext cx="181233" cy="599430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1682D573-1957-41FF-B7DE-64E4806E529A}"/>
              </a:ext>
            </a:extLst>
          </p:cNvPr>
          <p:cNvGrpSpPr/>
          <p:nvPr/>
        </p:nvGrpSpPr>
        <p:grpSpPr>
          <a:xfrm>
            <a:off x="5948174" y="3963338"/>
            <a:ext cx="2042419" cy="1413235"/>
            <a:chOff x="4901514" y="1654849"/>
            <a:chExt cx="2042419" cy="1413235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9E87484-928B-4927-8ECC-CC81C79CC919}"/>
                </a:ext>
              </a:extLst>
            </p:cNvPr>
            <p:cNvSpPr txBox="1"/>
            <p:nvPr/>
          </p:nvSpPr>
          <p:spPr>
            <a:xfrm>
              <a:off x="4901514" y="2421753"/>
              <a:ext cx="204241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BE" dirty="0">
                  <a:cs typeface="Courier New" panose="02070309020205020404" pitchFamily="49" charset="0"/>
                </a:rPr>
                <a:t>n</a:t>
              </a:r>
              <a:r>
                <a:rPr lang="en-GB" dirty="0">
                  <a:cs typeface="Courier New" panose="02070309020205020404" pitchFamily="49" charset="0"/>
                </a:rPr>
                <a:t>u</a:t>
              </a:r>
              <a:r>
                <a:rPr lang="en-BE" dirty="0">
                  <a:cs typeface="Courier New" panose="02070309020205020404" pitchFamily="49" charset="0"/>
                </a:rPr>
                <a:t>m</a:t>
              </a:r>
              <a:r>
                <a:rPr lang="en-GB" dirty="0">
                  <a:cs typeface="Courier New" panose="02070309020205020404" pitchFamily="49" charset="0"/>
                </a:rPr>
                <a:t>p</a:t>
              </a:r>
              <a:r>
                <a:rPr lang="en-BE" dirty="0">
                  <a:cs typeface="Courier New" panose="02070309020205020404" pitchFamily="49" charset="0"/>
                </a:rPr>
                <a:t>y </a:t>
              </a:r>
              <a:r>
                <a:rPr lang="en-GB" dirty="0">
                  <a:cs typeface="Courier New" panose="02070309020205020404" pitchFamily="49" charset="0"/>
                </a:rPr>
                <a:t>a</a:t>
              </a:r>
              <a:r>
                <a:rPr lang="en-BE" dirty="0">
                  <a:cs typeface="Courier New" panose="02070309020205020404" pitchFamily="49" charset="0"/>
                </a:rPr>
                <a:t>r</a:t>
              </a:r>
              <a:r>
                <a:rPr lang="en-GB" dirty="0">
                  <a:cs typeface="Courier New" panose="02070309020205020404" pitchFamily="49" charset="0"/>
                </a:rPr>
                <a:t>r</a:t>
              </a:r>
              <a:r>
                <a:rPr lang="en-BE" dirty="0">
                  <a:cs typeface="Courier New" panose="02070309020205020404" pitchFamily="49" charset="0"/>
                </a:rPr>
                <a:t>a</a:t>
              </a:r>
              <a:r>
                <a:rPr lang="en-GB" dirty="0">
                  <a:cs typeface="Courier New" panose="02070309020205020404" pitchFamily="49" charset="0"/>
                </a:rPr>
                <a:t>y</a:t>
              </a:r>
              <a:r>
                <a:rPr lang="en-BE" dirty="0">
                  <a:cs typeface="Courier New" panose="02070309020205020404" pitchFamily="49" charset="0"/>
                </a:rPr>
                <a:t> "</a:t>
              </a:r>
              <a:r>
                <a:rPr lang="en-GB" dirty="0">
                  <a:cs typeface="Courier New" panose="02070309020205020404" pitchFamily="49" charset="0"/>
                </a:rPr>
                <a:t>v</a:t>
              </a:r>
              <a:r>
                <a:rPr lang="en-BE" dirty="0" err="1">
                  <a:cs typeface="Courier New" panose="02070309020205020404" pitchFamily="49" charset="0"/>
                </a:rPr>
                <a:t>i</a:t>
              </a:r>
              <a:r>
                <a:rPr lang="en-GB" dirty="0">
                  <a:cs typeface="Courier New" panose="02070309020205020404" pitchFamily="49" charset="0"/>
                </a:rPr>
                <a:t>e</a:t>
              </a:r>
              <a:r>
                <a:rPr lang="en-BE" dirty="0">
                  <a:cs typeface="Courier New" panose="02070309020205020404" pitchFamily="49" charset="0"/>
                </a:rPr>
                <a:t>w"</a:t>
              </a:r>
              <a:br>
                <a:rPr lang="en-BE" dirty="0">
                  <a:cs typeface="Courier New" panose="02070309020205020404" pitchFamily="49" charset="0"/>
                </a:rPr>
              </a:br>
              <a:r>
                <a:rPr lang="en-GB" dirty="0">
                  <a:cs typeface="Courier New" panose="02070309020205020404" pitchFamily="49" charset="0"/>
                </a:rPr>
                <a:t>o</a:t>
              </a:r>
              <a:r>
                <a:rPr lang="en-BE" dirty="0">
                  <a:cs typeface="Courier New" panose="02070309020205020404" pitchFamily="49" charset="0"/>
                </a:rPr>
                <a:t>n </a:t>
              </a:r>
              <a:r>
                <a:rPr lang="en-GB" dirty="0">
                  <a:cs typeface="Courier New" panose="02070309020205020404" pitchFamily="49" charset="0"/>
                </a:rPr>
                <a:t>s</a:t>
              </a:r>
              <a:r>
                <a:rPr lang="en-BE" dirty="0">
                  <a:cs typeface="Courier New" panose="02070309020205020404" pitchFamily="49" charset="0"/>
                </a:rPr>
                <a:t>h</a:t>
              </a:r>
              <a:r>
                <a:rPr lang="en-GB" dirty="0">
                  <a:cs typeface="Courier New" panose="02070309020205020404" pitchFamily="49" charset="0"/>
                </a:rPr>
                <a:t>a</a:t>
              </a:r>
              <a:r>
                <a:rPr lang="en-BE" dirty="0">
                  <a:cs typeface="Courier New" panose="02070309020205020404" pitchFamily="49" charset="0"/>
                </a:rPr>
                <a:t>r</a:t>
              </a:r>
              <a:r>
                <a:rPr lang="en-GB" dirty="0">
                  <a:cs typeface="Courier New" panose="02070309020205020404" pitchFamily="49" charset="0"/>
                </a:rPr>
                <a:t>e</a:t>
              </a:r>
              <a:r>
                <a:rPr lang="en-BE" dirty="0">
                  <a:cs typeface="Courier New" panose="02070309020205020404" pitchFamily="49" charset="0"/>
                </a:rPr>
                <a:t>d </a:t>
              </a:r>
              <a:r>
                <a:rPr lang="en-GB" dirty="0">
                  <a:cs typeface="Courier New" panose="02070309020205020404" pitchFamily="49" charset="0"/>
                </a:rPr>
                <a:t>m</a:t>
              </a:r>
              <a:r>
                <a:rPr lang="en-BE" dirty="0">
                  <a:cs typeface="Courier New" panose="02070309020205020404" pitchFamily="49" charset="0"/>
                </a:rPr>
                <a:t>e</a:t>
              </a:r>
              <a:r>
                <a:rPr lang="en-GB" dirty="0">
                  <a:cs typeface="Courier New" panose="02070309020205020404" pitchFamily="49" charset="0"/>
                </a:rPr>
                <a:t>m</a:t>
              </a:r>
              <a:r>
                <a:rPr lang="en-BE" dirty="0">
                  <a:cs typeface="Courier New" panose="02070309020205020404" pitchFamily="49" charset="0"/>
                </a:rPr>
                <a:t>o</a:t>
              </a:r>
              <a:r>
                <a:rPr lang="en-GB" dirty="0">
                  <a:cs typeface="Courier New" panose="02070309020205020404" pitchFamily="49" charset="0"/>
                </a:rPr>
                <a:t>r</a:t>
              </a:r>
              <a:r>
                <a:rPr lang="en-BE" dirty="0">
                  <a:cs typeface="Courier New" panose="02070309020205020404" pitchFamily="49" charset="0"/>
                </a:rPr>
                <a:t>y</a:t>
              </a:r>
              <a:endParaRPr lang="nl-BE" dirty="0"/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830FA37C-0C4B-467C-8DCC-C1CCAEEDF17D}"/>
                </a:ext>
              </a:extLst>
            </p:cNvPr>
            <p:cNvCxnSpPr>
              <a:cxnSpLocks/>
              <a:stCxn id="19" idx="0"/>
            </p:cNvCxnSpPr>
            <p:nvPr/>
          </p:nvCxnSpPr>
          <p:spPr>
            <a:xfrm flipH="1" flipV="1">
              <a:off x="5154764" y="1654849"/>
              <a:ext cx="767960" cy="766904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D097084-2FAE-409E-B9BE-09B61E7DD12E}"/>
              </a:ext>
            </a:extLst>
          </p:cNvPr>
          <p:cNvGrpSpPr/>
          <p:nvPr/>
        </p:nvGrpSpPr>
        <p:grpSpPr>
          <a:xfrm>
            <a:off x="2752788" y="4264931"/>
            <a:ext cx="1618776" cy="841295"/>
            <a:chOff x="4901514" y="1949790"/>
            <a:chExt cx="1618776" cy="841295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4D6C6F1-054F-412A-889D-704C97B12390}"/>
                </a:ext>
              </a:extLst>
            </p:cNvPr>
            <p:cNvSpPr txBox="1"/>
            <p:nvPr/>
          </p:nvSpPr>
          <p:spPr>
            <a:xfrm>
              <a:off x="4901514" y="2421753"/>
              <a:ext cx="161877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>
                  <a:cs typeface="Courier New" panose="02070309020205020404" pitchFamily="49" charset="0"/>
                </a:rPr>
                <a:t>f</a:t>
              </a:r>
              <a:r>
                <a:rPr lang="en-BE" dirty="0" err="1">
                  <a:cs typeface="Courier New" panose="02070309020205020404" pitchFamily="49" charset="0"/>
                </a:rPr>
                <a:t>i</a:t>
              </a:r>
              <a:r>
                <a:rPr lang="en-GB" dirty="0">
                  <a:cs typeface="Courier New" panose="02070309020205020404" pitchFamily="49" charset="0"/>
                </a:rPr>
                <a:t>l</a:t>
              </a:r>
              <a:r>
                <a:rPr lang="en-BE" dirty="0">
                  <a:cs typeface="Courier New" panose="02070309020205020404" pitchFamily="49" charset="0"/>
                </a:rPr>
                <a:t>l </a:t>
              </a:r>
              <a:r>
                <a:rPr lang="en-GB" dirty="0">
                  <a:cs typeface="Courier New" panose="02070309020205020404" pitchFamily="49" charset="0"/>
                </a:rPr>
                <a:t>a</a:t>
              </a:r>
              <a:r>
                <a:rPr lang="en-BE" dirty="0">
                  <a:cs typeface="Courier New" panose="02070309020205020404" pitchFamily="49" charset="0"/>
                </a:rPr>
                <a:t>r</a:t>
              </a:r>
              <a:r>
                <a:rPr lang="en-GB" dirty="0">
                  <a:cs typeface="Courier New" panose="02070309020205020404" pitchFamily="49" charset="0"/>
                </a:rPr>
                <a:t>r</a:t>
              </a:r>
              <a:r>
                <a:rPr lang="en-BE" dirty="0">
                  <a:cs typeface="Courier New" panose="02070309020205020404" pitchFamily="49" charset="0"/>
                </a:rPr>
                <a:t>a</a:t>
              </a:r>
              <a:r>
                <a:rPr lang="en-GB" dirty="0">
                  <a:cs typeface="Courier New" panose="02070309020205020404" pitchFamily="49" charset="0"/>
                </a:rPr>
                <a:t>y</a:t>
              </a:r>
              <a:r>
                <a:rPr lang="en-BE" dirty="0">
                  <a:cs typeface="Courier New" panose="02070309020205020404" pitchFamily="49" charset="0"/>
                </a:rPr>
                <a:t> "</a:t>
              </a:r>
              <a:r>
                <a:rPr lang="en-GB" dirty="0">
                  <a:cs typeface="Courier New" panose="02070309020205020404" pitchFamily="49" charset="0"/>
                </a:rPr>
                <a:t>v</a:t>
              </a:r>
              <a:r>
                <a:rPr lang="en-BE" dirty="0" err="1">
                  <a:cs typeface="Courier New" panose="02070309020205020404" pitchFamily="49" charset="0"/>
                </a:rPr>
                <a:t>i</a:t>
              </a:r>
              <a:r>
                <a:rPr lang="en-GB" dirty="0">
                  <a:cs typeface="Courier New" panose="02070309020205020404" pitchFamily="49" charset="0"/>
                </a:rPr>
                <a:t>e</a:t>
              </a:r>
              <a:r>
                <a:rPr lang="en-BE" dirty="0">
                  <a:cs typeface="Courier New" panose="02070309020205020404" pitchFamily="49" charset="0"/>
                </a:rPr>
                <a:t>w"</a:t>
              </a:r>
              <a:endParaRPr lang="nl-BE" dirty="0"/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445A500A-5E45-4827-9F7D-7790907E8D43}"/>
                </a:ext>
              </a:extLst>
            </p:cNvPr>
            <p:cNvCxnSpPr>
              <a:cxnSpLocks/>
              <a:stCxn id="23" idx="0"/>
            </p:cNvCxnSpPr>
            <p:nvPr/>
          </p:nvCxnSpPr>
          <p:spPr>
            <a:xfrm flipH="1" flipV="1">
              <a:off x="5172012" y="1949790"/>
              <a:ext cx="538890" cy="47196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90066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7F6CA-7AA7-4DD7-A1D6-F7C8383D22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Pass</a:t>
            </a:r>
            <a:r>
              <a:rPr lang="en-GB" dirty="0" err="1"/>
              <a:t>i</a:t>
            </a:r>
            <a:r>
              <a:rPr lang="en-BE" dirty="0"/>
              <a:t>n</a:t>
            </a:r>
            <a:r>
              <a:rPr lang="en-GB" dirty="0"/>
              <a:t>g</a:t>
            </a:r>
            <a:r>
              <a:rPr lang="en-BE" dirty="0"/>
              <a:t> </a:t>
            </a:r>
            <a:r>
              <a:rPr lang="en-GB" dirty="0"/>
              <a:t>s</a:t>
            </a:r>
            <a:r>
              <a:rPr lang="en-BE" dirty="0"/>
              <a:t>h</a:t>
            </a:r>
            <a:r>
              <a:rPr lang="en-GB" dirty="0"/>
              <a:t>a</a:t>
            </a:r>
            <a:r>
              <a:rPr lang="en-BE" dirty="0"/>
              <a:t>r</a:t>
            </a:r>
            <a:r>
              <a:rPr lang="en-GB" dirty="0"/>
              <a:t>e</a:t>
            </a:r>
            <a:r>
              <a:rPr lang="en-BE" dirty="0"/>
              <a:t>d </a:t>
            </a:r>
            <a:r>
              <a:rPr lang="en-GB" dirty="0"/>
              <a:t>m</a:t>
            </a:r>
            <a:r>
              <a:rPr lang="en-BE" dirty="0"/>
              <a:t>e</a:t>
            </a:r>
            <a:r>
              <a:rPr lang="en-GB" dirty="0"/>
              <a:t>m</a:t>
            </a:r>
            <a:r>
              <a:rPr lang="en-BE" dirty="0"/>
              <a:t>o</a:t>
            </a:r>
            <a:r>
              <a:rPr lang="en-GB" dirty="0"/>
              <a:t>r</a:t>
            </a:r>
            <a:r>
              <a:rPr lang="en-BE" dirty="0"/>
              <a:t>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4766F1E-6898-427E-8A54-44CF5A4E1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139</a:t>
            </a:fld>
            <a:endParaRPr lang="nl-BE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038E9AC-4591-457A-9FBA-B87B4C40AD5F}"/>
              </a:ext>
            </a:extLst>
          </p:cNvPr>
          <p:cNvSpPr txBox="1"/>
          <p:nvPr/>
        </p:nvSpPr>
        <p:spPr>
          <a:xfrm>
            <a:off x="270329" y="2279782"/>
            <a:ext cx="8594019" cy="230832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</a:t>
            </a:r>
            <a:endParaRPr lang="en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[(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z_shmem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n_shmem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endParaRPr lang="en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i*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work_size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min(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z_buf.size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(i + 1)*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work_size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i in range(int(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np.ceil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z_buf.size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work_size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)))] 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pid_counter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Counter()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pool.imap_unordered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compute_partial_julia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pid_counter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] += 1</a:t>
            </a:r>
            <a:endParaRPr lang="en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</a:t>
            </a:r>
            <a:endParaRPr lang="en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01CBC27-DCA9-4921-B71B-267BED7FD245}"/>
              </a:ext>
            </a:extLst>
          </p:cNvPr>
          <p:cNvGrpSpPr/>
          <p:nvPr/>
        </p:nvGrpSpPr>
        <p:grpSpPr>
          <a:xfrm>
            <a:off x="2752788" y="1811100"/>
            <a:ext cx="5646804" cy="726829"/>
            <a:chOff x="3552938" y="2421753"/>
            <a:chExt cx="5646804" cy="726829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186151A-C9D7-4E64-B48E-544376A2A179}"/>
                </a:ext>
              </a:extLst>
            </p:cNvPr>
            <p:cNvSpPr txBox="1"/>
            <p:nvPr/>
          </p:nvSpPr>
          <p:spPr>
            <a:xfrm>
              <a:off x="4901514" y="2421753"/>
              <a:ext cx="429822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>
                  <a:cs typeface="Courier New" panose="02070309020205020404" pitchFamily="49" charset="0"/>
                </a:rPr>
                <a:t>s</a:t>
              </a:r>
              <a:r>
                <a:rPr lang="en-BE" dirty="0">
                  <a:cs typeface="Courier New" panose="02070309020205020404" pitchFamily="49" charset="0"/>
                </a:rPr>
                <a:t>h</a:t>
              </a:r>
              <a:r>
                <a:rPr lang="en-GB" dirty="0">
                  <a:cs typeface="Courier New" panose="02070309020205020404" pitchFamily="49" charset="0"/>
                </a:rPr>
                <a:t>a</a:t>
              </a:r>
              <a:r>
                <a:rPr lang="en-BE" dirty="0">
                  <a:cs typeface="Courier New" panose="02070309020205020404" pitchFamily="49" charset="0"/>
                </a:rPr>
                <a:t>r</a:t>
              </a:r>
              <a:r>
                <a:rPr lang="en-GB" dirty="0">
                  <a:cs typeface="Courier New" panose="02070309020205020404" pitchFamily="49" charset="0"/>
                </a:rPr>
                <a:t>e</a:t>
              </a:r>
              <a:r>
                <a:rPr lang="en-BE" dirty="0">
                  <a:cs typeface="Courier New" panose="02070309020205020404" pitchFamily="49" charset="0"/>
                </a:rPr>
                <a:t>d </a:t>
              </a:r>
              <a:r>
                <a:rPr lang="en-GB" dirty="0">
                  <a:cs typeface="Courier New" panose="02070309020205020404" pitchFamily="49" charset="0"/>
                </a:rPr>
                <a:t>m</a:t>
              </a:r>
              <a:r>
                <a:rPr lang="en-BE" dirty="0">
                  <a:cs typeface="Courier New" panose="02070309020205020404" pitchFamily="49" charset="0"/>
                </a:rPr>
                <a:t>e</a:t>
              </a:r>
              <a:r>
                <a:rPr lang="en-GB" dirty="0">
                  <a:cs typeface="Courier New" panose="02070309020205020404" pitchFamily="49" charset="0"/>
                </a:rPr>
                <a:t>m</a:t>
              </a:r>
              <a:r>
                <a:rPr lang="en-BE" dirty="0">
                  <a:cs typeface="Courier New" panose="02070309020205020404" pitchFamily="49" charset="0"/>
                </a:rPr>
                <a:t>o</a:t>
              </a:r>
              <a:r>
                <a:rPr lang="en-GB" dirty="0">
                  <a:cs typeface="Courier New" panose="02070309020205020404" pitchFamily="49" charset="0"/>
                </a:rPr>
                <a:t>r</a:t>
              </a:r>
              <a:r>
                <a:rPr lang="en-BE" dirty="0">
                  <a:cs typeface="Courier New" panose="02070309020205020404" pitchFamily="49" charset="0"/>
                </a:rPr>
                <a:t>y </a:t>
              </a:r>
              <a:r>
                <a:rPr lang="en-GB" dirty="0">
                  <a:cs typeface="Courier New" panose="02070309020205020404" pitchFamily="49" charset="0"/>
                </a:rPr>
                <a:t>p</a:t>
              </a:r>
              <a:r>
                <a:rPr lang="en-BE" dirty="0">
                  <a:cs typeface="Courier New" panose="02070309020205020404" pitchFamily="49" charset="0"/>
                </a:rPr>
                <a:t>a</a:t>
              </a:r>
              <a:r>
                <a:rPr lang="en-GB" dirty="0">
                  <a:cs typeface="Courier New" panose="02070309020205020404" pitchFamily="49" charset="0"/>
                </a:rPr>
                <a:t>s</a:t>
              </a:r>
              <a:r>
                <a:rPr lang="en-BE" dirty="0">
                  <a:cs typeface="Courier New" panose="02070309020205020404" pitchFamily="49" charset="0"/>
                </a:rPr>
                <a:t>s</a:t>
              </a:r>
              <a:r>
                <a:rPr lang="en-GB" dirty="0">
                  <a:cs typeface="Courier New" panose="02070309020205020404" pitchFamily="49" charset="0"/>
                </a:rPr>
                <a:t>e</a:t>
              </a:r>
              <a:r>
                <a:rPr lang="en-BE" dirty="0">
                  <a:cs typeface="Courier New" panose="02070309020205020404" pitchFamily="49" charset="0"/>
                </a:rPr>
                <a:t>d </a:t>
              </a:r>
              <a:r>
                <a:rPr lang="en-GB" dirty="0">
                  <a:cs typeface="Courier New" panose="02070309020205020404" pitchFamily="49" charset="0"/>
                </a:rPr>
                <a:t>t</a:t>
              </a:r>
              <a:r>
                <a:rPr lang="en-BE" dirty="0">
                  <a:cs typeface="Courier New" panose="02070309020205020404" pitchFamily="49" charset="0"/>
                </a:rPr>
                <a:t>o </a:t>
              </a:r>
              <a:r>
                <a:rPr lang="en-GB" dirty="0">
                  <a:cs typeface="Courier New" panose="02070309020205020404" pitchFamily="49" charset="0"/>
                </a:rPr>
                <a:t>w</a:t>
              </a:r>
              <a:r>
                <a:rPr lang="en-BE" dirty="0">
                  <a:cs typeface="Courier New" panose="02070309020205020404" pitchFamily="49" charset="0"/>
                </a:rPr>
                <a:t>o</a:t>
              </a:r>
              <a:r>
                <a:rPr lang="en-GB" dirty="0">
                  <a:cs typeface="Courier New" panose="02070309020205020404" pitchFamily="49" charset="0"/>
                </a:rPr>
                <a:t>r</a:t>
              </a:r>
              <a:r>
                <a:rPr lang="en-BE" dirty="0">
                  <a:cs typeface="Courier New" panose="02070309020205020404" pitchFamily="49" charset="0"/>
                </a:rPr>
                <a:t>k</a:t>
              </a:r>
              <a:r>
                <a:rPr lang="en-GB" dirty="0">
                  <a:cs typeface="Courier New" panose="02070309020205020404" pitchFamily="49" charset="0"/>
                </a:rPr>
                <a:t>e</a:t>
              </a:r>
              <a:r>
                <a:rPr lang="en-BE" dirty="0">
                  <a:cs typeface="Courier New" panose="02070309020205020404" pitchFamily="49" charset="0"/>
                </a:rPr>
                <a:t>r </a:t>
              </a:r>
              <a:r>
                <a:rPr lang="en-GB" dirty="0">
                  <a:cs typeface="Courier New" panose="02070309020205020404" pitchFamily="49" charset="0"/>
                </a:rPr>
                <a:t>p</a:t>
              </a:r>
              <a:r>
                <a:rPr lang="en-BE" dirty="0" err="1">
                  <a:cs typeface="Courier New" panose="02070309020205020404" pitchFamily="49" charset="0"/>
                </a:rPr>
                <a:t>rocesses</a:t>
              </a:r>
              <a:endParaRPr lang="nl-BE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3F493936-33DE-4CCF-8916-8988A968A9D3}"/>
                </a:ext>
              </a:extLst>
            </p:cNvPr>
            <p:cNvCxnSpPr>
              <a:cxnSpLocks/>
              <a:stCxn id="10" idx="1"/>
            </p:cNvCxnSpPr>
            <p:nvPr/>
          </p:nvCxnSpPr>
          <p:spPr>
            <a:xfrm flipH="1">
              <a:off x="3552938" y="2606419"/>
              <a:ext cx="1348576" cy="54216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D097084-2FAE-409E-B9BE-09B61E7DD12E}"/>
              </a:ext>
            </a:extLst>
          </p:cNvPr>
          <p:cNvGrpSpPr/>
          <p:nvPr/>
        </p:nvGrpSpPr>
        <p:grpSpPr>
          <a:xfrm>
            <a:off x="3863130" y="4012166"/>
            <a:ext cx="3017429" cy="1143450"/>
            <a:chOff x="4901514" y="1647635"/>
            <a:chExt cx="3017429" cy="1143450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4D6C6F1-054F-412A-889D-704C97B12390}"/>
                </a:ext>
              </a:extLst>
            </p:cNvPr>
            <p:cNvSpPr txBox="1"/>
            <p:nvPr/>
          </p:nvSpPr>
          <p:spPr>
            <a:xfrm>
              <a:off x="4901514" y="2421753"/>
              <a:ext cx="301742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>
                  <a:cs typeface="Courier New" panose="02070309020205020404" pitchFamily="49" charset="0"/>
                </a:rPr>
                <a:t>e</a:t>
              </a:r>
              <a:r>
                <a:rPr lang="en-BE" dirty="0">
                  <a:cs typeface="Courier New" panose="02070309020205020404" pitchFamily="49" charset="0"/>
                </a:rPr>
                <a:t>x</a:t>
              </a:r>
              <a:r>
                <a:rPr lang="en-GB" dirty="0">
                  <a:cs typeface="Courier New" panose="02070309020205020404" pitchFamily="49" charset="0"/>
                </a:rPr>
                <a:t>e</a:t>
              </a:r>
              <a:r>
                <a:rPr lang="en-BE" dirty="0">
                  <a:cs typeface="Courier New" panose="02070309020205020404" pitchFamily="49" charset="0"/>
                </a:rPr>
                <a:t>c</a:t>
              </a:r>
              <a:r>
                <a:rPr lang="en-GB" dirty="0">
                  <a:cs typeface="Courier New" panose="02070309020205020404" pitchFamily="49" charset="0"/>
                </a:rPr>
                <a:t>u</a:t>
              </a:r>
              <a:r>
                <a:rPr lang="en-BE" dirty="0">
                  <a:cs typeface="Courier New" panose="02070309020205020404" pitchFamily="49" charset="0"/>
                </a:rPr>
                <a:t>t</a:t>
              </a:r>
              <a:r>
                <a:rPr lang="en-GB" dirty="0">
                  <a:cs typeface="Courier New" panose="02070309020205020404" pitchFamily="49" charset="0"/>
                </a:rPr>
                <a:t>e</a:t>
              </a:r>
              <a:r>
                <a:rPr lang="en-BE" dirty="0">
                  <a:cs typeface="Courier New" panose="02070309020205020404" pitchFamily="49" charset="0"/>
                </a:rPr>
                <a:t> </a:t>
              </a:r>
              <a:r>
                <a:rPr lang="en-GB" dirty="0">
                  <a:cs typeface="Courier New" panose="02070309020205020404" pitchFamily="49" charset="0"/>
                </a:rPr>
                <a:t>w</a:t>
              </a:r>
              <a:r>
                <a:rPr lang="en-BE" dirty="0">
                  <a:cs typeface="Courier New" panose="02070309020205020404" pitchFamily="49" charset="0"/>
                </a:rPr>
                <a:t>o</a:t>
              </a:r>
              <a:r>
                <a:rPr lang="en-GB" dirty="0">
                  <a:cs typeface="Courier New" panose="02070309020205020404" pitchFamily="49" charset="0"/>
                </a:rPr>
                <a:t>r</a:t>
              </a:r>
              <a:r>
                <a:rPr lang="en-BE" dirty="0">
                  <a:cs typeface="Courier New" panose="02070309020205020404" pitchFamily="49" charset="0"/>
                </a:rPr>
                <a:t>k, </a:t>
              </a:r>
              <a:r>
                <a:rPr lang="en-GB" dirty="0">
                  <a:cs typeface="Courier New" panose="02070309020205020404" pitchFamily="49" charset="0"/>
                </a:rPr>
                <a:t>o</a:t>
              </a:r>
              <a:r>
                <a:rPr lang="en-BE" dirty="0">
                  <a:cs typeface="Courier New" panose="02070309020205020404" pitchFamily="49" charset="0"/>
                </a:rPr>
                <a:t>r</a:t>
              </a:r>
              <a:r>
                <a:rPr lang="en-GB" dirty="0">
                  <a:cs typeface="Courier New" panose="02070309020205020404" pitchFamily="49" charset="0"/>
                </a:rPr>
                <a:t>d</a:t>
              </a:r>
              <a:r>
                <a:rPr lang="en-BE" dirty="0">
                  <a:cs typeface="Courier New" panose="02070309020205020404" pitchFamily="49" charset="0"/>
                </a:rPr>
                <a:t>e</a:t>
              </a:r>
              <a:r>
                <a:rPr lang="en-GB" dirty="0">
                  <a:cs typeface="Courier New" panose="02070309020205020404" pitchFamily="49" charset="0"/>
                </a:rPr>
                <a:t>r</a:t>
              </a:r>
              <a:r>
                <a:rPr lang="en-BE" dirty="0">
                  <a:cs typeface="Courier New" panose="02070309020205020404" pitchFamily="49" charset="0"/>
                </a:rPr>
                <a:t> </a:t>
              </a:r>
              <a:r>
                <a:rPr lang="en-GB" dirty="0" err="1">
                  <a:cs typeface="Courier New" panose="02070309020205020404" pitchFamily="49" charset="0"/>
                </a:rPr>
                <a:t>i</a:t>
              </a:r>
              <a:r>
                <a:rPr lang="en-BE" dirty="0">
                  <a:cs typeface="Courier New" panose="02070309020205020404" pitchFamily="49" charset="0"/>
                </a:rPr>
                <a:t>r</a:t>
              </a:r>
              <a:r>
                <a:rPr lang="en-GB" dirty="0">
                  <a:cs typeface="Courier New" panose="02070309020205020404" pitchFamily="49" charset="0"/>
                </a:rPr>
                <a:t>r</a:t>
              </a:r>
              <a:r>
                <a:rPr lang="en-BE" dirty="0">
                  <a:cs typeface="Courier New" panose="02070309020205020404" pitchFamily="49" charset="0"/>
                </a:rPr>
                <a:t>e</a:t>
              </a:r>
              <a:r>
                <a:rPr lang="en-GB" dirty="0">
                  <a:cs typeface="Courier New" panose="02070309020205020404" pitchFamily="49" charset="0"/>
                </a:rPr>
                <a:t>l</a:t>
              </a:r>
              <a:r>
                <a:rPr lang="en-BE" dirty="0">
                  <a:cs typeface="Courier New" panose="02070309020205020404" pitchFamily="49" charset="0"/>
                </a:rPr>
                <a:t>e</a:t>
              </a:r>
              <a:r>
                <a:rPr lang="en-GB" dirty="0">
                  <a:cs typeface="Courier New" panose="02070309020205020404" pitchFamily="49" charset="0"/>
                </a:rPr>
                <a:t>v</a:t>
              </a:r>
              <a:r>
                <a:rPr lang="en-BE" dirty="0">
                  <a:cs typeface="Courier New" panose="02070309020205020404" pitchFamily="49" charset="0"/>
                </a:rPr>
                <a:t>a</a:t>
              </a:r>
              <a:r>
                <a:rPr lang="en-GB" dirty="0">
                  <a:cs typeface="Courier New" panose="02070309020205020404" pitchFamily="49" charset="0"/>
                </a:rPr>
                <a:t>n</a:t>
              </a:r>
              <a:r>
                <a:rPr lang="en-BE" dirty="0">
                  <a:cs typeface="Courier New" panose="02070309020205020404" pitchFamily="49" charset="0"/>
                </a:rPr>
                <a:t>t</a:t>
              </a:r>
              <a:endParaRPr lang="nl-BE" dirty="0"/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445A500A-5E45-4827-9F7D-7790907E8D43}"/>
                </a:ext>
              </a:extLst>
            </p:cNvPr>
            <p:cNvCxnSpPr>
              <a:cxnSpLocks/>
              <a:stCxn id="23" idx="0"/>
            </p:cNvCxnSpPr>
            <p:nvPr/>
          </p:nvCxnSpPr>
          <p:spPr>
            <a:xfrm flipH="1" flipV="1">
              <a:off x="5139748" y="1647635"/>
              <a:ext cx="1270481" cy="774118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474213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7F6CA-7AA7-4DD7-A1D6-F7C8383D22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Us</a:t>
            </a:r>
            <a:r>
              <a:rPr lang="en-GB" dirty="0" err="1"/>
              <a:t>i</a:t>
            </a:r>
            <a:r>
              <a:rPr lang="en-BE" dirty="0"/>
              <a:t>n</a:t>
            </a:r>
            <a:r>
              <a:rPr lang="en-GB" dirty="0"/>
              <a:t>g</a:t>
            </a:r>
            <a:r>
              <a:rPr lang="en-BE" dirty="0"/>
              <a:t> </a:t>
            </a:r>
            <a:r>
              <a:rPr lang="en-GB" dirty="0"/>
              <a:t>s</a:t>
            </a:r>
            <a:r>
              <a:rPr lang="en-BE" dirty="0"/>
              <a:t>h</a:t>
            </a:r>
            <a:r>
              <a:rPr lang="en-GB" dirty="0"/>
              <a:t>a</a:t>
            </a:r>
            <a:r>
              <a:rPr lang="en-BE" dirty="0"/>
              <a:t>r</a:t>
            </a:r>
            <a:r>
              <a:rPr lang="en-GB" dirty="0"/>
              <a:t>e</a:t>
            </a:r>
            <a:r>
              <a:rPr lang="en-BE" dirty="0"/>
              <a:t>d </a:t>
            </a:r>
            <a:r>
              <a:rPr lang="en-GB" dirty="0"/>
              <a:t>m</a:t>
            </a:r>
            <a:r>
              <a:rPr lang="en-BE" dirty="0"/>
              <a:t>e</a:t>
            </a:r>
            <a:r>
              <a:rPr lang="en-GB" dirty="0"/>
              <a:t>m</a:t>
            </a:r>
            <a:r>
              <a:rPr lang="en-BE" dirty="0"/>
              <a:t>o</a:t>
            </a:r>
            <a:r>
              <a:rPr lang="en-GB" dirty="0"/>
              <a:t>r</a:t>
            </a:r>
            <a:r>
              <a:rPr lang="en-BE" dirty="0"/>
              <a:t>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4766F1E-6898-427E-8A54-44CF5A4E1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5080"/>
            <a:ext cx="2057400" cy="365125"/>
          </a:xfrm>
        </p:spPr>
        <p:txBody>
          <a:bodyPr/>
          <a:lstStyle/>
          <a:p>
            <a:fld id="{9CA8D7BD-8F5D-4544-8D4B-27B7BC6C32CD}" type="slidenum">
              <a:rPr lang="nl-BE" smtClean="0"/>
              <a:t>140</a:t>
            </a:fld>
            <a:endParaRPr lang="nl-BE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038E9AC-4591-457A-9FBA-B87B4C40AD5F}"/>
              </a:ext>
            </a:extLst>
          </p:cNvPr>
          <p:cNvSpPr txBox="1"/>
          <p:nvPr/>
        </p:nvSpPr>
        <p:spPr>
          <a:xfrm>
            <a:off x="270329" y="1627272"/>
            <a:ext cx="8456161" cy="480131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def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compute_partial_julia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(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args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):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z_shmem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,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n_shmem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,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idx_begin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,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idx_end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=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args</a:t>
            </a:r>
            <a:endParaRPr lang="en-GB" dirty="0">
              <a:latin typeface="Courier New" panose="02070309020205020404" pitchFamily="49" charset="0"/>
              <a:cs typeface="Courier New" panose="02070309020205020404" pitchFamily="49" charset="0"/>
              <a:sym typeface="Symbol" panose="05050102010706020507" pitchFamily="18" charset="2"/>
            </a:endParaRP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z_size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=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np.dtype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(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np.complex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).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itemsize</a:t>
            </a:r>
            <a:endParaRPr lang="en-GB" dirty="0">
              <a:latin typeface="Courier New" panose="02070309020205020404" pitchFamily="49" charset="0"/>
              <a:cs typeface="Courier New" panose="02070309020205020404" pitchFamily="49" charset="0"/>
              <a:sym typeface="Symbol" panose="05050102010706020507" pitchFamily="18" charset="2"/>
            </a:endParaRP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z_array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=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np.ndarray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(</a:t>
            </a:r>
            <a:endParaRPr lang="en-BE" dirty="0">
              <a:latin typeface="Courier New" panose="02070309020205020404" pitchFamily="49" charset="0"/>
              <a:cs typeface="Courier New" panose="02070309020205020404" pitchFamily="49" charset="0"/>
              <a:sym typeface="Symbol" panose="05050102010706020507" pitchFamily="18" charset="2"/>
            </a:endParaRPr>
          </a:p>
          <a:p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   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(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idx_end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-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idx_begin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, ),</a:t>
            </a:r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dtype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=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np.complex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,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    buffer=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z_shmem.buf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[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z_size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*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idx_begin:z_size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*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idx_end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]</a:t>
            </a:r>
            <a:endParaRPr lang="en-BE" dirty="0">
              <a:latin typeface="Courier New" panose="02070309020205020404" pitchFamily="49" charset="0"/>
              <a:cs typeface="Courier New" panose="02070309020205020404" pitchFamily="49" charset="0"/>
              <a:sym typeface="Symbol" panose="05050102010706020507" pitchFamily="18" charset="2"/>
            </a:endParaRPr>
          </a:p>
          <a:p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)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n_size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=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np.dtype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(np.int32).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itemsize</a:t>
            </a:r>
            <a:endParaRPr lang="en-GB" dirty="0">
              <a:latin typeface="Courier New" panose="02070309020205020404" pitchFamily="49" charset="0"/>
              <a:cs typeface="Courier New" panose="02070309020205020404" pitchFamily="49" charset="0"/>
              <a:sym typeface="Symbol" panose="05050102010706020507" pitchFamily="18" charset="2"/>
            </a:endParaRP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n =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np.ndarray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(</a:t>
            </a:r>
            <a:endParaRPr lang="en-BE" dirty="0">
              <a:latin typeface="Courier New" panose="02070309020205020404" pitchFamily="49" charset="0"/>
              <a:cs typeface="Courier New" panose="02070309020205020404" pitchFamily="49" charset="0"/>
              <a:sym typeface="Symbol" panose="05050102010706020507" pitchFamily="18" charset="2"/>
            </a:endParaRPr>
          </a:p>
          <a:p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   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(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idx_end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-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idx_begin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, ),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dtype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=np.int32,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    buffer=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n_shmem.buf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[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n_size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*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idx_begin:n_size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*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idx_end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]</a:t>
            </a:r>
            <a:endParaRPr lang="en-BE" dirty="0">
              <a:latin typeface="Courier New" panose="02070309020205020404" pitchFamily="49" charset="0"/>
              <a:cs typeface="Courier New" panose="02070309020205020404" pitchFamily="49" charset="0"/>
              <a:sym typeface="Symbol" panose="05050102010706020507" pitchFamily="18" charset="2"/>
            </a:endParaRPr>
          </a:p>
          <a:p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)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for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, z in enumerate(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z_array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):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    while (n[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] &lt;=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max_iters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and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np.abs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(z) &lt;=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max_norm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):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        z = z**2 - 0.622772 + 0.42193j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        n[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] += 1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   return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os.getpid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()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01CBC27-DCA9-4921-B71B-267BED7FD245}"/>
              </a:ext>
            </a:extLst>
          </p:cNvPr>
          <p:cNvGrpSpPr/>
          <p:nvPr/>
        </p:nvGrpSpPr>
        <p:grpSpPr>
          <a:xfrm>
            <a:off x="2104008" y="1316979"/>
            <a:ext cx="5382642" cy="769273"/>
            <a:chOff x="3611916" y="2421753"/>
            <a:chExt cx="5382642" cy="769273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186151A-C9D7-4E64-B48E-544376A2A179}"/>
                </a:ext>
              </a:extLst>
            </p:cNvPr>
            <p:cNvSpPr txBox="1"/>
            <p:nvPr/>
          </p:nvSpPr>
          <p:spPr>
            <a:xfrm>
              <a:off x="4901514" y="2421753"/>
              <a:ext cx="409304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>
                  <a:cs typeface="Courier New" panose="02070309020205020404" pitchFamily="49" charset="0"/>
                </a:rPr>
                <a:t>s</a:t>
              </a:r>
              <a:r>
                <a:rPr lang="en-BE" dirty="0">
                  <a:cs typeface="Courier New" panose="02070309020205020404" pitchFamily="49" charset="0"/>
                </a:rPr>
                <a:t>h</a:t>
              </a:r>
              <a:r>
                <a:rPr lang="en-GB" dirty="0">
                  <a:cs typeface="Courier New" panose="02070309020205020404" pitchFamily="49" charset="0"/>
                </a:rPr>
                <a:t>a</a:t>
              </a:r>
              <a:r>
                <a:rPr lang="en-BE" dirty="0">
                  <a:cs typeface="Courier New" panose="02070309020205020404" pitchFamily="49" charset="0"/>
                </a:rPr>
                <a:t>r</a:t>
              </a:r>
              <a:r>
                <a:rPr lang="en-GB" dirty="0">
                  <a:cs typeface="Courier New" panose="02070309020205020404" pitchFamily="49" charset="0"/>
                </a:rPr>
                <a:t>e</a:t>
              </a:r>
              <a:r>
                <a:rPr lang="en-BE" dirty="0">
                  <a:cs typeface="Courier New" panose="02070309020205020404" pitchFamily="49" charset="0"/>
                </a:rPr>
                <a:t>d </a:t>
              </a:r>
              <a:r>
                <a:rPr lang="en-GB" dirty="0">
                  <a:cs typeface="Courier New" panose="02070309020205020404" pitchFamily="49" charset="0"/>
                </a:rPr>
                <a:t>m</a:t>
              </a:r>
              <a:r>
                <a:rPr lang="en-BE" dirty="0">
                  <a:cs typeface="Courier New" panose="02070309020205020404" pitchFamily="49" charset="0"/>
                </a:rPr>
                <a:t>e</a:t>
              </a:r>
              <a:r>
                <a:rPr lang="en-GB" dirty="0">
                  <a:cs typeface="Courier New" panose="02070309020205020404" pitchFamily="49" charset="0"/>
                </a:rPr>
                <a:t>m</a:t>
              </a:r>
              <a:r>
                <a:rPr lang="en-BE" dirty="0">
                  <a:cs typeface="Courier New" panose="02070309020205020404" pitchFamily="49" charset="0"/>
                </a:rPr>
                <a:t>o</a:t>
              </a:r>
              <a:r>
                <a:rPr lang="en-GB" dirty="0">
                  <a:cs typeface="Courier New" panose="02070309020205020404" pitchFamily="49" charset="0"/>
                </a:rPr>
                <a:t>r</a:t>
              </a:r>
              <a:r>
                <a:rPr lang="en-BE" dirty="0">
                  <a:cs typeface="Courier New" panose="02070309020205020404" pitchFamily="49" charset="0"/>
                </a:rPr>
                <a:t>y </a:t>
              </a:r>
              <a:r>
                <a:rPr lang="en-GB" dirty="0">
                  <a:cs typeface="Courier New" panose="02070309020205020404" pitchFamily="49" charset="0"/>
                </a:rPr>
                <a:t>p</a:t>
              </a:r>
              <a:r>
                <a:rPr lang="en-BE" dirty="0">
                  <a:cs typeface="Courier New" panose="02070309020205020404" pitchFamily="49" charset="0"/>
                </a:rPr>
                <a:t>a</a:t>
              </a:r>
              <a:r>
                <a:rPr lang="en-GB" dirty="0">
                  <a:cs typeface="Courier New" panose="02070309020205020404" pitchFamily="49" charset="0"/>
                </a:rPr>
                <a:t>s</a:t>
              </a:r>
              <a:r>
                <a:rPr lang="en-BE" dirty="0">
                  <a:cs typeface="Courier New" panose="02070309020205020404" pitchFamily="49" charset="0"/>
                </a:rPr>
                <a:t>s</a:t>
              </a:r>
              <a:r>
                <a:rPr lang="en-GB" dirty="0">
                  <a:cs typeface="Courier New" panose="02070309020205020404" pitchFamily="49" charset="0"/>
                </a:rPr>
                <a:t>e</a:t>
              </a:r>
              <a:r>
                <a:rPr lang="en-BE" dirty="0">
                  <a:cs typeface="Courier New" panose="02070309020205020404" pitchFamily="49" charset="0"/>
                </a:rPr>
                <a:t>d </a:t>
              </a:r>
              <a:r>
                <a:rPr lang="en-GB" dirty="0">
                  <a:cs typeface="Courier New" panose="02070309020205020404" pitchFamily="49" charset="0"/>
                </a:rPr>
                <a:t>t</a:t>
              </a:r>
              <a:r>
                <a:rPr lang="en-BE" dirty="0">
                  <a:cs typeface="Courier New" panose="02070309020205020404" pitchFamily="49" charset="0"/>
                </a:rPr>
                <a:t>o </a:t>
              </a:r>
              <a:r>
                <a:rPr lang="en-GB" dirty="0">
                  <a:cs typeface="Courier New" panose="02070309020205020404" pitchFamily="49" charset="0"/>
                </a:rPr>
                <a:t>w</a:t>
              </a:r>
              <a:r>
                <a:rPr lang="en-BE" dirty="0">
                  <a:cs typeface="Courier New" panose="02070309020205020404" pitchFamily="49" charset="0"/>
                </a:rPr>
                <a:t>o</a:t>
              </a:r>
              <a:r>
                <a:rPr lang="en-GB" dirty="0">
                  <a:cs typeface="Courier New" panose="02070309020205020404" pitchFamily="49" charset="0"/>
                </a:rPr>
                <a:t>r</a:t>
              </a:r>
              <a:r>
                <a:rPr lang="en-BE" dirty="0">
                  <a:cs typeface="Courier New" panose="02070309020205020404" pitchFamily="49" charset="0"/>
                </a:rPr>
                <a:t>k</a:t>
              </a:r>
              <a:r>
                <a:rPr lang="en-GB" dirty="0">
                  <a:cs typeface="Courier New" panose="02070309020205020404" pitchFamily="49" charset="0"/>
                </a:rPr>
                <a:t>e</a:t>
              </a:r>
              <a:r>
                <a:rPr lang="en-BE" dirty="0">
                  <a:cs typeface="Courier New" panose="02070309020205020404" pitchFamily="49" charset="0"/>
                </a:rPr>
                <a:t>r </a:t>
              </a:r>
              <a:r>
                <a:rPr lang="en-GB" dirty="0">
                  <a:cs typeface="Courier New" panose="02070309020205020404" pitchFamily="49" charset="0"/>
                </a:rPr>
                <a:t>p</a:t>
              </a:r>
              <a:r>
                <a:rPr lang="en-BE" dirty="0" err="1">
                  <a:cs typeface="Courier New" panose="02070309020205020404" pitchFamily="49" charset="0"/>
                </a:rPr>
                <a:t>rocess</a:t>
              </a:r>
              <a:endParaRPr lang="nl-BE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3F493936-33DE-4CCF-8916-8988A968A9D3}"/>
                </a:ext>
              </a:extLst>
            </p:cNvPr>
            <p:cNvCxnSpPr>
              <a:cxnSpLocks/>
              <a:stCxn id="10" idx="1"/>
            </p:cNvCxnSpPr>
            <p:nvPr/>
          </p:nvCxnSpPr>
          <p:spPr>
            <a:xfrm flipH="1">
              <a:off x="3611916" y="2606419"/>
              <a:ext cx="1289598" cy="584607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D097084-2FAE-409E-B9BE-09B61E7DD12E}"/>
              </a:ext>
            </a:extLst>
          </p:cNvPr>
          <p:cNvGrpSpPr/>
          <p:nvPr/>
        </p:nvGrpSpPr>
        <p:grpSpPr>
          <a:xfrm>
            <a:off x="6267186" y="3446349"/>
            <a:ext cx="2785827" cy="615080"/>
            <a:chOff x="4901514" y="2176005"/>
            <a:chExt cx="2785827" cy="615080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4D6C6F1-054F-412A-889D-704C97B12390}"/>
                </a:ext>
              </a:extLst>
            </p:cNvPr>
            <p:cNvSpPr txBox="1"/>
            <p:nvPr/>
          </p:nvSpPr>
          <p:spPr>
            <a:xfrm>
              <a:off x="4901514" y="2421753"/>
              <a:ext cx="278582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>
                  <a:cs typeface="Courier New" panose="02070309020205020404" pitchFamily="49" charset="0"/>
                </a:rPr>
                <a:t>a</a:t>
              </a:r>
              <a:r>
                <a:rPr lang="en-BE" dirty="0">
                  <a:cs typeface="Courier New" panose="02070309020205020404" pitchFamily="49" charset="0"/>
                </a:rPr>
                <a:t>r</a:t>
              </a:r>
              <a:r>
                <a:rPr lang="en-GB" dirty="0">
                  <a:cs typeface="Courier New" panose="02070309020205020404" pitchFamily="49" charset="0"/>
                </a:rPr>
                <a:t>r</a:t>
              </a:r>
              <a:r>
                <a:rPr lang="en-BE" dirty="0">
                  <a:cs typeface="Courier New" panose="02070309020205020404" pitchFamily="49" charset="0"/>
                </a:rPr>
                <a:t>a</a:t>
              </a:r>
              <a:r>
                <a:rPr lang="en-GB" dirty="0">
                  <a:cs typeface="Courier New" panose="02070309020205020404" pitchFamily="49" charset="0"/>
                </a:rPr>
                <a:t>y</a:t>
              </a:r>
              <a:r>
                <a:rPr lang="en-BE" dirty="0">
                  <a:cs typeface="Courier New" panose="02070309020205020404" pitchFamily="49" charset="0"/>
                </a:rPr>
                <a:t> "</a:t>
              </a:r>
              <a:r>
                <a:rPr lang="en-GB" dirty="0">
                  <a:cs typeface="Courier New" panose="02070309020205020404" pitchFamily="49" charset="0"/>
                </a:rPr>
                <a:t>v</a:t>
              </a:r>
              <a:r>
                <a:rPr lang="en-BE" dirty="0" err="1">
                  <a:cs typeface="Courier New" panose="02070309020205020404" pitchFamily="49" charset="0"/>
                </a:rPr>
                <a:t>i</a:t>
              </a:r>
              <a:r>
                <a:rPr lang="en-GB" dirty="0">
                  <a:cs typeface="Courier New" panose="02070309020205020404" pitchFamily="49" charset="0"/>
                </a:rPr>
                <a:t>e</a:t>
              </a:r>
              <a:r>
                <a:rPr lang="en-BE" dirty="0">
                  <a:cs typeface="Courier New" panose="02070309020205020404" pitchFamily="49" charset="0"/>
                </a:rPr>
                <a:t>w" </a:t>
              </a:r>
              <a:r>
                <a:rPr lang="en-GB" dirty="0">
                  <a:cs typeface="Courier New" panose="02070309020205020404" pitchFamily="49" charset="0"/>
                </a:rPr>
                <a:t>o</a:t>
              </a:r>
              <a:r>
                <a:rPr lang="en-BE" dirty="0">
                  <a:cs typeface="Courier New" panose="02070309020205020404" pitchFamily="49" charset="0"/>
                </a:rPr>
                <a:t>n </a:t>
              </a:r>
              <a:r>
                <a:rPr lang="en-GB" dirty="0">
                  <a:cs typeface="Courier New" panose="02070309020205020404" pitchFamily="49" charset="0"/>
                </a:rPr>
                <a:t>w</a:t>
              </a:r>
              <a:r>
                <a:rPr lang="en-BE" dirty="0">
                  <a:cs typeface="Courier New" panose="02070309020205020404" pitchFamily="49" charset="0"/>
                </a:rPr>
                <a:t>o</a:t>
              </a:r>
              <a:r>
                <a:rPr lang="en-GB" dirty="0">
                  <a:cs typeface="Courier New" panose="02070309020205020404" pitchFamily="49" charset="0"/>
                </a:rPr>
                <a:t>r</a:t>
              </a:r>
              <a:r>
                <a:rPr lang="en-BE" dirty="0">
                  <a:cs typeface="Courier New" panose="02070309020205020404" pitchFamily="49" charset="0"/>
                </a:rPr>
                <a:t>k</a:t>
              </a:r>
              <a:r>
                <a:rPr lang="en-GB" dirty="0">
                  <a:cs typeface="Courier New" panose="02070309020205020404" pitchFamily="49" charset="0"/>
                </a:rPr>
                <a:t>e</a:t>
              </a:r>
              <a:r>
                <a:rPr lang="en-BE" dirty="0">
                  <a:cs typeface="Courier New" panose="02070309020205020404" pitchFamily="49" charset="0"/>
                </a:rPr>
                <a:t>r </a:t>
              </a:r>
              <a:r>
                <a:rPr lang="en-GB" dirty="0">
                  <a:cs typeface="Courier New" panose="02070309020205020404" pitchFamily="49" charset="0"/>
                </a:rPr>
                <a:t>p</a:t>
              </a:r>
              <a:r>
                <a:rPr lang="en-BE" dirty="0">
                  <a:cs typeface="Courier New" panose="02070309020205020404" pitchFamily="49" charset="0"/>
                </a:rPr>
                <a:t>a</a:t>
              </a:r>
              <a:r>
                <a:rPr lang="en-GB" dirty="0">
                  <a:cs typeface="Courier New" panose="02070309020205020404" pitchFamily="49" charset="0"/>
                </a:rPr>
                <a:t>r</a:t>
              </a:r>
              <a:r>
                <a:rPr lang="en-BE" dirty="0">
                  <a:cs typeface="Courier New" panose="02070309020205020404" pitchFamily="49" charset="0"/>
                </a:rPr>
                <a:t>t</a:t>
              </a:r>
              <a:endParaRPr lang="nl-BE" dirty="0"/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445A500A-5E45-4827-9F7D-7790907E8D43}"/>
                </a:ext>
              </a:extLst>
            </p:cNvPr>
            <p:cNvCxnSpPr>
              <a:cxnSpLocks/>
              <a:stCxn id="23" idx="0"/>
            </p:cNvCxnSpPr>
            <p:nvPr/>
          </p:nvCxnSpPr>
          <p:spPr>
            <a:xfrm flipH="1" flipV="1">
              <a:off x="5277724" y="2176005"/>
              <a:ext cx="1016704" cy="245748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69771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5D7B7-8AD5-488C-B83A-F284875DF1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S</a:t>
            </a:r>
            <a:r>
              <a:rPr lang="en-GB" dirty="0"/>
              <a:t>c</a:t>
            </a:r>
            <a:r>
              <a:rPr lang="en-BE" dirty="0"/>
              <a:t>a</a:t>
            </a:r>
            <a:r>
              <a:rPr lang="en-GB" dirty="0"/>
              <a:t>l</a:t>
            </a:r>
            <a:r>
              <a:rPr lang="en-BE" dirty="0" err="1"/>
              <a:t>i</a:t>
            </a:r>
            <a:r>
              <a:rPr lang="en-GB" dirty="0"/>
              <a:t>n</a:t>
            </a:r>
            <a:r>
              <a:rPr lang="en-BE" dirty="0"/>
              <a:t>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0223D6E-8772-4830-BFBE-8A5F5EC13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141</a:t>
            </a:fld>
            <a:endParaRPr lang="nl-BE"/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4604EFC8-4698-482E-85D5-0F05B0FF8337}"/>
              </a:ext>
            </a:extLst>
          </p:cNvPr>
          <p:cNvGraphicFramePr>
            <a:graphicFrameLocks/>
          </p:cNvGraphicFramePr>
          <p:nvPr/>
        </p:nvGraphicFramePr>
        <p:xfrm>
          <a:off x="2286000" y="2057400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91AB7FAE-A629-4E9C-901E-C578D3B7FCE3}"/>
              </a:ext>
            </a:extLst>
          </p:cNvPr>
          <p:cNvSpPr txBox="1"/>
          <p:nvPr/>
        </p:nvSpPr>
        <p:spPr>
          <a:xfrm>
            <a:off x="4419600" y="4736068"/>
            <a:ext cx="6846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cores</a:t>
            </a:r>
            <a:endParaRPr lang="nl-B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A0922C-9A8D-4DD8-863C-2D33DC3AD4F5}"/>
              </a:ext>
            </a:extLst>
          </p:cNvPr>
          <p:cNvSpPr txBox="1"/>
          <p:nvPr/>
        </p:nvSpPr>
        <p:spPr>
          <a:xfrm rot="16200000">
            <a:off x="1605044" y="3207224"/>
            <a:ext cx="99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speedup</a:t>
            </a:r>
            <a:endParaRPr lang="nl-BE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0013494-7216-4DAB-895C-1D3950BEBFD7}"/>
              </a:ext>
            </a:extLst>
          </p:cNvPr>
          <p:cNvGrpSpPr/>
          <p:nvPr/>
        </p:nvGrpSpPr>
        <p:grpSpPr>
          <a:xfrm>
            <a:off x="6858000" y="2038709"/>
            <a:ext cx="1991316" cy="369332"/>
            <a:chOff x="6858000" y="2038709"/>
            <a:chExt cx="1991316" cy="36933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FC295C5-2782-4785-A1F6-D3AD022E42A1}"/>
                </a:ext>
              </a:extLst>
            </p:cNvPr>
            <p:cNvSpPr txBox="1"/>
            <p:nvPr/>
          </p:nvSpPr>
          <p:spPr>
            <a:xfrm>
              <a:off x="7264715" y="2038709"/>
              <a:ext cx="158460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BE" dirty="0"/>
                <a:t>71 % </a:t>
              </a:r>
              <a:r>
                <a:rPr lang="en-GB" dirty="0"/>
                <a:t>e</a:t>
              </a:r>
              <a:r>
                <a:rPr lang="en-BE" dirty="0"/>
                <a:t>f</a:t>
              </a:r>
              <a:r>
                <a:rPr lang="en-GB" dirty="0"/>
                <a:t>f</a:t>
              </a:r>
              <a:r>
                <a:rPr lang="en-BE" dirty="0" err="1"/>
                <a:t>i</a:t>
              </a:r>
              <a:r>
                <a:rPr lang="en-GB" dirty="0"/>
                <a:t>c</a:t>
              </a:r>
              <a:r>
                <a:rPr lang="en-BE" dirty="0" err="1"/>
                <a:t>i</a:t>
              </a:r>
              <a:r>
                <a:rPr lang="en-GB" dirty="0"/>
                <a:t>e</a:t>
              </a:r>
              <a:r>
                <a:rPr lang="en-BE" dirty="0"/>
                <a:t>n</a:t>
              </a:r>
              <a:r>
                <a:rPr lang="en-GB" dirty="0"/>
                <a:t>c</a:t>
              </a:r>
              <a:r>
                <a:rPr lang="en-BE" dirty="0"/>
                <a:t>y</a:t>
              </a:r>
              <a:endParaRPr lang="nl-BE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7BE04612-88BB-4D63-872F-CE9FA5D2B7E1}"/>
                </a:ext>
              </a:extLst>
            </p:cNvPr>
            <p:cNvCxnSpPr>
              <a:cxnSpLocks/>
              <a:stCxn id="8" idx="1"/>
            </p:cNvCxnSpPr>
            <p:nvPr/>
          </p:nvCxnSpPr>
          <p:spPr>
            <a:xfrm flipH="1">
              <a:off x="6858000" y="2223375"/>
              <a:ext cx="406715" cy="18466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657436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futures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266832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Pools again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67562" y="1825625"/>
            <a:ext cx="7886700" cy="4351338"/>
          </a:xfrm>
        </p:spPr>
        <p:txBody>
          <a:bodyPr>
            <a:normAutofit/>
          </a:bodyPr>
          <a:lstStyle/>
          <a:p>
            <a:r>
              <a:rPr lang="en-US" dirty="0"/>
              <a:t>Very simple interface, asynchronous</a:t>
            </a:r>
          </a:p>
          <a:p>
            <a:r>
              <a:rPr lang="en-US" dirty="0"/>
              <a:t>Two types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ThreadPoolExecutor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ProcessPoolExecutor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Three methods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submit()</a:t>
            </a:r>
            <a:r>
              <a:rPr lang="en-US" dirty="0"/>
              <a:t>: call function on single argument, returns Future object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map()</a:t>
            </a:r>
            <a:r>
              <a:rPr lang="en-US" dirty="0"/>
              <a:t>: call function on each of </a:t>
            </a:r>
            <a:r>
              <a:rPr lang="en-US" dirty="0" err="1"/>
              <a:t>iterable</a:t>
            </a:r>
            <a:endParaRPr lang="en-US" dirty="0"/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shutdown()</a:t>
            </a:r>
            <a:r>
              <a:rPr lang="en-US" dirty="0">
                <a:cs typeface="Courier New" panose="02070309020205020404" pitchFamily="49" charset="0"/>
              </a:rPr>
              <a:t>:</a:t>
            </a:r>
            <a:r>
              <a:rPr lang="en-US" dirty="0"/>
              <a:t> stop pool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143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389751" y="5277496"/>
            <a:ext cx="3125599" cy="646331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Note: set </a:t>
            </a:r>
            <a:r>
              <a:rPr lang="en-US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chunksize</a:t>
            </a:r>
            <a:r>
              <a:rPr lang="en-US" dirty="0">
                <a:solidFill>
                  <a:srgbClr val="C00000"/>
                </a:solidFill>
              </a:rPr>
              <a:t> for </a:t>
            </a:r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map</a:t>
            </a:r>
            <a:br>
              <a:rPr lang="en-US" dirty="0">
                <a:solidFill>
                  <a:srgbClr val="C00000"/>
                </a:solidFill>
              </a:rPr>
            </a:br>
            <a:r>
              <a:rPr lang="en-US" dirty="0">
                <a:solidFill>
                  <a:srgbClr val="C00000"/>
                </a:solidFill>
              </a:rPr>
              <a:t>           default value is 1!</a:t>
            </a:r>
          </a:p>
        </p:txBody>
      </p:sp>
    </p:spTree>
    <p:extLst>
      <p:ext uri="{BB962C8B-B14F-4D97-AF65-F5344CB8AC3E}">
        <p14:creationId xmlns:p14="http://schemas.microsoft.com/office/powerpoint/2010/main" val="2993929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5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objects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Similar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multiprocessing.AsyncResult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Future</a:t>
            </a:r>
            <a:r>
              <a:rPr lang="en-US" dirty="0"/>
              <a:t> Methods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result()</a:t>
            </a:r>
            <a:r>
              <a:rPr lang="en-US" dirty="0"/>
              <a:t>: waits for and returns result, takes optional time out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done()</a:t>
            </a:r>
            <a:r>
              <a:rPr lang="en-US" dirty="0"/>
              <a:t>: True when done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running()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/>
              <a:t> when running and </a:t>
            </a:r>
            <a:r>
              <a:rPr lang="en-US" dirty="0" err="1"/>
              <a:t>can not</a:t>
            </a:r>
            <a:r>
              <a:rPr lang="en-US" dirty="0"/>
              <a:t> be cancelled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cancel()</a:t>
            </a:r>
            <a:r>
              <a:rPr lang="en-US" dirty="0"/>
              <a:t>: try to cancel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cancelled()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/>
              <a:t> when successfully cancelled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100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ahoma"/>
                <a:ea typeface="Tahoma"/>
                <a:cs typeface="Tahoma"/>
                <a:sym typeface="Symbol"/>
              </a:rPr>
              <a:t></a:t>
            </a:r>
            <a:r>
              <a:rPr lang="en-US" dirty="0"/>
              <a:t> from the future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76200" y="1600200"/>
            <a:ext cx="9007594" cy="258532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partial_pi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=(1000, )):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nr_tries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[0]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nr_hits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0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_ in range(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nr_tries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x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random.random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random.random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x**2 + y**2 &lt; 1.0: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nr_hits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+= 1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4.0*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nr_hits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nr_tries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6200" y="4417874"/>
            <a:ext cx="9007594" cy="1754326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nr_tries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=10000,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pool_size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ProcessPoolExecutor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max_workers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pool_size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 as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executor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[(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nr_tries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pool_size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_ in range(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pool_size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)]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results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executor.map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partial_pi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return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results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)/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pool_size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145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2290916" y="6352144"/>
            <a:ext cx="528824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One argument per process, so default </a:t>
            </a:r>
            <a:r>
              <a:rPr lang="en-US" dirty="0" err="1"/>
              <a:t>chunksize</a:t>
            </a:r>
            <a:r>
              <a:rPr lang="en-US" dirty="0"/>
              <a:t> is fine</a:t>
            </a:r>
          </a:p>
        </p:txBody>
      </p:sp>
    </p:spTree>
    <p:extLst>
      <p:ext uri="{BB962C8B-B14F-4D97-AF65-F5344CB8AC3E}">
        <p14:creationId xmlns:p14="http://schemas.microsoft.com/office/powerpoint/2010/main" val="1295945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Multicore conclusions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multithreading of libraries if available</a:t>
            </a:r>
          </a:p>
          <a:p>
            <a:r>
              <a:rPr lang="en-US" dirty="0"/>
              <a:t>Considerations for multiprocessing</a:t>
            </a:r>
          </a:p>
          <a:p>
            <a:pPr lvl="1"/>
            <a:r>
              <a:rPr lang="en-US" dirty="0"/>
              <a:t>Process creation is costly!</a:t>
            </a:r>
          </a:p>
          <a:p>
            <a:pPr lvl="2"/>
            <a:r>
              <a:rPr lang="en-US" dirty="0"/>
              <a:t>Computational task should warrant it</a:t>
            </a:r>
          </a:p>
          <a:p>
            <a:pPr lvl="1"/>
            <a:r>
              <a:rPr lang="en-US" dirty="0"/>
              <a:t>Locking takes time!</a:t>
            </a:r>
          </a:p>
          <a:p>
            <a:pPr lvl="2"/>
            <a:r>
              <a:rPr lang="en-US" dirty="0"/>
              <a:t>Share as little as possible</a:t>
            </a:r>
          </a:p>
          <a:p>
            <a:pPr lvl="1"/>
            <a:r>
              <a:rPr lang="en-US" dirty="0"/>
              <a:t>Best for coarse grained parallelism</a:t>
            </a:r>
          </a:p>
          <a:p>
            <a:pPr lvl="1"/>
            <a:r>
              <a:rPr lang="en-US" dirty="0"/>
              <a:t>Obviously limited to a single compute node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0097523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Dask</a:t>
            </a:r>
            <a:r>
              <a:rPr lang="en-US" dirty="0"/>
              <a:t> for out-of-core &amp; distributed computing</a:t>
            </a:r>
            <a:endParaRPr lang="nl-B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BE" sz="1400" dirty="0">
                <a:hlinkClick r:id="rId3"/>
              </a:rPr>
              <a:t>https://github.com/gjbex/Python-forHPC/tree/master/source-code/dask</a:t>
            </a:r>
            <a:r>
              <a:rPr lang="nl-BE" sz="1400" dirty="0"/>
              <a:t> 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5336380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 sets can be very large</a:t>
            </a:r>
          </a:p>
          <a:p>
            <a:pPr lvl="1"/>
            <a:r>
              <a:rPr lang="en-US" dirty="0"/>
              <a:t>many files</a:t>
            </a:r>
          </a:p>
          <a:p>
            <a:pPr lvl="1"/>
            <a:r>
              <a:rPr lang="en-US" dirty="0"/>
              <a:t>large files</a:t>
            </a:r>
          </a:p>
          <a:p>
            <a:pPr lvl="1"/>
            <a:r>
              <a:rPr lang="en-US" dirty="0"/>
              <a:t>entire set doesn't fit in RAM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Computation can be decomposed into graph of subtasks</a:t>
            </a:r>
          </a:p>
          <a:p>
            <a:pPr lvl="1"/>
            <a:r>
              <a:rPr lang="en-US" dirty="0"/>
              <a:t>some (maybe many) subtasks can be done in parallel</a:t>
            </a:r>
          </a:p>
          <a:p>
            <a:pPr lvl="1"/>
            <a:endParaRPr lang="en-US" dirty="0"/>
          </a:p>
          <a:p>
            <a:pPr lvl="2"/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143597" y="3492730"/>
            <a:ext cx="4620490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3200" dirty="0"/>
              <a:t>Out-of-core computation</a:t>
            </a:r>
            <a:endParaRPr lang="nl-BE" sz="32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148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2011680" y="5575562"/>
            <a:ext cx="5752408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3200" dirty="0"/>
              <a:t>Parallel/distributed computation</a:t>
            </a:r>
            <a:endParaRPr lang="nl-BE" sz="3200" dirty="0"/>
          </a:p>
        </p:txBody>
      </p:sp>
    </p:spTree>
    <p:extLst>
      <p:ext uri="{BB962C8B-B14F-4D97-AF65-F5344CB8AC3E}">
        <p14:creationId xmlns:p14="http://schemas.microsoft.com/office/powerpoint/2010/main" val="1222949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6" grpId="0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 of core computation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set: time series in CSV files</a:t>
            </a:r>
          </a:p>
          <a:p>
            <a:pPr lvl="1"/>
            <a:r>
              <a:rPr lang="en-US" dirty="0"/>
              <a:t>time stamp + 100 variables</a:t>
            </a:r>
          </a:p>
          <a:p>
            <a:pPr lvl="1"/>
            <a:r>
              <a:rPr lang="en-US" dirty="0"/>
              <a:t>200000 measurements/file</a:t>
            </a:r>
          </a:p>
          <a:p>
            <a:pPr lvl="1"/>
            <a:r>
              <a:rPr lang="en-US" dirty="0"/>
              <a:t>800 files</a:t>
            </a:r>
          </a:p>
          <a:p>
            <a:pPr lvl="1"/>
            <a:r>
              <a:rPr lang="en-US" dirty="0"/>
              <a:t>data spans 12 months period</a:t>
            </a:r>
          </a:p>
          <a:p>
            <a:r>
              <a:rPr lang="en-US" dirty="0"/>
              <a:t>Task:</a:t>
            </a:r>
            <a:br>
              <a:rPr lang="en-US" dirty="0"/>
            </a:br>
            <a:r>
              <a:rPr lang="en-US" dirty="0"/>
              <a:t>compute average of each variable, grouped by month</a:t>
            </a:r>
          </a:p>
          <a:p>
            <a:pPr lvl="1"/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5270269" y="2763031"/>
            <a:ext cx="108074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289 GB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31520" y="5569527"/>
            <a:ext cx="155844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 dirty="0">
                <a:solidFill>
                  <a:srgbClr val="C00000"/>
                </a:solidFill>
              </a:rPr>
              <a:t>memory!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1188720" y="5569527"/>
            <a:ext cx="5501240" cy="523220"/>
            <a:chOff x="1188720" y="5569527"/>
            <a:chExt cx="5501240" cy="523220"/>
          </a:xfrm>
        </p:grpSpPr>
        <p:sp>
          <p:nvSpPr>
            <p:cNvPr id="5" name="TextBox 4"/>
            <p:cNvSpPr txBox="1"/>
            <p:nvPr/>
          </p:nvSpPr>
          <p:spPr>
            <a:xfrm>
              <a:off x="1188720" y="5569527"/>
              <a:ext cx="394390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Trivial using pandas, but…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1188720" y="5569527"/>
              <a:ext cx="5501240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149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074212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6" grpId="0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Dask</a:t>
            </a:r>
            <a:r>
              <a:rPr lang="en-US" dirty="0"/>
              <a:t>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2848" y="2400019"/>
            <a:ext cx="6939720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itchFamily="49" charset="0"/>
                <a:cs typeface="Courier New" pitchFamily="49" charset="0"/>
              </a:rPr>
              <a:t>import dask.dataframe as dd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df = dd.read_csv('data/time_series_*.csv',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         parse_dates=['timestamp'])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result = df.groupby(df.timestamp.dt.month).mean()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result.compute().to_csv('data/result.csv')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6156882" y="2135337"/>
            <a:ext cx="1938479" cy="937845"/>
            <a:chOff x="224095" y="3885436"/>
            <a:chExt cx="1938479" cy="937845"/>
          </a:xfrm>
        </p:grpSpPr>
        <p:sp>
          <p:nvSpPr>
            <p:cNvPr id="6" name="TextBox 5"/>
            <p:cNvSpPr txBox="1"/>
            <p:nvPr/>
          </p:nvSpPr>
          <p:spPr>
            <a:xfrm>
              <a:off x="224095" y="3885436"/>
              <a:ext cx="1938479" cy="40011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0070C0"/>
                  </a:solidFill>
                </a:rPr>
                <a:t>files not yet read</a:t>
              </a:r>
              <a:endParaRPr lang="nl-BE" sz="2000" dirty="0">
                <a:solidFill>
                  <a:srgbClr val="0070C0"/>
                </a:solidFill>
              </a:endParaRPr>
            </a:p>
          </p:txBody>
        </p:sp>
        <p:cxnSp>
          <p:nvCxnSpPr>
            <p:cNvPr id="7" name="Straight Arrow Connector 6"/>
            <p:cNvCxnSpPr>
              <a:stCxn id="6" idx="2"/>
            </p:cNvCxnSpPr>
            <p:nvPr/>
          </p:nvCxnSpPr>
          <p:spPr>
            <a:xfrm flipH="1">
              <a:off x="300010" y="4285546"/>
              <a:ext cx="893325" cy="537735"/>
            </a:xfrm>
            <a:prstGeom prst="straightConnector1">
              <a:avLst/>
            </a:prstGeom>
            <a:ln w="22225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Group 7"/>
          <p:cNvGrpSpPr/>
          <p:nvPr/>
        </p:nvGrpSpPr>
        <p:grpSpPr>
          <a:xfrm>
            <a:off x="6032160" y="3807229"/>
            <a:ext cx="3008259" cy="808453"/>
            <a:chOff x="224095" y="3477093"/>
            <a:chExt cx="3008259" cy="808453"/>
          </a:xfrm>
        </p:grpSpPr>
        <p:sp>
          <p:nvSpPr>
            <p:cNvPr id="9" name="TextBox 8"/>
            <p:cNvSpPr txBox="1"/>
            <p:nvPr/>
          </p:nvSpPr>
          <p:spPr>
            <a:xfrm>
              <a:off x="224095" y="3885436"/>
              <a:ext cx="3008259" cy="40011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0070C0"/>
                  </a:solidFill>
                </a:rPr>
                <a:t>computations not yet done</a:t>
              </a:r>
              <a:endParaRPr lang="nl-BE" sz="2000" dirty="0">
                <a:solidFill>
                  <a:srgbClr val="0070C0"/>
                </a:solidFill>
              </a:endParaRPr>
            </a:p>
          </p:txBody>
        </p:sp>
        <p:cxnSp>
          <p:nvCxnSpPr>
            <p:cNvPr id="10" name="Straight Arrow Connector 9"/>
            <p:cNvCxnSpPr>
              <a:stCxn id="9" idx="0"/>
            </p:cNvCxnSpPr>
            <p:nvPr/>
          </p:nvCxnSpPr>
          <p:spPr>
            <a:xfrm flipH="1" flipV="1">
              <a:off x="1083186" y="3477093"/>
              <a:ext cx="645039" cy="408343"/>
            </a:xfrm>
            <a:prstGeom prst="straightConnector1">
              <a:avLst/>
            </a:prstGeom>
            <a:ln w="22225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2513137" y="4113968"/>
            <a:ext cx="3220433" cy="896192"/>
            <a:chOff x="224095" y="3389354"/>
            <a:chExt cx="3220433" cy="896192"/>
          </a:xfrm>
        </p:grpSpPr>
        <p:sp>
          <p:nvSpPr>
            <p:cNvPr id="14" name="TextBox 13"/>
            <p:cNvSpPr txBox="1"/>
            <p:nvPr/>
          </p:nvSpPr>
          <p:spPr>
            <a:xfrm>
              <a:off x="224095" y="3885436"/>
              <a:ext cx="3220433" cy="40011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computations are carried out</a:t>
              </a:r>
              <a:endParaRPr lang="nl-BE" sz="2000" dirty="0">
                <a:solidFill>
                  <a:srgbClr val="C00000"/>
                </a:solidFill>
              </a:endParaRPr>
            </a:p>
          </p:txBody>
        </p:sp>
        <p:cxnSp>
          <p:nvCxnSpPr>
            <p:cNvPr id="15" name="Straight Arrow Connector 14"/>
            <p:cNvCxnSpPr>
              <a:stCxn id="14" idx="0"/>
            </p:cNvCxnSpPr>
            <p:nvPr/>
          </p:nvCxnSpPr>
          <p:spPr>
            <a:xfrm flipH="1" flipV="1">
              <a:off x="1196765" y="3389354"/>
              <a:ext cx="637547" cy="496082"/>
            </a:xfrm>
            <a:prstGeom prst="straightConnector1">
              <a:avLst/>
            </a:prstGeom>
            <a:ln w="2222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TextBox 16"/>
          <p:cNvSpPr txBox="1"/>
          <p:nvPr/>
        </p:nvSpPr>
        <p:spPr>
          <a:xfrm>
            <a:off x="3424558" y="5267661"/>
            <a:ext cx="3596369" cy="13234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Entire computation decomposed</a:t>
            </a:r>
            <a:br>
              <a:rPr lang="en-US" sz="2000" dirty="0"/>
            </a:br>
            <a:r>
              <a:rPr lang="en-US" sz="2000" dirty="0"/>
              <a:t>into subtasks that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fit in RAM,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can be done in parallel</a:t>
            </a:r>
          </a:p>
        </p:txBody>
      </p:sp>
      <p:grpSp>
        <p:nvGrpSpPr>
          <p:cNvPr id="29" name="Group 28"/>
          <p:cNvGrpSpPr/>
          <p:nvPr/>
        </p:nvGrpSpPr>
        <p:grpSpPr>
          <a:xfrm>
            <a:off x="507076" y="1453670"/>
            <a:ext cx="4532804" cy="2660298"/>
            <a:chOff x="507076" y="1453670"/>
            <a:chExt cx="4532804" cy="2660298"/>
          </a:xfrm>
        </p:grpSpPr>
        <p:grpSp>
          <p:nvGrpSpPr>
            <p:cNvPr id="21" name="Group 20"/>
            <p:cNvGrpSpPr/>
            <p:nvPr/>
          </p:nvGrpSpPr>
          <p:grpSpPr>
            <a:xfrm>
              <a:off x="507076" y="2400019"/>
              <a:ext cx="3773979" cy="1713949"/>
              <a:chOff x="507076" y="2400019"/>
              <a:chExt cx="3773979" cy="1713949"/>
            </a:xfrm>
          </p:grpSpPr>
          <p:sp>
            <p:nvSpPr>
              <p:cNvPr id="18" name="Rounded Rectangle 17"/>
              <p:cNvSpPr/>
              <p:nvPr/>
            </p:nvSpPr>
            <p:spPr>
              <a:xfrm>
                <a:off x="507076" y="2400019"/>
                <a:ext cx="3773979" cy="343181"/>
              </a:xfrm>
              <a:prstGeom prst="roundRect">
                <a:avLst/>
              </a:prstGeom>
              <a:solidFill>
                <a:srgbClr val="C00000">
                  <a:alpha val="21000"/>
                </a:srgbClr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Rounded Rectangle 18"/>
              <p:cNvSpPr/>
              <p:nvPr/>
            </p:nvSpPr>
            <p:spPr>
              <a:xfrm>
                <a:off x="1326049" y="3770787"/>
                <a:ext cx="1348786" cy="343181"/>
              </a:xfrm>
              <a:prstGeom prst="roundRect">
                <a:avLst/>
              </a:prstGeom>
              <a:solidFill>
                <a:srgbClr val="C00000">
                  <a:alpha val="21000"/>
                </a:srgbClr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ounded Rectangle 19"/>
              <p:cNvSpPr/>
              <p:nvPr/>
            </p:nvSpPr>
            <p:spPr>
              <a:xfrm>
                <a:off x="1095951" y="2958943"/>
                <a:ext cx="493567" cy="343181"/>
              </a:xfrm>
              <a:prstGeom prst="roundRect">
                <a:avLst/>
              </a:prstGeom>
              <a:solidFill>
                <a:srgbClr val="C00000">
                  <a:alpha val="21000"/>
                </a:srgbClr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2" name="Group 21"/>
            <p:cNvGrpSpPr/>
            <p:nvPr/>
          </p:nvGrpSpPr>
          <p:grpSpPr>
            <a:xfrm>
              <a:off x="2366841" y="1453670"/>
              <a:ext cx="2673039" cy="880856"/>
              <a:chOff x="-747932" y="3885436"/>
              <a:chExt cx="2673039" cy="880856"/>
            </a:xfrm>
          </p:grpSpPr>
          <p:sp>
            <p:nvSpPr>
              <p:cNvPr id="23" name="TextBox 22"/>
              <p:cNvSpPr txBox="1"/>
              <p:nvPr/>
            </p:nvSpPr>
            <p:spPr>
              <a:xfrm>
                <a:off x="-747932" y="3885436"/>
                <a:ext cx="2673039" cy="40011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differences with pandas</a:t>
                </a:r>
                <a:endParaRPr lang="nl-BE" sz="2000" dirty="0">
                  <a:solidFill>
                    <a:srgbClr val="C00000"/>
                  </a:solidFill>
                </a:endParaRPr>
              </a:p>
            </p:txBody>
          </p:sp>
          <p:cxnSp>
            <p:nvCxnSpPr>
              <p:cNvPr id="24" name="Straight Arrow Connector 23"/>
              <p:cNvCxnSpPr>
                <a:stCxn id="23" idx="2"/>
              </p:cNvCxnSpPr>
              <p:nvPr/>
            </p:nvCxnSpPr>
            <p:spPr>
              <a:xfrm flipH="1">
                <a:off x="-47377" y="4285546"/>
                <a:ext cx="635965" cy="480746"/>
              </a:xfrm>
              <a:prstGeom prst="straightConnector1">
                <a:avLst/>
              </a:prstGeom>
              <a:ln w="22225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150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914882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pandas</a:t>
            </a:r>
          </a:p>
          <a:p>
            <a:pPr lvl="1"/>
            <a:r>
              <a:rPr lang="en-US" dirty="0"/>
              <a:t>800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7.29s = 5832s </a:t>
            </a:r>
            <a:r>
              <a:rPr lang="en-US" dirty="0">
                <a:sym typeface="Symbol" panose="05050102010706020507" pitchFamily="18" charset="2"/>
              </a:rPr>
              <a:t></a:t>
            </a:r>
            <a:r>
              <a:rPr lang="en-US" dirty="0"/>
              <a:t> 1 hour, 37 minutes</a:t>
            </a:r>
          </a:p>
          <a:p>
            <a:pPr lvl="1"/>
            <a:r>
              <a:rPr lang="pt-BR" dirty="0"/>
              <a:t>Intel E5-2680v2 @ 2.80GHz, 1 core</a:t>
            </a:r>
            <a:endParaRPr lang="en-US" dirty="0"/>
          </a:p>
          <a:p>
            <a:r>
              <a:rPr lang="en-US" dirty="0" err="1"/>
              <a:t>Dask</a:t>
            </a:r>
            <a:endParaRPr lang="en-US" dirty="0"/>
          </a:p>
          <a:p>
            <a:pPr lvl="1"/>
            <a:r>
              <a:rPr lang="en-US" dirty="0"/>
              <a:t>16 minutes</a:t>
            </a:r>
          </a:p>
          <a:p>
            <a:pPr lvl="1"/>
            <a:r>
              <a:rPr lang="en-US" dirty="0"/>
              <a:t>dual socket </a:t>
            </a:r>
            <a:r>
              <a:rPr lang="pt-BR" dirty="0"/>
              <a:t>Intel E5-2680v2 @ 2.80GHz, 20 cores</a:t>
            </a:r>
          </a:p>
          <a:p>
            <a:r>
              <a:rPr lang="pt-BR" dirty="0"/>
              <a:t>Speedup: 6 times</a:t>
            </a:r>
          </a:p>
          <a:p>
            <a:pPr lvl="1"/>
            <a:r>
              <a:rPr lang="pt-BR" dirty="0"/>
              <a:t>parallel efficiency: 30 %</a:t>
            </a: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3948545" y="5372304"/>
            <a:ext cx="3284361" cy="461665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</a:rPr>
              <a:t>Not great, but I/O bound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48545" y="1366492"/>
            <a:ext cx="4357988" cy="830997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</a:rPr>
              <a:t>more code: read files one by one,</a:t>
            </a:r>
            <a:br>
              <a:rPr lang="en-US" sz="2400" dirty="0">
                <a:solidFill>
                  <a:srgbClr val="C00000"/>
                </a:solidFill>
              </a:rPr>
            </a:br>
            <a:r>
              <a:rPr lang="en-US" sz="2400" dirty="0">
                <a:solidFill>
                  <a:srgbClr val="C00000"/>
                </a:solidFill>
              </a:rPr>
              <a:t>how to do group-by?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151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72655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Dask</a:t>
            </a:r>
            <a:r>
              <a:rPr lang="en-US" dirty="0"/>
              <a:t> supports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dataframe</a:t>
            </a:r>
            <a:r>
              <a:rPr lang="en-US" dirty="0"/>
              <a:t> (</a:t>
            </a:r>
            <a:r>
              <a:rPr lang="en-US" dirty="0" err="1"/>
              <a:t>cfr</a:t>
            </a:r>
            <a:r>
              <a:rPr lang="en-US" dirty="0"/>
              <a:t>.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pandas.DataFrame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from e.g., CSV files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en-US" dirty="0"/>
              <a:t> (</a:t>
            </a:r>
            <a:r>
              <a:rPr lang="en-US" dirty="0" err="1"/>
              <a:t>cfr</a:t>
            </a:r>
            <a:r>
              <a:rPr lang="en-US" dirty="0"/>
              <a:t>.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numpy.ndarray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from e.g., HDF5 files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bag</a:t>
            </a:r>
            <a:r>
              <a:rPr lang="en-US" dirty="0">
                <a:cs typeface="Courier New" panose="02070309020205020404" pitchFamily="49" charset="0"/>
              </a:rPr>
              <a:t>: set-like operations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delayed</a:t>
            </a:r>
            <a:r>
              <a:rPr lang="en-US" dirty="0"/>
              <a:t>: parts to be composed later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152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90031470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Dask</a:t>
            </a:r>
            <a:r>
              <a:rPr lang="en-US" dirty="0"/>
              <a:t>: distributed computing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Components</a:t>
            </a:r>
          </a:p>
          <a:p>
            <a:pPr lvl="1"/>
            <a:r>
              <a:rPr lang="en-US" dirty="0"/>
              <a:t>scheduler</a:t>
            </a:r>
          </a:p>
          <a:p>
            <a:pPr lvl="1"/>
            <a:r>
              <a:rPr lang="en-US" dirty="0"/>
              <a:t>workers</a:t>
            </a:r>
          </a:p>
          <a:p>
            <a:pPr lvl="1"/>
            <a:r>
              <a:rPr lang="en-US" dirty="0"/>
              <a:t>client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6422" y="4926067"/>
            <a:ext cx="70032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client</a:t>
            </a:r>
          </a:p>
        </p:txBody>
      </p:sp>
      <p:sp>
        <p:nvSpPr>
          <p:cNvPr id="5" name="Can 4"/>
          <p:cNvSpPr/>
          <p:nvPr/>
        </p:nvSpPr>
        <p:spPr>
          <a:xfrm>
            <a:off x="3059084" y="3150525"/>
            <a:ext cx="1180407" cy="1097280"/>
          </a:xfrm>
          <a:prstGeom prst="can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scheduler</a:t>
            </a:r>
          </a:p>
        </p:txBody>
      </p:sp>
      <p:grpSp>
        <p:nvGrpSpPr>
          <p:cNvPr id="35" name="Group 34"/>
          <p:cNvGrpSpPr/>
          <p:nvPr/>
        </p:nvGrpSpPr>
        <p:grpSpPr>
          <a:xfrm>
            <a:off x="5469774" y="2192976"/>
            <a:ext cx="1390669" cy="2680276"/>
            <a:chOff x="5469774" y="2192976"/>
            <a:chExt cx="1390669" cy="2680276"/>
          </a:xfrm>
        </p:grpSpPr>
        <p:sp>
          <p:nvSpPr>
            <p:cNvPr id="6" name="Rounded Rectangle 5"/>
            <p:cNvSpPr/>
            <p:nvPr/>
          </p:nvSpPr>
          <p:spPr>
            <a:xfrm>
              <a:off x="5469774" y="2192976"/>
              <a:ext cx="955963" cy="407323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worker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5904480" y="2917821"/>
              <a:ext cx="955963" cy="407323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worker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899439" y="3709040"/>
              <a:ext cx="955963" cy="407323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worker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5469774" y="4465929"/>
              <a:ext cx="955963" cy="407323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worker</a:t>
              </a:r>
            </a:p>
          </p:txBody>
        </p:sp>
      </p:grpSp>
      <p:grpSp>
        <p:nvGrpSpPr>
          <p:cNvPr id="16" name="Group 15"/>
          <p:cNvGrpSpPr/>
          <p:nvPr/>
        </p:nvGrpSpPr>
        <p:grpSpPr>
          <a:xfrm>
            <a:off x="1734816" y="4001294"/>
            <a:ext cx="1158013" cy="770211"/>
            <a:chOff x="1734816" y="4001294"/>
            <a:chExt cx="1158013" cy="770211"/>
          </a:xfrm>
        </p:grpSpPr>
        <p:cxnSp>
          <p:nvCxnSpPr>
            <p:cNvPr id="14" name="Straight Arrow Connector 13"/>
            <p:cNvCxnSpPr/>
            <p:nvPr/>
          </p:nvCxnSpPr>
          <p:spPr>
            <a:xfrm flipV="1">
              <a:off x="1986742" y="4001294"/>
              <a:ext cx="906087" cy="770211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/>
            <p:cNvSpPr txBox="1"/>
            <p:nvPr/>
          </p:nvSpPr>
          <p:spPr>
            <a:xfrm rot="19222533">
              <a:off x="1734816" y="4136164"/>
              <a:ext cx="11549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task graph</a:t>
              </a:r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2079220" y="4192464"/>
            <a:ext cx="954112" cy="770211"/>
            <a:chOff x="1986742" y="4001294"/>
            <a:chExt cx="954112" cy="770211"/>
          </a:xfrm>
        </p:grpSpPr>
        <p:cxnSp>
          <p:nvCxnSpPr>
            <p:cNvPr id="18" name="Straight Arrow Connector 17"/>
            <p:cNvCxnSpPr/>
            <p:nvPr/>
          </p:nvCxnSpPr>
          <p:spPr>
            <a:xfrm flipV="1">
              <a:off x="1986742" y="4001294"/>
              <a:ext cx="906087" cy="770211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stealth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/>
            <p:cNvSpPr txBox="1"/>
            <p:nvPr/>
          </p:nvSpPr>
          <p:spPr>
            <a:xfrm rot="19222533">
              <a:off x="1991363" y="4332716"/>
              <a:ext cx="9494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result(s)</a:t>
              </a:r>
            </a:p>
          </p:txBody>
        </p:sp>
      </p:grpSp>
      <p:grpSp>
        <p:nvGrpSpPr>
          <p:cNvPr id="27" name="Group 26"/>
          <p:cNvGrpSpPr/>
          <p:nvPr/>
        </p:nvGrpSpPr>
        <p:grpSpPr>
          <a:xfrm>
            <a:off x="4363911" y="2634484"/>
            <a:ext cx="1088454" cy="638575"/>
            <a:chOff x="1886584" y="4001295"/>
            <a:chExt cx="1088454" cy="638575"/>
          </a:xfrm>
        </p:grpSpPr>
        <p:cxnSp>
          <p:nvCxnSpPr>
            <p:cNvPr id="28" name="Straight Arrow Connector 27"/>
            <p:cNvCxnSpPr/>
            <p:nvPr/>
          </p:nvCxnSpPr>
          <p:spPr>
            <a:xfrm flipV="1">
              <a:off x="1886584" y="4001295"/>
              <a:ext cx="1006245" cy="638575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stealth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/>
            <p:cNvSpPr txBox="1"/>
            <p:nvPr/>
          </p:nvSpPr>
          <p:spPr>
            <a:xfrm rot="19555518">
              <a:off x="2025547" y="4264348"/>
              <a:ext cx="9494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result(s)</a:t>
              </a:r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4295718" y="4138166"/>
            <a:ext cx="1006245" cy="692207"/>
            <a:chOff x="1886584" y="4001295"/>
            <a:chExt cx="1006245" cy="692207"/>
          </a:xfrm>
        </p:grpSpPr>
        <p:cxnSp>
          <p:nvCxnSpPr>
            <p:cNvPr id="32" name="Straight Arrow Connector 31"/>
            <p:cNvCxnSpPr/>
            <p:nvPr/>
          </p:nvCxnSpPr>
          <p:spPr>
            <a:xfrm>
              <a:off x="1886584" y="4001295"/>
              <a:ext cx="1006245" cy="638575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stealth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/>
            <p:cNvSpPr txBox="1"/>
            <p:nvPr/>
          </p:nvSpPr>
          <p:spPr>
            <a:xfrm rot="1969022">
              <a:off x="1931541" y="4324170"/>
              <a:ext cx="9494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result(s)</a:t>
              </a:r>
            </a:p>
          </p:txBody>
        </p:sp>
      </p:grpSp>
      <p:grpSp>
        <p:nvGrpSpPr>
          <p:cNvPr id="36" name="Group 35"/>
          <p:cNvGrpSpPr/>
          <p:nvPr/>
        </p:nvGrpSpPr>
        <p:grpSpPr>
          <a:xfrm>
            <a:off x="4120961" y="2461189"/>
            <a:ext cx="1673011" cy="2131488"/>
            <a:chOff x="4120961" y="2461189"/>
            <a:chExt cx="1673011" cy="2131488"/>
          </a:xfrm>
        </p:grpSpPr>
        <p:grpSp>
          <p:nvGrpSpPr>
            <p:cNvPr id="20" name="Group 19"/>
            <p:cNvGrpSpPr/>
            <p:nvPr/>
          </p:nvGrpSpPr>
          <p:grpSpPr>
            <a:xfrm>
              <a:off x="4120961" y="2461189"/>
              <a:ext cx="1199624" cy="621869"/>
              <a:chOff x="1772292" y="4149637"/>
              <a:chExt cx="1199624" cy="621869"/>
            </a:xfrm>
          </p:grpSpPr>
          <p:cxnSp>
            <p:nvCxnSpPr>
              <p:cNvPr id="21" name="Straight Arrow Connector 20"/>
              <p:cNvCxnSpPr/>
              <p:nvPr/>
            </p:nvCxnSpPr>
            <p:spPr>
              <a:xfrm flipV="1">
                <a:off x="1986742" y="4149637"/>
                <a:ext cx="981963" cy="621869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TextBox 21"/>
              <p:cNvSpPr txBox="1"/>
              <p:nvPr/>
            </p:nvSpPr>
            <p:spPr>
              <a:xfrm rot="19709098">
                <a:off x="1772292" y="4204532"/>
                <a:ext cx="119962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task + data</a:t>
                </a:r>
              </a:p>
            </p:txBody>
          </p:sp>
        </p:grpSp>
        <p:grpSp>
          <p:nvGrpSpPr>
            <p:cNvPr id="24" name="Group 23"/>
            <p:cNvGrpSpPr/>
            <p:nvPr/>
          </p:nvGrpSpPr>
          <p:grpSpPr>
            <a:xfrm>
              <a:off x="4252218" y="3931697"/>
              <a:ext cx="1199624" cy="660980"/>
              <a:chOff x="1874844" y="4110526"/>
              <a:chExt cx="1199624" cy="660980"/>
            </a:xfrm>
          </p:grpSpPr>
          <p:cxnSp>
            <p:nvCxnSpPr>
              <p:cNvPr id="25" name="Straight Arrow Connector 24"/>
              <p:cNvCxnSpPr/>
              <p:nvPr/>
            </p:nvCxnSpPr>
            <p:spPr>
              <a:xfrm>
                <a:off x="1986742" y="4149637"/>
                <a:ext cx="981963" cy="621869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TextBox 25"/>
              <p:cNvSpPr txBox="1"/>
              <p:nvPr/>
            </p:nvSpPr>
            <p:spPr>
              <a:xfrm rot="1959654">
                <a:off x="1874844" y="4110526"/>
                <a:ext cx="119962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task + data</a:t>
                </a:r>
              </a:p>
            </p:txBody>
          </p:sp>
        </p:grpSp>
        <p:sp>
          <p:nvSpPr>
            <p:cNvPr id="34" name="TextBox 33"/>
            <p:cNvSpPr txBox="1"/>
            <p:nvPr/>
          </p:nvSpPr>
          <p:spPr>
            <a:xfrm rot="5400000">
              <a:off x="5267386" y="3330238"/>
              <a:ext cx="468398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…</a:t>
              </a:r>
            </a:p>
          </p:txBody>
        </p:sp>
      </p:grpSp>
      <p:sp>
        <p:nvSpPr>
          <p:cNvPr id="37" name="TextBox 36"/>
          <p:cNvSpPr txBox="1"/>
          <p:nvPr/>
        </p:nvSpPr>
        <p:spPr>
          <a:xfrm>
            <a:off x="5501585" y="5345966"/>
            <a:ext cx="272177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workers on different</a:t>
            </a:r>
            <a:br>
              <a:rPr lang="en-US" sz="2400" dirty="0"/>
            </a:br>
            <a:r>
              <a:rPr lang="en-US" sz="2400" dirty="0"/>
              <a:t>compute nodes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153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226013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4" grpId="0" animBg="1"/>
      <p:bldP spid="5" grpId="0" animBg="1"/>
      <p:bldP spid="37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Setting up &amp; executing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8822" y="1482871"/>
            <a:ext cx="7077579" cy="507831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itchFamily="49" charset="0"/>
                <a:cs typeface="Courier New" pitchFamily="49" charset="0"/>
              </a:rPr>
              <a:t>#!/bin/bash -l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#PBS -l nodes=3:ppn=20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#PBS -l walltime=00:30:00</a:t>
            </a:r>
          </a:p>
          <a:p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scheduler="$(hostname):8786"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worker_nodes=$(uniq $PBS_NODEFILE)</a:t>
            </a:r>
          </a:p>
          <a:p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nohup dask-scheduler &amp;&gt;&gt; "scheduler.log" &amp;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sleep 15</a:t>
            </a:r>
          </a:p>
          <a:p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for worker in $worker_nodes;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do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ssh $worker "nohup dask-worker $scheduler &amp;" &amp;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done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sleep 15</a:t>
            </a:r>
          </a:p>
          <a:p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cd $PBS_O_WORKDIR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./dask_distr_avg_csv.py $VSC_SCRATCH/data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5840998" y="2417970"/>
            <a:ext cx="2299412" cy="937845"/>
            <a:chOff x="224095" y="3885436"/>
            <a:chExt cx="2299412" cy="937845"/>
          </a:xfrm>
        </p:grpSpPr>
        <p:sp>
          <p:nvSpPr>
            <p:cNvPr id="7" name="TextBox 6"/>
            <p:cNvSpPr txBox="1"/>
            <p:nvPr/>
          </p:nvSpPr>
          <p:spPr>
            <a:xfrm>
              <a:off x="224095" y="3885436"/>
              <a:ext cx="2299412" cy="40011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0070C0"/>
                  </a:solidFill>
                </a:rPr>
                <a:t>start </a:t>
              </a:r>
              <a:r>
                <a:rPr lang="en-US" sz="2000" dirty="0" err="1">
                  <a:solidFill>
                    <a:srgbClr val="0070C0"/>
                  </a:solidFill>
                </a:rPr>
                <a:t>Dask</a:t>
              </a:r>
              <a:r>
                <a:rPr lang="en-US" sz="2000" dirty="0">
                  <a:solidFill>
                    <a:srgbClr val="0070C0"/>
                  </a:solidFill>
                </a:rPr>
                <a:t> scheduler</a:t>
              </a:r>
              <a:endParaRPr lang="nl-BE" sz="2000" dirty="0">
                <a:solidFill>
                  <a:srgbClr val="0070C0"/>
                </a:solidFill>
              </a:endParaRPr>
            </a:p>
          </p:txBody>
        </p:sp>
        <p:cxnSp>
          <p:nvCxnSpPr>
            <p:cNvPr id="8" name="Straight Arrow Connector 7"/>
            <p:cNvCxnSpPr>
              <a:stCxn id="7" idx="2"/>
            </p:cNvCxnSpPr>
            <p:nvPr/>
          </p:nvCxnSpPr>
          <p:spPr>
            <a:xfrm flipH="1">
              <a:off x="300017" y="4285546"/>
              <a:ext cx="1073784" cy="537735"/>
            </a:xfrm>
            <a:prstGeom prst="straightConnector1">
              <a:avLst/>
            </a:prstGeom>
            <a:ln w="22225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5840998" y="3842217"/>
            <a:ext cx="2299412" cy="937845"/>
            <a:chOff x="224095" y="3885436"/>
            <a:chExt cx="2299412" cy="937845"/>
          </a:xfrm>
        </p:grpSpPr>
        <p:sp>
          <p:nvSpPr>
            <p:cNvPr id="10" name="TextBox 9"/>
            <p:cNvSpPr txBox="1"/>
            <p:nvPr/>
          </p:nvSpPr>
          <p:spPr>
            <a:xfrm>
              <a:off x="224095" y="3885436"/>
              <a:ext cx="2299412" cy="40011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0070C0"/>
                  </a:solidFill>
                </a:rPr>
                <a:t>start </a:t>
              </a:r>
              <a:r>
                <a:rPr lang="en-US" sz="2000" dirty="0" err="1">
                  <a:solidFill>
                    <a:srgbClr val="0070C0"/>
                  </a:solidFill>
                </a:rPr>
                <a:t>Dask</a:t>
              </a:r>
              <a:r>
                <a:rPr lang="en-US" sz="2000" dirty="0">
                  <a:solidFill>
                    <a:srgbClr val="0070C0"/>
                  </a:solidFill>
                </a:rPr>
                <a:t> workers</a:t>
              </a:r>
              <a:endParaRPr lang="nl-BE" sz="2000" dirty="0">
                <a:solidFill>
                  <a:srgbClr val="0070C0"/>
                </a:solidFill>
              </a:endParaRPr>
            </a:p>
          </p:txBody>
        </p:sp>
        <p:cxnSp>
          <p:nvCxnSpPr>
            <p:cNvPr id="11" name="Straight Arrow Connector 10"/>
            <p:cNvCxnSpPr>
              <a:stCxn id="10" idx="2"/>
            </p:cNvCxnSpPr>
            <p:nvPr/>
          </p:nvCxnSpPr>
          <p:spPr>
            <a:xfrm flipH="1">
              <a:off x="300019" y="4285546"/>
              <a:ext cx="1073782" cy="537735"/>
            </a:xfrm>
            <a:prstGeom prst="straightConnector1">
              <a:avLst/>
            </a:prstGeom>
            <a:ln w="22225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5840998" y="5180172"/>
            <a:ext cx="2299412" cy="937845"/>
            <a:chOff x="224095" y="3885436"/>
            <a:chExt cx="2299412" cy="937845"/>
          </a:xfrm>
        </p:grpSpPr>
        <p:sp>
          <p:nvSpPr>
            <p:cNvPr id="14" name="TextBox 13"/>
            <p:cNvSpPr txBox="1"/>
            <p:nvPr/>
          </p:nvSpPr>
          <p:spPr>
            <a:xfrm>
              <a:off x="224095" y="3885436"/>
              <a:ext cx="2299412" cy="40011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0070C0"/>
                  </a:solidFill>
                </a:rPr>
                <a:t>start </a:t>
              </a:r>
              <a:r>
                <a:rPr lang="en-US" sz="2000" dirty="0" err="1">
                  <a:solidFill>
                    <a:srgbClr val="0070C0"/>
                  </a:solidFill>
                </a:rPr>
                <a:t>Dask</a:t>
              </a:r>
              <a:r>
                <a:rPr lang="en-US" sz="2000" dirty="0">
                  <a:solidFill>
                    <a:srgbClr val="0070C0"/>
                  </a:solidFill>
                </a:rPr>
                <a:t> client</a:t>
              </a:r>
              <a:endParaRPr lang="nl-BE" sz="2000" dirty="0">
                <a:solidFill>
                  <a:srgbClr val="0070C0"/>
                </a:solidFill>
              </a:endParaRPr>
            </a:p>
          </p:txBody>
        </p:sp>
        <p:cxnSp>
          <p:nvCxnSpPr>
            <p:cNvPr id="15" name="Straight Arrow Connector 14"/>
            <p:cNvCxnSpPr>
              <a:stCxn id="14" idx="2"/>
            </p:cNvCxnSpPr>
            <p:nvPr/>
          </p:nvCxnSpPr>
          <p:spPr>
            <a:xfrm flipH="1">
              <a:off x="300019" y="4285546"/>
              <a:ext cx="1073782" cy="537735"/>
            </a:xfrm>
            <a:prstGeom prst="straightConnector1">
              <a:avLst/>
            </a:prstGeom>
            <a:ln w="22225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154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7841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Dask</a:t>
            </a:r>
            <a:r>
              <a:rPr lang="en-US" dirty="0"/>
              <a:t> client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7866" y="2400019"/>
            <a:ext cx="7491153" cy="230832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itchFamily="49" charset="0"/>
                <a:cs typeface="Courier New" pitchFamily="49" charset="0"/>
              </a:rPr>
              <a:t>import dask.dataframe as dd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from distributed import Client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client = Client(f’{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scheduler_host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}:{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scheduler_port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}’)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df = dd.read_csv('data/time_series_*.csv',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         parse_dates=['timestamp'])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result = df.groupby(df.timestamp.dt.month).mean()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result.compute().to_csv('data/result.csv')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1155468" y="1752926"/>
            <a:ext cx="7280320" cy="1803323"/>
            <a:chOff x="507076" y="1453670"/>
            <a:chExt cx="7280320" cy="1803323"/>
          </a:xfrm>
        </p:grpSpPr>
        <p:grpSp>
          <p:nvGrpSpPr>
            <p:cNvPr id="5" name="Group 4"/>
            <p:cNvGrpSpPr/>
            <p:nvPr/>
          </p:nvGrpSpPr>
          <p:grpSpPr>
            <a:xfrm>
              <a:off x="507076" y="2400019"/>
              <a:ext cx="7280320" cy="856974"/>
              <a:chOff x="507076" y="2400019"/>
              <a:chExt cx="7280320" cy="856974"/>
            </a:xfrm>
          </p:grpSpPr>
          <p:sp>
            <p:nvSpPr>
              <p:cNvPr id="9" name="Rounded Rectangle 8"/>
              <p:cNvSpPr/>
              <p:nvPr/>
            </p:nvSpPr>
            <p:spPr>
              <a:xfrm>
                <a:off x="507076" y="2400019"/>
                <a:ext cx="4156365" cy="343181"/>
              </a:xfrm>
              <a:prstGeom prst="roundRect">
                <a:avLst/>
              </a:prstGeom>
              <a:solidFill>
                <a:srgbClr val="C00000">
                  <a:alpha val="21000"/>
                </a:srgbClr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ounded Rectangle 10"/>
              <p:cNvSpPr/>
              <p:nvPr/>
            </p:nvSpPr>
            <p:spPr>
              <a:xfrm>
                <a:off x="507076" y="2913812"/>
                <a:ext cx="7280320" cy="343181"/>
              </a:xfrm>
              <a:prstGeom prst="roundRect">
                <a:avLst/>
              </a:prstGeom>
              <a:solidFill>
                <a:srgbClr val="C00000">
                  <a:alpha val="21000"/>
                </a:srgbClr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" name="Group 5"/>
            <p:cNvGrpSpPr/>
            <p:nvPr/>
          </p:nvGrpSpPr>
          <p:grpSpPr>
            <a:xfrm>
              <a:off x="2366841" y="1453670"/>
              <a:ext cx="4103688" cy="880856"/>
              <a:chOff x="-747932" y="3885436"/>
              <a:chExt cx="4103688" cy="880856"/>
            </a:xfrm>
          </p:grpSpPr>
          <p:sp>
            <p:nvSpPr>
              <p:cNvPr id="7" name="TextBox 6"/>
              <p:cNvSpPr txBox="1"/>
              <p:nvPr/>
            </p:nvSpPr>
            <p:spPr>
              <a:xfrm>
                <a:off x="-747932" y="3885436"/>
                <a:ext cx="4103688" cy="40011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differences with non-distributed </a:t>
                </a:r>
                <a:r>
                  <a:rPr lang="en-US" sz="2000" dirty="0" err="1">
                    <a:solidFill>
                      <a:srgbClr val="C00000"/>
                    </a:solidFill>
                  </a:rPr>
                  <a:t>Dask</a:t>
                </a:r>
                <a:endParaRPr lang="nl-BE" sz="2000" dirty="0">
                  <a:solidFill>
                    <a:srgbClr val="C00000"/>
                  </a:solidFill>
                </a:endParaRPr>
              </a:p>
            </p:txBody>
          </p:sp>
          <p:cxnSp>
            <p:nvCxnSpPr>
              <p:cNvPr id="8" name="Straight Arrow Connector 7"/>
              <p:cNvCxnSpPr>
                <a:stCxn id="7" idx="2"/>
              </p:cNvCxnSpPr>
              <p:nvPr/>
            </p:nvCxnSpPr>
            <p:spPr>
              <a:xfrm flipH="1">
                <a:off x="-47371" y="4285546"/>
                <a:ext cx="1351283" cy="480746"/>
              </a:xfrm>
              <a:prstGeom prst="straightConnector1">
                <a:avLst/>
              </a:prstGeom>
              <a:ln w="22225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155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302635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Dask</a:t>
            </a:r>
            <a:r>
              <a:rPr lang="en-US" dirty="0"/>
              <a:t> &amp; futures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Dask</a:t>
            </a:r>
            <a:r>
              <a:rPr lang="en-US" dirty="0"/>
              <a:t> has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concurrent.futures</a:t>
            </a:r>
            <a:r>
              <a:rPr lang="en-US" dirty="0"/>
              <a:t>-like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77371" y="2549653"/>
            <a:ext cx="7491153" cy="258532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itchFamily="49" charset="0"/>
                <a:cs typeface="Courier New" pitchFamily="49" charset="0"/>
              </a:rPr>
              <a:t>from distributed import Client</a:t>
            </a:r>
          </a:p>
          <a:p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def square(x):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return x**2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client = Client(f'{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scheduler_host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}:{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scheduler_port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}’)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futures = client.map(square, data)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total = client.submit(sum, futures)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print(total.result())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803842" y="5124930"/>
            <a:ext cx="3381823" cy="1203968"/>
            <a:chOff x="224095" y="3389354"/>
            <a:chExt cx="3381823" cy="1203968"/>
          </a:xfrm>
        </p:grpSpPr>
        <p:sp>
          <p:nvSpPr>
            <p:cNvPr id="6" name="TextBox 5"/>
            <p:cNvSpPr txBox="1"/>
            <p:nvPr/>
          </p:nvSpPr>
          <p:spPr>
            <a:xfrm>
              <a:off x="224095" y="3885436"/>
              <a:ext cx="3381823" cy="707886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computations are carried out,</a:t>
              </a:r>
            </a:p>
            <a:p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square</a:t>
              </a:r>
              <a:r>
                <a:rPr lang="en-US" sz="2000" dirty="0">
                  <a:solidFill>
                    <a:srgbClr val="C00000"/>
                  </a:solidFill>
                </a:rPr>
                <a:t> evaluated by workers</a:t>
              </a:r>
              <a:endParaRPr lang="nl-BE" sz="2000" dirty="0">
                <a:solidFill>
                  <a:srgbClr val="C00000"/>
                </a:solidFill>
              </a:endParaRPr>
            </a:p>
          </p:txBody>
        </p:sp>
        <p:cxnSp>
          <p:nvCxnSpPr>
            <p:cNvPr id="7" name="Straight Arrow Connector 6"/>
            <p:cNvCxnSpPr>
              <a:stCxn id="6" idx="0"/>
            </p:cNvCxnSpPr>
            <p:nvPr/>
          </p:nvCxnSpPr>
          <p:spPr>
            <a:xfrm flipH="1" flipV="1">
              <a:off x="1196766" y="3389354"/>
              <a:ext cx="718241" cy="496082"/>
            </a:xfrm>
            <a:prstGeom prst="straightConnector1">
              <a:avLst/>
            </a:prstGeom>
            <a:ln w="2222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156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326530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Dask</a:t>
            </a:r>
            <a:r>
              <a:rPr lang="en-US" dirty="0"/>
              <a:t>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Easy to do</a:t>
            </a:r>
          </a:p>
          <a:p>
            <a:pPr lvl="1"/>
            <a:r>
              <a:rPr lang="en-US" dirty="0"/>
              <a:t>out-of-core computations</a:t>
            </a:r>
          </a:p>
          <a:p>
            <a:pPr lvl="1"/>
            <a:r>
              <a:rPr lang="en-US" dirty="0"/>
              <a:t>distributed computations</a:t>
            </a:r>
          </a:p>
          <a:p>
            <a:r>
              <a:rPr lang="en-US" dirty="0"/>
              <a:t>Good integration with/similarity to</a:t>
            </a:r>
          </a:p>
          <a:p>
            <a:pPr lvl="1"/>
            <a:r>
              <a:rPr lang="en-US" dirty="0" err="1"/>
              <a:t>numpy</a:t>
            </a:r>
            <a:endParaRPr lang="en-US" dirty="0"/>
          </a:p>
          <a:p>
            <a:pPr lvl="1"/>
            <a:r>
              <a:rPr lang="en-US" dirty="0"/>
              <a:t>pandas</a:t>
            </a:r>
          </a:p>
          <a:p>
            <a:pPr lvl="1"/>
            <a:r>
              <a:rPr lang="en-US" dirty="0" err="1"/>
              <a:t>concurrent.futures</a:t>
            </a:r>
            <a:endParaRPr lang="en-US" dirty="0"/>
          </a:p>
          <a:p>
            <a:r>
              <a:rPr lang="en-US" dirty="0"/>
              <a:t>Relatively easy to deploy</a:t>
            </a:r>
          </a:p>
          <a:p>
            <a:r>
              <a:rPr lang="en-US" dirty="0"/>
              <a:t>Performance: if you know what you're doing…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157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884587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Dask</a:t>
            </a:r>
            <a:r>
              <a:rPr lang="en-US" dirty="0"/>
              <a:t> documentation:</a:t>
            </a:r>
            <a:br>
              <a:rPr lang="en-US" dirty="0"/>
            </a:br>
            <a:r>
              <a:rPr lang="en-US" dirty="0">
                <a:hlinkClick r:id="rId2"/>
              </a:rPr>
              <a:t>https://dask.pydata.org/en/latest/</a:t>
            </a:r>
            <a:r>
              <a:rPr lang="en-US" dirty="0"/>
              <a:t> </a:t>
            </a:r>
          </a:p>
          <a:p>
            <a:r>
              <a:rPr lang="en-US" dirty="0" err="1"/>
              <a:t>Dask.distributed</a:t>
            </a:r>
            <a:r>
              <a:rPr lang="en-US" dirty="0"/>
              <a:t> documentation:</a:t>
            </a:r>
            <a:br>
              <a:rPr lang="en-US" dirty="0"/>
            </a:br>
            <a:r>
              <a:rPr lang="en-US" dirty="0">
                <a:hlinkClick r:id="rId3"/>
              </a:rPr>
              <a:t>http://distributed.readthedocs.io/en/latest/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071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Distributed programming with Python using mpi4py</a:t>
            </a:r>
            <a:endParaRPr lang="nl-B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BE" sz="1400" dirty="0">
                <a:hlinkClick r:id="rId2"/>
              </a:rPr>
              <a:t>https://github.com/gjbex/Python-for-HPC/tree/master/source-code/mpi4py</a:t>
            </a:r>
            <a:endParaRPr lang="nl-BE" sz="1400" dirty="0"/>
          </a:p>
          <a:p>
            <a:r>
              <a:rPr lang="nl-BE" sz="1400" dirty="0">
                <a:hlinkClick r:id="rId3"/>
              </a:rPr>
              <a:t>https://github.com/gjbex/Python-for-HPC/tree/master/source-code/sentence-counter</a:t>
            </a:r>
            <a:r>
              <a:rPr lang="nl-BE" sz="1400" dirty="0"/>
              <a:t>  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159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1083969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Why distributed programming?</a:t>
            </a:r>
          </a:p>
          <a:p>
            <a:pPr lvl="1"/>
            <a:r>
              <a:rPr lang="en-US" dirty="0"/>
              <a:t>very large data structures (typically multidimensional arrays)</a:t>
            </a:r>
          </a:p>
          <a:p>
            <a:pPr lvl="1"/>
            <a:r>
              <a:rPr lang="en-US" dirty="0"/>
              <a:t>large computational load</a:t>
            </a:r>
          </a:p>
          <a:p>
            <a:r>
              <a:rPr lang="en-US" dirty="0"/>
              <a:t>Many problems require (non-trivial) efficient communication between processes</a:t>
            </a:r>
          </a:p>
          <a:p>
            <a:pPr lvl="1"/>
            <a:r>
              <a:rPr lang="en-US" dirty="0"/>
              <a:t>exchange of data, state</a:t>
            </a:r>
          </a:p>
          <a:p>
            <a:r>
              <a:rPr lang="en-US" dirty="0"/>
              <a:t>Need for standardization: Message Passing Interface (MPI)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160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22489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MPI?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Library (API) defining communication functions</a:t>
            </a:r>
          </a:p>
          <a:p>
            <a:pPr lvl="1"/>
            <a:r>
              <a:rPr lang="en-US" dirty="0"/>
              <a:t>standardized, currently MPI-4,</a:t>
            </a:r>
            <a:br>
              <a:rPr lang="en-US" dirty="0"/>
            </a:br>
            <a:r>
              <a:rPr lang="en-US" dirty="0"/>
              <a:t>implemented: MPI-3.1</a:t>
            </a:r>
          </a:p>
          <a:p>
            <a:pPr lvl="1"/>
            <a:r>
              <a:rPr lang="en-US" dirty="0"/>
              <a:t>available for C and Fortran</a:t>
            </a:r>
          </a:p>
          <a:p>
            <a:pPr lvl="1"/>
            <a:r>
              <a:rPr lang="en-US" dirty="0"/>
              <a:t>many implementations</a:t>
            </a:r>
          </a:p>
          <a:p>
            <a:pPr lvl="2"/>
            <a:r>
              <a:rPr lang="en-US" dirty="0" err="1"/>
              <a:t>OpenMPI</a:t>
            </a:r>
            <a:r>
              <a:rPr lang="en-US" dirty="0"/>
              <a:t>: open source</a:t>
            </a:r>
          </a:p>
          <a:p>
            <a:pPr lvl="2"/>
            <a:r>
              <a:rPr lang="en-US" dirty="0"/>
              <a:t>mpich2, mvapich2: open source</a:t>
            </a:r>
          </a:p>
          <a:p>
            <a:pPr lvl="2"/>
            <a:r>
              <a:rPr lang="en-US" dirty="0"/>
              <a:t>Intel MPI</a:t>
            </a:r>
          </a:p>
          <a:p>
            <a:pPr lvl="2"/>
            <a:r>
              <a:rPr lang="en-US" dirty="0"/>
              <a:t>…</a:t>
            </a:r>
          </a:p>
          <a:p>
            <a:pPr lvl="1"/>
            <a:r>
              <a:rPr lang="en-US" dirty="0"/>
              <a:t>Wrappers for, e.g., Python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20695" y="2780928"/>
            <a:ext cx="339977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l-BE" dirty="0">
                <a:hlinkClick r:id="rId2"/>
              </a:rPr>
              <a:t>http://www.mpi-forum.org/docs/</a:t>
            </a:r>
            <a:r>
              <a:rPr lang="nl-BE" dirty="0"/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161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35798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4" grpId="0" animBg="1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Usage of MPI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Basis for much scientific software in many domains, e.g.,</a:t>
            </a:r>
          </a:p>
          <a:p>
            <a:pPr lvl="1"/>
            <a:r>
              <a:rPr lang="en-US" dirty="0"/>
              <a:t>molecular dynamics: GROMACS, NAMD,…</a:t>
            </a:r>
          </a:p>
          <a:p>
            <a:pPr lvl="1"/>
            <a:r>
              <a:rPr lang="en-US" dirty="0" err="1"/>
              <a:t>ab</a:t>
            </a:r>
            <a:r>
              <a:rPr lang="en-US" dirty="0"/>
              <a:t>-initio calculations: </a:t>
            </a:r>
            <a:r>
              <a:rPr lang="en-US" dirty="0" err="1"/>
              <a:t>QuantumExpresso</a:t>
            </a:r>
            <a:endParaRPr lang="en-US" dirty="0"/>
          </a:p>
          <a:p>
            <a:pPr lvl="1"/>
            <a:r>
              <a:rPr lang="en-US" dirty="0"/>
              <a:t>computational fluid dynamics: </a:t>
            </a:r>
            <a:r>
              <a:rPr lang="en-US" dirty="0" err="1"/>
              <a:t>OpenFOAM</a:t>
            </a:r>
            <a:r>
              <a:rPr lang="en-US" dirty="0"/>
              <a:t>, </a:t>
            </a:r>
            <a:r>
              <a:rPr lang="en-US" dirty="0" err="1"/>
              <a:t>Ansys</a:t>
            </a:r>
            <a:r>
              <a:rPr lang="en-US" dirty="0"/>
              <a:t> Fluent</a:t>
            </a:r>
          </a:p>
          <a:p>
            <a:pPr lvl="1"/>
            <a:r>
              <a:rPr lang="en-US" dirty="0" err="1"/>
              <a:t>astroplasma</a:t>
            </a:r>
            <a:r>
              <a:rPr lang="en-US" dirty="0"/>
              <a:t> physics: AMRVAC</a:t>
            </a:r>
          </a:p>
          <a:p>
            <a:pPr lvl="1"/>
            <a:r>
              <a:rPr lang="en-US" dirty="0"/>
              <a:t>computational biology: </a:t>
            </a:r>
            <a:r>
              <a:rPr lang="en-US" dirty="0" err="1"/>
              <a:t>MrBayes</a:t>
            </a:r>
            <a:endParaRPr lang="en-US" dirty="0"/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Basis for HPC libraries, e.g.,</a:t>
            </a:r>
          </a:p>
          <a:p>
            <a:pPr lvl="1"/>
            <a:r>
              <a:rPr lang="en-US" dirty="0"/>
              <a:t>linear algebra: PBLAS, </a:t>
            </a:r>
            <a:r>
              <a:rPr lang="en-US" dirty="0" err="1"/>
              <a:t>Scalapack</a:t>
            </a:r>
            <a:endParaRPr lang="en-US" dirty="0"/>
          </a:p>
          <a:p>
            <a:pPr lvl="1"/>
            <a:r>
              <a:rPr lang="en-US" dirty="0"/>
              <a:t>Fourier transforms: FFTW3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Basis for fast, distributed I/O, e.g.,</a:t>
            </a:r>
          </a:p>
          <a:p>
            <a:pPr lvl="1"/>
            <a:r>
              <a:rPr lang="en-US" dirty="0"/>
              <a:t>HDF5 data format</a:t>
            </a:r>
          </a:p>
          <a:p>
            <a:endParaRPr lang="nl-BE" dirty="0"/>
          </a:p>
          <a:p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5580112" y="4293096"/>
            <a:ext cx="3147015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De facto standard in</a:t>
            </a:r>
            <a:br>
              <a:rPr lang="en-US" sz="2800" dirty="0"/>
            </a:br>
            <a:r>
              <a:rPr lang="en-US" sz="2800" dirty="0"/>
              <a:t>distributed scientific</a:t>
            </a:r>
            <a:br>
              <a:rPr lang="en-US" sz="2800" dirty="0"/>
            </a:br>
            <a:r>
              <a:rPr lang="en-US" sz="2800" dirty="0"/>
              <a:t>computing</a:t>
            </a:r>
            <a:endParaRPr lang="nl-BE" sz="28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162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59385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Hardware characteristics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Use MPI on clusters</a:t>
            </a:r>
          </a:p>
          <a:p>
            <a:pPr lvl="1"/>
            <a:r>
              <a:rPr lang="en-US" dirty="0"/>
              <a:t>fast networking, i.e.,</a:t>
            </a:r>
          </a:p>
          <a:p>
            <a:pPr lvl="2"/>
            <a:r>
              <a:rPr lang="en-US" dirty="0"/>
              <a:t>high bandwidth</a:t>
            </a:r>
          </a:p>
          <a:p>
            <a:pPr lvl="2"/>
            <a:r>
              <a:rPr lang="en-US" dirty="0"/>
              <a:t>low latency</a:t>
            </a:r>
          </a:p>
          <a:p>
            <a:pPr lvl="1"/>
            <a:r>
              <a:rPr lang="en-US" dirty="0"/>
              <a:t>typically either</a:t>
            </a:r>
          </a:p>
          <a:p>
            <a:pPr lvl="2"/>
            <a:r>
              <a:rPr lang="en-US" dirty="0"/>
              <a:t>10 </a:t>
            </a:r>
            <a:r>
              <a:rPr lang="en-US" dirty="0" err="1"/>
              <a:t>GbE</a:t>
            </a:r>
            <a:endParaRPr lang="en-US" dirty="0"/>
          </a:p>
          <a:p>
            <a:pPr lvl="2"/>
            <a:r>
              <a:rPr lang="en-US" dirty="0" err="1"/>
              <a:t>Infiniband</a:t>
            </a:r>
            <a:endParaRPr lang="en-US" dirty="0"/>
          </a:p>
          <a:p>
            <a:pPr lvl="2"/>
            <a:r>
              <a:rPr lang="en-US" dirty="0"/>
              <a:t>Proprietary interconnect</a:t>
            </a:r>
          </a:p>
          <a:p>
            <a:pPr lvl="1"/>
            <a:r>
              <a:rPr lang="en-US" dirty="0"/>
              <a:t>topology</a:t>
            </a:r>
          </a:p>
          <a:p>
            <a:pPr lvl="2"/>
            <a:r>
              <a:rPr lang="en-US" dirty="0"/>
              <a:t>fat tree</a:t>
            </a:r>
          </a:p>
          <a:p>
            <a:pPr lvl="2"/>
            <a:r>
              <a:rPr lang="en-US" dirty="0"/>
              <a:t>3D torus</a:t>
            </a:r>
            <a:endParaRPr lang="nl-BE" dirty="0"/>
          </a:p>
          <a:p>
            <a:pPr lvl="1"/>
            <a:r>
              <a:rPr lang="en-US" dirty="0"/>
              <a:t>expensive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20847" y="2420888"/>
            <a:ext cx="3711593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when processes need to</a:t>
            </a:r>
            <a:br>
              <a:rPr lang="en-US" sz="2800" dirty="0"/>
            </a:br>
            <a:r>
              <a:rPr lang="en-US" sz="2800" dirty="0"/>
              <a:t>interact often</a:t>
            </a:r>
            <a:endParaRPr lang="nl-BE" sz="28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163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072859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model</a:t>
            </a:r>
            <a:endParaRPr lang="nl-BE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Program consists of multiple processes</a:t>
            </a:r>
          </a:p>
          <a:p>
            <a:r>
              <a:rPr lang="en-US" dirty="0"/>
              <a:t>Processes have own data, share nothing</a:t>
            </a:r>
          </a:p>
          <a:p>
            <a:r>
              <a:rPr lang="en-US" dirty="0"/>
              <a:t>Processes communicate to exchange information, data, state by sending messages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164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656416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Hello world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4149080"/>
            <a:ext cx="8229600" cy="1656184"/>
          </a:xfrm>
        </p:spPr>
        <p:txBody>
          <a:bodyPr>
            <a:normAutofit/>
          </a:bodyPr>
          <a:lstStyle/>
          <a:p>
            <a:r>
              <a:rPr lang="en-US" dirty="0"/>
              <a:t>run: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mpirun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-np 4  ./hello.py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processes can run on same host,</a:t>
            </a:r>
            <a:br>
              <a:rPr lang="en-US" dirty="0"/>
            </a:br>
            <a:r>
              <a:rPr lang="en-US" dirty="0"/>
              <a:t>or different hosts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699720" y="1700808"/>
            <a:ext cx="5836854" cy="2031325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#!/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/bin/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python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from mpi4py import MPI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MPI.COMM_WORLD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rank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comm.Get_rank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size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comm.Get_size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print(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f'hello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from {rank} out of {size}')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9632" y="5023224"/>
            <a:ext cx="3079689" cy="120032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hello from 1 out of 4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hello from 0 out of 4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hello from 3 out of 4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hello from 2 out of 4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165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4630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Communicators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Messages are passed using communicators</a:t>
            </a:r>
          </a:p>
          <a:p>
            <a:r>
              <a:rPr lang="en-US" dirty="0"/>
              <a:t>Default communicator, always initialized:</a:t>
            </a:r>
            <a:br>
              <a:rPr lang="en-US" dirty="0"/>
            </a:b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MPI.COMM_WORLD</a:t>
            </a:r>
          </a:p>
          <a:p>
            <a:r>
              <a:rPr lang="en-US" dirty="0"/>
              <a:t>Number of processes in communicator:</a:t>
            </a:r>
            <a:br>
              <a:rPr lang="en-US" dirty="0"/>
            </a:b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comm.Get_size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dirty="0"/>
              <a:t>Rank of a process in communicator, between 0 and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comm.Get_size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 - 1, inclusive</a:t>
            </a:r>
            <a:br>
              <a:rPr lang="en-US" dirty="0"/>
            </a:b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comm.Get_rank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dirty="0">
                <a:cs typeface="Courier New" panose="02070309020205020404" pitchFamily="49" charset="0"/>
              </a:rPr>
              <a:t>Rank used as "address" within communicator, and to differentiate "roles" of processes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166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20707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Hello again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683568" y="1772816"/>
            <a:ext cx="4320413" cy="2585323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#!/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/bin/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python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from mpi4py import MPI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MPI.COMM_WORLD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rank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comm.Get_rank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size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comm.Get_size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print(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f'hello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from {rank}'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if rank == 0: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print(f'{size} processes')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6946" y="4725144"/>
            <a:ext cx="2190126" cy="147732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hello from 3</a:t>
            </a:r>
          </a:p>
          <a:p>
            <a:r>
              <a:rPr lang="en-US" dirty="0">
                <a:solidFill>
                  <a:schemeClr val="bg1"/>
                </a:solidFill>
              </a:rPr>
              <a:t>hello from 0</a:t>
            </a:r>
          </a:p>
          <a:p>
            <a:r>
              <a:rPr lang="en-US" dirty="0">
                <a:solidFill>
                  <a:schemeClr val="bg1"/>
                </a:solidFill>
              </a:rPr>
              <a:t>hello from 2</a:t>
            </a:r>
          </a:p>
          <a:p>
            <a:r>
              <a:rPr lang="en-US" dirty="0">
                <a:solidFill>
                  <a:schemeClr val="bg1"/>
                </a:solidFill>
              </a:rPr>
              <a:t>4 processes</a:t>
            </a:r>
          </a:p>
          <a:p>
            <a:r>
              <a:rPr lang="en-US" dirty="0">
                <a:solidFill>
                  <a:schemeClr val="bg1"/>
                </a:solidFill>
              </a:rPr>
              <a:t>hello from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96136" y="1988840"/>
            <a:ext cx="3033074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Note: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rank</a:t>
            </a:r>
            <a:r>
              <a:rPr lang="en-US" sz="2400" dirty="0"/>
              <a:t> and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size</a:t>
            </a:r>
            <a:br>
              <a:rPr lang="en-US" sz="2400" dirty="0"/>
            </a:br>
            <a:r>
              <a:rPr lang="en-US" sz="2400" dirty="0"/>
              <a:t>are private to process,</a:t>
            </a:r>
            <a:br>
              <a:rPr lang="en-US" sz="2400" dirty="0"/>
            </a:br>
            <a:r>
              <a:rPr lang="en-US" sz="2400" i="1" dirty="0"/>
              <a:t>"shared nothing"</a:t>
            </a:r>
            <a:endParaRPr lang="nl-BE" sz="2400" i="1" dirty="0"/>
          </a:p>
        </p:txBody>
      </p:sp>
      <p:sp>
        <p:nvSpPr>
          <p:cNvPr id="3" name="TextBox 2"/>
          <p:cNvSpPr txBox="1"/>
          <p:nvPr/>
        </p:nvSpPr>
        <p:spPr>
          <a:xfrm>
            <a:off x="179512" y="5991671"/>
            <a:ext cx="5966120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Processes can run on different compute nodes</a:t>
            </a:r>
            <a:endParaRPr lang="nl-BE" sz="24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167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231422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3" grpId="0" animBg="1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Communication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Uses communicator, e.g.,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MPI.COMM_WORLD</a:t>
            </a:r>
          </a:p>
          <a:p>
            <a:r>
              <a:rPr lang="en-US" dirty="0"/>
              <a:t>Can be</a:t>
            </a:r>
          </a:p>
          <a:p>
            <a:pPr lvl="1"/>
            <a:r>
              <a:rPr lang="en-US" dirty="0"/>
              <a:t>peer to peer</a:t>
            </a:r>
          </a:p>
          <a:p>
            <a:pPr lvl="1"/>
            <a:r>
              <a:rPr lang="en-US" dirty="0"/>
              <a:t>collective</a:t>
            </a:r>
          </a:p>
          <a:p>
            <a:pPr lvl="1"/>
            <a:r>
              <a:rPr lang="en-US" dirty="0"/>
              <a:t>one-sided</a:t>
            </a:r>
          </a:p>
          <a:p>
            <a:r>
              <a:rPr lang="en-US" dirty="0"/>
              <a:t>Can be</a:t>
            </a:r>
          </a:p>
          <a:p>
            <a:pPr lvl="1"/>
            <a:r>
              <a:rPr lang="en-US" dirty="0"/>
              <a:t>blocking</a:t>
            </a:r>
          </a:p>
          <a:p>
            <a:pPr lvl="1"/>
            <a:r>
              <a:rPr lang="en-US" dirty="0"/>
              <a:t>non-blocking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168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339218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Peer to peer: Python objects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54809"/>
            <a:ext cx="7886700" cy="4351338"/>
          </a:xfrm>
        </p:spPr>
        <p:txBody>
          <a:bodyPr/>
          <a:lstStyle/>
          <a:p>
            <a:r>
              <a:rPr lang="en-US" dirty="0"/>
              <a:t>Process </a:t>
            </a:r>
            <a:r>
              <a:rPr lang="en-US" i="1" dirty="0"/>
              <a:t>s</a:t>
            </a:r>
            <a:r>
              <a:rPr lang="en-US" dirty="0"/>
              <a:t> sends message to process </a:t>
            </a:r>
            <a:r>
              <a:rPr lang="en-US" i="1" dirty="0"/>
              <a:t>r</a:t>
            </a:r>
            <a:endParaRPr lang="nl-BE" i="1" dirty="0"/>
          </a:p>
        </p:txBody>
      </p:sp>
      <p:sp>
        <p:nvSpPr>
          <p:cNvPr id="4" name="TextBox 3"/>
          <p:cNvSpPr txBox="1"/>
          <p:nvPr/>
        </p:nvSpPr>
        <p:spPr>
          <a:xfrm>
            <a:off x="539552" y="2492792"/>
            <a:ext cx="5974713" cy="341632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MPI.COMM_WORLD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rank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comm.Get_rank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sender = 0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receiver = 1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if rank == sender: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101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comm.ssend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=receiver)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rank == receiver: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recv_buffer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comm.recv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(source=sender)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3923928" y="4004960"/>
            <a:ext cx="3924104" cy="644589"/>
            <a:chOff x="3923928" y="2348880"/>
            <a:chExt cx="3924104" cy="644589"/>
          </a:xfrm>
        </p:grpSpPr>
        <p:sp>
          <p:nvSpPr>
            <p:cNvPr id="6" name="TextBox 5"/>
            <p:cNvSpPr txBox="1"/>
            <p:nvPr/>
          </p:nvSpPr>
          <p:spPr>
            <a:xfrm>
              <a:off x="5004048" y="2348880"/>
              <a:ext cx="284398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process 0 sends to process 1</a:t>
              </a:r>
              <a:endParaRPr lang="nl-BE" dirty="0"/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>
              <a:off x="3923928" y="2533546"/>
              <a:ext cx="1080120" cy="45992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Group 7"/>
          <p:cNvGrpSpPr/>
          <p:nvPr/>
        </p:nvGrpSpPr>
        <p:grpSpPr>
          <a:xfrm>
            <a:off x="4067944" y="5805160"/>
            <a:ext cx="4263874" cy="513348"/>
            <a:chOff x="4067944" y="2204864"/>
            <a:chExt cx="4263874" cy="513348"/>
          </a:xfrm>
        </p:grpSpPr>
        <p:sp>
          <p:nvSpPr>
            <p:cNvPr id="9" name="TextBox 8"/>
            <p:cNvSpPr txBox="1"/>
            <p:nvPr/>
          </p:nvSpPr>
          <p:spPr>
            <a:xfrm>
              <a:off x="5004048" y="2348880"/>
              <a:ext cx="3327770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process 1 receives from process 0</a:t>
              </a:r>
              <a:endParaRPr lang="nl-BE" dirty="0"/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 flipV="1">
              <a:off x="4067944" y="2204864"/>
              <a:ext cx="936104" cy="328682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169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549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Anatomy of </a:t>
            </a:r>
            <a:r>
              <a:rPr lang="en-US" dirty="0" err="1"/>
              <a:t>comm.ssend</a:t>
            </a:r>
            <a:r>
              <a:rPr lang="en-US" dirty="0"/>
              <a:t>/</a:t>
            </a:r>
            <a:r>
              <a:rPr lang="en-US" dirty="0" err="1"/>
              <a:t>comm.recv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3340968"/>
          </a:xfrm>
        </p:spPr>
        <p:txBody>
          <a:bodyPr>
            <a:normAutofit/>
          </a:bodyPr>
          <a:lstStyle/>
          <a:p>
            <a:r>
              <a:rPr lang="en-US" dirty="0"/>
              <a:t>Message to be send/received can be any Python type that can be pickled</a:t>
            </a:r>
          </a:p>
          <a:p>
            <a:pPr lvl="1"/>
            <a:r>
              <a:rPr lang="en-US" dirty="0"/>
              <a:t>Overhead: memory &amp; processing!</a:t>
            </a:r>
          </a:p>
          <a:p>
            <a:r>
              <a:rPr lang="en-US" dirty="0"/>
              <a:t>Destination/source: rank to send to/receive from</a:t>
            </a:r>
          </a:p>
          <a:p>
            <a:r>
              <a:rPr lang="en-US" dirty="0"/>
              <a:t>Tag: used to filter messages, must match (optional)</a:t>
            </a:r>
          </a:p>
          <a:p>
            <a:r>
              <a:rPr lang="en-US" dirty="0"/>
              <a:t>Method on communicator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539552" y="5025950"/>
            <a:ext cx="6186309" cy="40011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comm.ssend</a:t>
            </a:r>
            <a: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dest</a:t>
            </a:r>
            <a: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=2, tag=17)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5180" y="5734997"/>
            <a:ext cx="6647974" cy="40011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recv_buffer</a:t>
            </a:r>
            <a: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comm.recv</a:t>
            </a:r>
            <a: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(source=1, tag=17)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170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61802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Semantics of </a:t>
            </a:r>
            <a:r>
              <a:rPr lang="en-US" dirty="0" err="1"/>
              <a:t>comm.ssend</a:t>
            </a:r>
            <a:r>
              <a:rPr lang="en-US" dirty="0"/>
              <a:t>/</a:t>
            </a:r>
            <a:r>
              <a:rPr lang="en-US" dirty="0" err="1"/>
              <a:t>comm.recv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6856" y="2008776"/>
            <a:ext cx="8229600" cy="4525963"/>
          </a:xfrm>
        </p:spPr>
        <p:txBody>
          <a:bodyPr>
            <a:normAutofit/>
          </a:bodyPr>
          <a:lstStyle/>
          <a:p>
            <a:r>
              <a:rPr lang="en-US" dirty="0"/>
              <a:t>Blocking, i.e., will not return before buffer can be (re)used safely</a:t>
            </a:r>
          </a:p>
          <a:p>
            <a:r>
              <a:rPr lang="en-US" dirty="0"/>
              <a:t>Destination/source of message</a:t>
            </a:r>
          </a:p>
          <a:p>
            <a:pPr lvl="1"/>
            <a:r>
              <a:rPr lang="en-US" dirty="0"/>
              <a:t>can be wildcard for source in receiver (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MPI.ANY_SOURCE</a:t>
            </a:r>
            <a:r>
              <a:rPr lang="en-US" dirty="0"/>
              <a:t>)</a:t>
            </a:r>
          </a:p>
          <a:p>
            <a:r>
              <a:rPr lang="en-US" dirty="0"/>
              <a:t>Tags can optionally be used to distinguish message types</a:t>
            </a:r>
          </a:p>
          <a:p>
            <a:pPr lvl="1"/>
            <a:r>
              <a:rPr lang="en-US" dirty="0"/>
              <a:t>can be wildcard for receiver (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MPI.ANY_TAG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1560" y="5513424"/>
            <a:ext cx="7958269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All messages that are send must be received!!!</a:t>
            </a:r>
            <a:endParaRPr lang="nl-BE" sz="32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171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194822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Collective operations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25144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Involve </a:t>
            </a:r>
            <a:r>
              <a:rPr lang="en-US" b="1" i="1" dirty="0"/>
              <a:t>all</a:t>
            </a:r>
            <a:r>
              <a:rPr lang="en-US" dirty="0"/>
              <a:t> members of a communicator, </a:t>
            </a:r>
            <a:r>
              <a:rPr lang="en-US" b="1" i="1" dirty="0"/>
              <a:t>all</a:t>
            </a:r>
            <a:r>
              <a:rPr lang="en-US" dirty="0"/>
              <a:t> members must call</a:t>
            </a:r>
          </a:p>
          <a:p>
            <a:r>
              <a:rPr lang="en-US" dirty="0"/>
              <a:t>Various types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comm.bcast</a:t>
            </a:r>
            <a:r>
              <a:rPr lang="en-US" dirty="0"/>
              <a:t>: send message from root to all members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comm.scatter</a:t>
            </a:r>
            <a:r>
              <a:rPr lang="en-US" dirty="0"/>
              <a:t>: send a possibly unique message from root to all members 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comm.gather</a:t>
            </a:r>
            <a:r>
              <a:rPr lang="en-US" dirty="0"/>
              <a:t>: root retrieves unique messages from all members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comm.reduce</a:t>
            </a:r>
            <a:r>
              <a:rPr lang="en-US" dirty="0"/>
              <a:t>: perform reduction on data of all members, resulting in an aggregate value in root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comm.alltoall</a:t>
            </a:r>
            <a:r>
              <a:rPr lang="en-US" dirty="0"/>
              <a:t>: all processes communicate values to one another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Synchronizes processes, unless non-blocking</a:t>
            </a:r>
          </a:p>
          <a:p>
            <a:r>
              <a:rPr lang="en-US" dirty="0"/>
              <a:t>Optimization opportunities for library implementations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172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165152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comm.bcast</a:t>
            </a:r>
            <a:endParaRPr lang="nl-BE" dirty="0"/>
          </a:p>
        </p:txBody>
      </p:sp>
      <p:sp>
        <p:nvSpPr>
          <p:cNvPr id="3" name="TextBox 2"/>
          <p:cNvSpPr txBox="1"/>
          <p:nvPr/>
        </p:nvSpPr>
        <p:spPr>
          <a:xfrm>
            <a:off x="971600" y="3140968"/>
            <a:ext cx="106740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0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712504" y="3140968"/>
            <a:ext cx="106740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1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4956813" y="3140968"/>
            <a:ext cx="14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</a:t>
            </a:r>
            <a:r>
              <a:rPr lang="en-US" i="1" dirty="0" err="1"/>
              <a:t>np</a:t>
            </a:r>
            <a:r>
              <a:rPr lang="en-US" dirty="0"/>
              <a:t> - 1</a:t>
            </a:r>
            <a:endParaRPr lang="nl-BE" dirty="0"/>
          </a:p>
        </p:txBody>
      </p:sp>
      <p:sp>
        <p:nvSpPr>
          <p:cNvPr id="6" name="TextBox 5"/>
          <p:cNvSpPr txBox="1"/>
          <p:nvPr/>
        </p:nvSpPr>
        <p:spPr>
          <a:xfrm>
            <a:off x="3923928" y="1844824"/>
            <a:ext cx="100328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</a:t>
            </a:r>
            <a:r>
              <a:rPr lang="nl-BE" i="1" dirty="0"/>
              <a:t>i</a:t>
            </a:r>
            <a:endParaRPr lang="en-US" i="1" dirty="0"/>
          </a:p>
        </p:txBody>
      </p:sp>
      <p:sp>
        <p:nvSpPr>
          <p:cNvPr id="7" name="TextBox 6"/>
          <p:cNvSpPr txBox="1"/>
          <p:nvPr/>
        </p:nvSpPr>
        <p:spPr>
          <a:xfrm>
            <a:off x="3678220" y="2132856"/>
            <a:ext cx="317716" cy="46166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400" i="1" dirty="0"/>
              <a:t>x</a:t>
            </a:r>
            <a:endParaRPr lang="nl-BE" i="1" dirty="0"/>
          </a:p>
        </p:txBody>
      </p:sp>
      <p:sp>
        <p:nvSpPr>
          <p:cNvPr id="16" name="TextBox 15"/>
          <p:cNvSpPr txBox="1"/>
          <p:nvPr/>
        </p:nvSpPr>
        <p:spPr>
          <a:xfrm>
            <a:off x="4228636" y="314096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nl-BE" dirty="0"/>
          </a:p>
        </p:txBody>
      </p:sp>
      <p:grpSp>
        <p:nvGrpSpPr>
          <p:cNvPr id="20" name="Group 19"/>
          <p:cNvGrpSpPr/>
          <p:nvPr/>
        </p:nvGrpSpPr>
        <p:grpSpPr>
          <a:xfrm>
            <a:off x="869908" y="2214156"/>
            <a:ext cx="4830603" cy="1718900"/>
            <a:chOff x="869908" y="2214156"/>
            <a:chExt cx="4830603" cy="1718900"/>
          </a:xfrm>
        </p:grpSpPr>
        <p:cxnSp>
          <p:nvCxnSpPr>
            <p:cNvPr id="9" name="Straight Arrow Connector 8"/>
            <p:cNvCxnSpPr>
              <a:stCxn id="6" idx="2"/>
              <a:endCxn id="3" idx="0"/>
            </p:cNvCxnSpPr>
            <p:nvPr/>
          </p:nvCxnSpPr>
          <p:spPr>
            <a:xfrm flipH="1">
              <a:off x="1505304" y="2214156"/>
              <a:ext cx="2920268" cy="92681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/>
            <p:cNvCxnSpPr>
              <a:stCxn id="6" idx="2"/>
              <a:endCxn id="4" idx="0"/>
            </p:cNvCxnSpPr>
            <p:nvPr/>
          </p:nvCxnSpPr>
          <p:spPr>
            <a:xfrm flipH="1">
              <a:off x="3246208" y="2214156"/>
              <a:ext cx="1179364" cy="92681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/>
            <p:cNvCxnSpPr>
              <a:stCxn id="6" idx="2"/>
              <a:endCxn id="5" idx="0"/>
            </p:cNvCxnSpPr>
            <p:nvPr/>
          </p:nvCxnSpPr>
          <p:spPr>
            <a:xfrm>
              <a:off x="4425572" y="2214156"/>
              <a:ext cx="1274939" cy="92681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/>
            <p:cNvSpPr txBox="1"/>
            <p:nvPr/>
          </p:nvSpPr>
          <p:spPr>
            <a:xfrm>
              <a:off x="869908" y="3471391"/>
              <a:ext cx="317716" cy="46166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x</a:t>
              </a:r>
              <a:endParaRPr lang="nl-BE" i="1" dirty="0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526092" y="3471391"/>
              <a:ext cx="317716" cy="46166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x</a:t>
              </a:r>
              <a:endParaRPr lang="nl-BE" i="1" dirty="0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716016" y="3471391"/>
              <a:ext cx="317716" cy="46166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x</a:t>
              </a:r>
              <a:endParaRPr lang="nl-BE" i="1" dirty="0"/>
            </a:p>
          </p:txBody>
        </p:sp>
      </p:grpSp>
      <p:sp>
        <p:nvSpPr>
          <p:cNvPr id="37" name="Rectangle 36"/>
          <p:cNvSpPr/>
          <p:nvPr/>
        </p:nvSpPr>
        <p:spPr>
          <a:xfrm>
            <a:off x="648072" y="4458598"/>
            <a:ext cx="7380312" cy="338554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data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comm.bcast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root=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nl-BE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173</a:t>
            </a:fld>
            <a:endParaRPr lang="nl-BE"/>
          </a:p>
        </p:txBody>
      </p:sp>
      <p:grpSp>
        <p:nvGrpSpPr>
          <p:cNvPr id="21" name="Group 20"/>
          <p:cNvGrpSpPr/>
          <p:nvPr/>
        </p:nvGrpSpPr>
        <p:grpSpPr>
          <a:xfrm>
            <a:off x="3601404" y="3789040"/>
            <a:ext cx="5075052" cy="669558"/>
            <a:chOff x="2844988" y="2129373"/>
            <a:chExt cx="5075052" cy="669558"/>
          </a:xfrm>
        </p:grpSpPr>
        <p:sp>
          <p:nvSpPr>
            <p:cNvPr id="22" name="TextBox 21"/>
            <p:cNvSpPr txBox="1"/>
            <p:nvPr/>
          </p:nvSpPr>
          <p:spPr>
            <a:xfrm>
              <a:off x="5718219" y="2129373"/>
              <a:ext cx="220182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on root, i.e., process </a:t>
              </a:r>
              <a:r>
                <a:rPr lang="en-US" i="1" dirty="0" err="1"/>
                <a:t>i</a:t>
              </a:r>
              <a:endParaRPr lang="nl-BE" i="1" dirty="0"/>
            </a:p>
          </p:txBody>
        </p:sp>
        <p:cxnSp>
          <p:nvCxnSpPr>
            <p:cNvPr id="23" name="Straight Arrow Connector 22"/>
            <p:cNvCxnSpPr>
              <a:stCxn id="22" idx="1"/>
            </p:cNvCxnSpPr>
            <p:nvPr/>
          </p:nvCxnSpPr>
          <p:spPr>
            <a:xfrm flipH="1">
              <a:off x="2844988" y="2314039"/>
              <a:ext cx="2873231" cy="484892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230727" y="4797152"/>
            <a:ext cx="1913794" cy="1668968"/>
            <a:chOff x="-678089" y="1646803"/>
            <a:chExt cx="1913794" cy="1668968"/>
          </a:xfrm>
        </p:grpSpPr>
        <p:sp>
          <p:nvSpPr>
            <p:cNvPr id="25" name="TextBox 24"/>
            <p:cNvSpPr txBox="1"/>
            <p:nvPr/>
          </p:nvSpPr>
          <p:spPr>
            <a:xfrm>
              <a:off x="-678089" y="2392441"/>
              <a:ext cx="1913794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on all processes of</a:t>
              </a:r>
              <a:br>
                <a:rPr lang="en-US" dirty="0"/>
              </a:br>
              <a:r>
                <a:rPr lang="en-US" dirty="0"/>
                <a:t>communicator,</a:t>
              </a:r>
              <a:br>
                <a:rPr lang="en-US" dirty="0"/>
              </a:br>
              <a:r>
                <a:rPr lang="en-US" dirty="0"/>
                <a:t>including root</a:t>
              </a:r>
              <a:endParaRPr lang="nl-BE" i="1" dirty="0"/>
            </a:p>
          </p:txBody>
        </p:sp>
        <p:cxnSp>
          <p:nvCxnSpPr>
            <p:cNvPr id="26" name="Straight Arrow Connector 25"/>
            <p:cNvCxnSpPr>
              <a:stCxn id="25" idx="0"/>
            </p:cNvCxnSpPr>
            <p:nvPr/>
          </p:nvCxnSpPr>
          <p:spPr>
            <a:xfrm flipH="1" flipV="1">
              <a:off x="119950" y="1646803"/>
              <a:ext cx="158858" cy="745638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/>
          <p:cNvSpPr txBox="1"/>
          <p:nvPr/>
        </p:nvSpPr>
        <p:spPr>
          <a:xfrm>
            <a:off x="3031033" y="5673214"/>
            <a:ext cx="4092852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cs typeface="Courier New" panose="02070309020205020404" pitchFamily="49" charset="0"/>
              </a:rPr>
              <a:t>at </a:t>
            </a:r>
            <a:r>
              <a:rPr lang="en-US" sz="2000" i="1" dirty="0">
                <a:cs typeface="Courier New" panose="02070309020205020404" pitchFamily="49" charset="0"/>
              </a:rPr>
              <a:t>j</a:t>
            </a:r>
            <a:r>
              <a:rPr lang="en-US" sz="2000" dirty="0">
                <a:cs typeface="Courier New" panose="02070309020205020404" pitchFamily="49" charset="0"/>
              </a:rPr>
              <a:t>,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data ==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en-US" sz="2000" dirty="0">
                <a:cs typeface="Courier New" panose="02070309020205020404" pitchFamily="49" charset="0"/>
              </a:rPr>
              <a:t> at </a:t>
            </a:r>
            <a:r>
              <a:rPr lang="en-US" sz="2000" i="1" dirty="0" err="1">
                <a:cs typeface="Courier New" panose="02070309020205020404" pitchFamily="49" charset="0"/>
              </a:rPr>
              <a:t>i</a:t>
            </a:r>
            <a:endParaRPr lang="nl-BE" sz="2000" i="1" dirty="0"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3572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comm.scatter</a:t>
            </a:r>
            <a:endParaRPr lang="nl-BE" dirty="0"/>
          </a:p>
        </p:txBody>
      </p:sp>
      <p:sp>
        <p:nvSpPr>
          <p:cNvPr id="3" name="TextBox 2"/>
          <p:cNvSpPr txBox="1"/>
          <p:nvPr/>
        </p:nvSpPr>
        <p:spPr>
          <a:xfrm>
            <a:off x="971600" y="3140968"/>
            <a:ext cx="106740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0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712504" y="3140968"/>
            <a:ext cx="106740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1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4956813" y="3140968"/>
            <a:ext cx="14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</a:t>
            </a:r>
            <a:r>
              <a:rPr lang="en-US" i="1" dirty="0" err="1"/>
              <a:t>np</a:t>
            </a:r>
            <a:r>
              <a:rPr lang="en-US" dirty="0"/>
              <a:t> - 1</a:t>
            </a:r>
            <a:endParaRPr lang="nl-BE" dirty="0"/>
          </a:p>
        </p:txBody>
      </p:sp>
      <p:sp>
        <p:nvSpPr>
          <p:cNvPr id="6" name="TextBox 5"/>
          <p:cNvSpPr txBox="1"/>
          <p:nvPr/>
        </p:nvSpPr>
        <p:spPr>
          <a:xfrm>
            <a:off x="3923928" y="1844824"/>
            <a:ext cx="100328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</a:t>
            </a:r>
            <a:r>
              <a:rPr lang="nl-BE" i="1" dirty="0"/>
              <a:t>i</a:t>
            </a:r>
            <a:endParaRPr lang="en-US" i="1" dirty="0"/>
          </a:p>
        </p:txBody>
      </p:sp>
      <p:sp>
        <p:nvSpPr>
          <p:cNvPr id="16" name="TextBox 15"/>
          <p:cNvSpPr txBox="1"/>
          <p:nvPr/>
        </p:nvSpPr>
        <p:spPr>
          <a:xfrm>
            <a:off x="4228636" y="314096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nl-BE" dirty="0"/>
          </a:p>
        </p:txBody>
      </p:sp>
      <p:grpSp>
        <p:nvGrpSpPr>
          <p:cNvPr id="11" name="Group 10"/>
          <p:cNvGrpSpPr/>
          <p:nvPr/>
        </p:nvGrpSpPr>
        <p:grpSpPr>
          <a:xfrm>
            <a:off x="869908" y="2214156"/>
            <a:ext cx="4830603" cy="1718900"/>
            <a:chOff x="869908" y="2214156"/>
            <a:chExt cx="4830603" cy="1718900"/>
          </a:xfrm>
        </p:grpSpPr>
        <p:cxnSp>
          <p:nvCxnSpPr>
            <p:cNvPr id="9" name="Straight Arrow Connector 8"/>
            <p:cNvCxnSpPr>
              <a:stCxn id="6" idx="2"/>
              <a:endCxn id="3" idx="0"/>
            </p:cNvCxnSpPr>
            <p:nvPr/>
          </p:nvCxnSpPr>
          <p:spPr>
            <a:xfrm flipH="1">
              <a:off x="1505304" y="2214156"/>
              <a:ext cx="2920268" cy="92681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/>
            <p:cNvCxnSpPr>
              <a:stCxn id="6" idx="2"/>
              <a:endCxn id="4" idx="0"/>
            </p:cNvCxnSpPr>
            <p:nvPr/>
          </p:nvCxnSpPr>
          <p:spPr>
            <a:xfrm flipH="1">
              <a:off x="3246208" y="2214156"/>
              <a:ext cx="1179364" cy="92681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/>
            <p:cNvCxnSpPr>
              <a:stCxn id="6" idx="2"/>
              <a:endCxn id="5" idx="0"/>
            </p:cNvCxnSpPr>
            <p:nvPr/>
          </p:nvCxnSpPr>
          <p:spPr>
            <a:xfrm>
              <a:off x="4425572" y="2214156"/>
              <a:ext cx="1274939" cy="92681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/>
            <p:cNvSpPr txBox="1"/>
            <p:nvPr/>
          </p:nvSpPr>
          <p:spPr>
            <a:xfrm>
              <a:off x="869908" y="3471391"/>
              <a:ext cx="317716" cy="46166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x</a:t>
              </a:r>
              <a:endParaRPr lang="nl-BE" i="1" dirty="0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526092" y="3471391"/>
              <a:ext cx="322524" cy="461665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y</a:t>
              </a:r>
              <a:endParaRPr lang="nl-BE" i="1" dirty="0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716016" y="3471391"/>
              <a:ext cx="306494" cy="461665"/>
            </a:xfrm>
            <a:prstGeom prst="rect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z</a:t>
              </a:r>
              <a:endParaRPr lang="nl-BE" i="1" dirty="0"/>
            </a:p>
          </p:txBody>
        </p:sp>
      </p:grpSp>
      <p:sp>
        <p:nvSpPr>
          <p:cNvPr id="37" name="Rectangle 36"/>
          <p:cNvSpPr/>
          <p:nvPr/>
        </p:nvSpPr>
        <p:spPr>
          <a:xfrm>
            <a:off x="539552" y="4458598"/>
            <a:ext cx="7380312" cy="338554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data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comm.scatter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root=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nl-BE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3601404" y="1412776"/>
            <a:ext cx="322524" cy="1541785"/>
            <a:chOff x="3682643" y="2132856"/>
            <a:chExt cx="322524" cy="1541785"/>
          </a:xfrm>
        </p:grpSpPr>
        <p:sp>
          <p:nvSpPr>
            <p:cNvPr id="7" name="TextBox 6"/>
            <p:cNvSpPr txBox="1"/>
            <p:nvPr/>
          </p:nvSpPr>
          <p:spPr>
            <a:xfrm>
              <a:off x="3685047" y="2132856"/>
              <a:ext cx="317716" cy="46166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x</a:t>
              </a:r>
              <a:endParaRPr lang="nl-BE" i="1" dirty="0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3682643" y="2672916"/>
              <a:ext cx="322524" cy="461665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y</a:t>
              </a:r>
              <a:endParaRPr lang="nl-BE" i="1" dirty="0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690658" y="3212976"/>
              <a:ext cx="306494" cy="461665"/>
            </a:xfrm>
            <a:prstGeom prst="rect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z</a:t>
              </a:r>
              <a:endParaRPr lang="nl-BE" i="1" dirty="0"/>
            </a:p>
          </p:txBody>
        </p:sp>
      </p:grpSp>
      <p:grpSp>
        <p:nvGrpSpPr>
          <p:cNvPr id="23" name="Group 22"/>
          <p:cNvGrpSpPr/>
          <p:nvPr/>
        </p:nvGrpSpPr>
        <p:grpSpPr>
          <a:xfrm>
            <a:off x="3601404" y="3789040"/>
            <a:ext cx="5075052" cy="669558"/>
            <a:chOff x="2844988" y="2129373"/>
            <a:chExt cx="5075052" cy="669558"/>
          </a:xfrm>
        </p:grpSpPr>
        <p:sp>
          <p:nvSpPr>
            <p:cNvPr id="24" name="TextBox 23"/>
            <p:cNvSpPr txBox="1"/>
            <p:nvPr/>
          </p:nvSpPr>
          <p:spPr>
            <a:xfrm>
              <a:off x="5718219" y="2129373"/>
              <a:ext cx="220182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on root, i.e., process </a:t>
              </a:r>
              <a:r>
                <a:rPr lang="en-US" i="1" dirty="0" err="1"/>
                <a:t>i</a:t>
              </a:r>
              <a:endParaRPr lang="nl-BE" i="1" dirty="0"/>
            </a:p>
          </p:txBody>
        </p:sp>
        <p:cxnSp>
          <p:nvCxnSpPr>
            <p:cNvPr id="25" name="Straight Arrow Connector 24"/>
            <p:cNvCxnSpPr>
              <a:stCxn id="24" idx="1"/>
            </p:cNvCxnSpPr>
            <p:nvPr/>
          </p:nvCxnSpPr>
          <p:spPr>
            <a:xfrm flipH="1">
              <a:off x="2844988" y="2314039"/>
              <a:ext cx="2873231" cy="484892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/>
          <p:cNvGrpSpPr/>
          <p:nvPr/>
        </p:nvGrpSpPr>
        <p:grpSpPr>
          <a:xfrm>
            <a:off x="230727" y="4797152"/>
            <a:ext cx="1913794" cy="1668968"/>
            <a:chOff x="-678089" y="1646803"/>
            <a:chExt cx="1913794" cy="1668968"/>
          </a:xfrm>
        </p:grpSpPr>
        <p:sp>
          <p:nvSpPr>
            <p:cNvPr id="27" name="TextBox 26"/>
            <p:cNvSpPr txBox="1"/>
            <p:nvPr/>
          </p:nvSpPr>
          <p:spPr>
            <a:xfrm>
              <a:off x="-678089" y="2392441"/>
              <a:ext cx="1913794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on all processes of</a:t>
              </a:r>
              <a:br>
                <a:rPr lang="en-US" dirty="0"/>
              </a:br>
              <a:r>
                <a:rPr lang="en-US" dirty="0"/>
                <a:t>communicator,</a:t>
              </a:r>
              <a:br>
                <a:rPr lang="en-US" dirty="0"/>
              </a:br>
              <a:r>
                <a:rPr lang="en-US" dirty="0"/>
                <a:t>including root</a:t>
              </a:r>
              <a:endParaRPr lang="nl-BE" i="1" dirty="0"/>
            </a:p>
          </p:txBody>
        </p:sp>
        <p:cxnSp>
          <p:nvCxnSpPr>
            <p:cNvPr id="28" name="Straight Arrow Connector 27"/>
            <p:cNvCxnSpPr>
              <a:stCxn id="27" idx="0"/>
            </p:cNvCxnSpPr>
            <p:nvPr/>
          </p:nvCxnSpPr>
          <p:spPr>
            <a:xfrm flipH="1" flipV="1">
              <a:off x="119950" y="1646803"/>
              <a:ext cx="158858" cy="745638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174</a:t>
            </a:fld>
            <a:endParaRPr lang="nl-BE"/>
          </a:p>
        </p:txBody>
      </p:sp>
      <p:sp>
        <p:nvSpPr>
          <p:cNvPr id="14" name="TextBox 13"/>
          <p:cNvSpPr txBox="1"/>
          <p:nvPr/>
        </p:nvSpPr>
        <p:spPr>
          <a:xfrm>
            <a:off x="3031033" y="5673214"/>
            <a:ext cx="5570756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 ==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comm.Get_size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sz="2000" dirty="0">
                <a:cs typeface="Courier New" panose="02070309020205020404" pitchFamily="49" charset="0"/>
              </a:rPr>
              <a:t>at </a:t>
            </a:r>
            <a:r>
              <a:rPr lang="en-US" sz="2000" i="1" dirty="0">
                <a:cs typeface="Courier New" panose="02070309020205020404" pitchFamily="49" charset="0"/>
              </a:rPr>
              <a:t>j</a:t>
            </a:r>
            <a:r>
              <a:rPr lang="en-US" sz="2000" dirty="0">
                <a:cs typeface="Courier New" panose="02070309020205020404" pitchFamily="49" charset="0"/>
              </a:rPr>
              <a:t>,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data ==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[j]</a:t>
            </a:r>
            <a:r>
              <a:rPr lang="en-US" sz="2000" dirty="0">
                <a:cs typeface="Courier New" panose="02070309020205020404" pitchFamily="49" charset="0"/>
              </a:rPr>
              <a:t> at </a:t>
            </a:r>
            <a:r>
              <a:rPr lang="en-US" sz="2000" i="1" dirty="0" err="1">
                <a:cs typeface="Courier New" panose="02070309020205020404" pitchFamily="49" charset="0"/>
              </a:rPr>
              <a:t>i</a:t>
            </a:r>
            <a:endParaRPr lang="nl-BE" sz="2000" i="1" dirty="0"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263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comm.gather</a:t>
            </a:r>
            <a:endParaRPr lang="nl-BE" dirty="0"/>
          </a:p>
        </p:txBody>
      </p:sp>
      <p:sp>
        <p:nvSpPr>
          <p:cNvPr id="3" name="TextBox 2"/>
          <p:cNvSpPr txBox="1"/>
          <p:nvPr/>
        </p:nvSpPr>
        <p:spPr>
          <a:xfrm>
            <a:off x="971600" y="1547500"/>
            <a:ext cx="106740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0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712504" y="1547500"/>
            <a:ext cx="106740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1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4956813" y="1547500"/>
            <a:ext cx="14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</a:t>
            </a:r>
            <a:r>
              <a:rPr lang="en-US" i="1" dirty="0" err="1"/>
              <a:t>np</a:t>
            </a:r>
            <a:r>
              <a:rPr lang="en-US" dirty="0"/>
              <a:t> - 1</a:t>
            </a:r>
            <a:endParaRPr lang="nl-BE" dirty="0"/>
          </a:p>
        </p:txBody>
      </p:sp>
      <p:sp>
        <p:nvSpPr>
          <p:cNvPr id="6" name="TextBox 5"/>
          <p:cNvSpPr txBox="1"/>
          <p:nvPr/>
        </p:nvSpPr>
        <p:spPr>
          <a:xfrm>
            <a:off x="3923928" y="3491716"/>
            <a:ext cx="100328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</a:t>
            </a:r>
            <a:r>
              <a:rPr lang="nl-BE" i="1" dirty="0"/>
              <a:t>i</a:t>
            </a:r>
            <a:endParaRPr lang="en-US" i="1" dirty="0"/>
          </a:p>
        </p:txBody>
      </p:sp>
      <p:sp>
        <p:nvSpPr>
          <p:cNvPr id="16" name="TextBox 15"/>
          <p:cNvSpPr txBox="1"/>
          <p:nvPr/>
        </p:nvSpPr>
        <p:spPr>
          <a:xfrm>
            <a:off x="4228636" y="1547500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nl-BE" dirty="0"/>
          </a:p>
        </p:txBody>
      </p:sp>
      <p:grpSp>
        <p:nvGrpSpPr>
          <p:cNvPr id="11" name="Group 10"/>
          <p:cNvGrpSpPr/>
          <p:nvPr/>
        </p:nvGrpSpPr>
        <p:grpSpPr>
          <a:xfrm>
            <a:off x="869908" y="1844824"/>
            <a:ext cx="4830603" cy="1646892"/>
            <a:chOff x="869908" y="1844824"/>
            <a:chExt cx="4830603" cy="1646892"/>
          </a:xfrm>
        </p:grpSpPr>
        <p:cxnSp>
          <p:nvCxnSpPr>
            <p:cNvPr id="9" name="Straight Arrow Connector 8"/>
            <p:cNvCxnSpPr>
              <a:stCxn id="6" idx="0"/>
              <a:endCxn id="3" idx="2"/>
            </p:cNvCxnSpPr>
            <p:nvPr/>
          </p:nvCxnSpPr>
          <p:spPr>
            <a:xfrm flipH="1" flipV="1">
              <a:off x="1505304" y="1916832"/>
              <a:ext cx="2920268" cy="1574884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stealth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/>
            <p:cNvCxnSpPr>
              <a:stCxn id="6" idx="0"/>
              <a:endCxn id="4" idx="2"/>
            </p:cNvCxnSpPr>
            <p:nvPr/>
          </p:nvCxnSpPr>
          <p:spPr>
            <a:xfrm flipH="1" flipV="1">
              <a:off x="3246208" y="1916832"/>
              <a:ext cx="1179364" cy="1574884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stealth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/>
            <p:cNvCxnSpPr>
              <a:stCxn id="6" idx="0"/>
              <a:endCxn id="5" idx="2"/>
            </p:cNvCxnSpPr>
            <p:nvPr/>
          </p:nvCxnSpPr>
          <p:spPr>
            <a:xfrm flipV="1">
              <a:off x="4425572" y="1916832"/>
              <a:ext cx="1274939" cy="1574884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stealth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/>
            <p:cNvSpPr txBox="1"/>
            <p:nvPr/>
          </p:nvSpPr>
          <p:spPr>
            <a:xfrm>
              <a:off x="869908" y="1844824"/>
              <a:ext cx="317716" cy="46166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x</a:t>
              </a:r>
              <a:endParaRPr lang="nl-BE" i="1" dirty="0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526092" y="1844824"/>
              <a:ext cx="322524" cy="461665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y</a:t>
              </a:r>
              <a:endParaRPr lang="nl-BE" i="1" dirty="0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716016" y="1844824"/>
              <a:ext cx="306494" cy="461665"/>
            </a:xfrm>
            <a:prstGeom prst="rect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z</a:t>
              </a:r>
              <a:endParaRPr lang="nl-BE" i="1" dirty="0"/>
            </a:p>
          </p:txBody>
        </p:sp>
      </p:grpSp>
      <p:sp>
        <p:nvSpPr>
          <p:cNvPr id="37" name="Rectangle 36"/>
          <p:cNvSpPr/>
          <p:nvPr/>
        </p:nvSpPr>
        <p:spPr>
          <a:xfrm>
            <a:off x="648072" y="4830251"/>
            <a:ext cx="7380312" cy="338554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data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comm.gather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root=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nl-BE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3601404" y="2967335"/>
            <a:ext cx="322524" cy="1541785"/>
            <a:chOff x="3682643" y="2132856"/>
            <a:chExt cx="322524" cy="1541785"/>
          </a:xfrm>
        </p:grpSpPr>
        <p:sp>
          <p:nvSpPr>
            <p:cNvPr id="7" name="TextBox 6"/>
            <p:cNvSpPr txBox="1"/>
            <p:nvPr/>
          </p:nvSpPr>
          <p:spPr>
            <a:xfrm>
              <a:off x="3685047" y="2132856"/>
              <a:ext cx="317716" cy="46166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x</a:t>
              </a:r>
              <a:endParaRPr lang="nl-BE" i="1" dirty="0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3682643" y="2672916"/>
              <a:ext cx="322524" cy="461665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y</a:t>
              </a:r>
              <a:endParaRPr lang="nl-BE" i="1" dirty="0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690658" y="3212976"/>
              <a:ext cx="306494" cy="461665"/>
            </a:xfrm>
            <a:prstGeom prst="rect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z</a:t>
              </a:r>
              <a:endParaRPr lang="nl-BE" i="1" dirty="0"/>
            </a:p>
          </p:txBody>
        </p:sp>
      </p:grpSp>
      <p:grpSp>
        <p:nvGrpSpPr>
          <p:cNvPr id="26" name="Group 25"/>
          <p:cNvGrpSpPr/>
          <p:nvPr/>
        </p:nvGrpSpPr>
        <p:grpSpPr>
          <a:xfrm>
            <a:off x="4139952" y="3943279"/>
            <a:ext cx="3844486" cy="923330"/>
            <a:chOff x="3493060" y="1923572"/>
            <a:chExt cx="3844486" cy="923330"/>
          </a:xfrm>
        </p:grpSpPr>
        <p:sp>
          <p:nvSpPr>
            <p:cNvPr id="27" name="TextBox 26"/>
            <p:cNvSpPr txBox="1"/>
            <p:nvPr/>
          </p:nvSpPr>
          <p:spPr>
            <a:xfrm>
              <a:off x="5423752" y="1923572"/>
              <a:ext cx="1913794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on all processes of</a:t>
              </a:r>
              <a:br>
                <a:rPr lang="en-US" dirty="0"/>
              </a:br>
              <a:r>
                <a:rPr lang="en-US" dirty="0"/>
                <a:t>communicator,</a:t>
              </a:r>
              <a:br>
                <a:rPr lang="en-US" dirty="0"/>
              </a:br>
              <a:r>
                <a:rPr lang="en-US" dirty="0"/>
                <a:t>including root</a:t>
              </a:r>
              <a:endParaRPr lang="nl-BE" i="1" dirty="0"/>
            </a:p>
          </p:txBody>
        </p:sp>
        <p:cxnSp>
          <p:nvCxnSpPr>
            <p:cNvPr id="28" name="Straight Arrow Connector 27"/>
            <p:cNvCxnSpPr>
              <a:stCxn id="27" idx="1"/>
            </p:cNvCxnSpPr>
            <p:nvPr/>
          </p:nvCxnSpPr>
          <p:spPr>
            <a:xfrm flipH="1">
              <a:off x="3493060" y="2385237"/>
              <a:ext cx="1930692" cy="425307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>
            <a:off x="230726" y="5168805"/>
            <a:ext cx="2201821" cy="1140515"/>
            <a:chOff x="-678090" y="1990590"/>
            <a:chExt cx="2201821" cy="1140515"/>
          </a:xfrm>
        </p:grpSpPr>
        <p:sp>
          <p:nvSpPr>
            <p:cNvPr id="31" name="TextBox 30"/>
            <p:cNvSpPr txBox="1"/>
            <p:nvPr/>
          </p:nvSpPr>
          <p:spPr>
            <a:xfrm>
              <a:off x="-678090" y="2761773"/>
              <a:ext cx="220182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on root, i.e., process </a:t>
              </a:r>
              <a:r>
                <a:rPr lang="en-US" i="1" dirty="0" err="1"/>
                <a:t>i</a:t>
              </a:r>
              <a:endParaRPr lang="nl-BE" i="1" dirty="0"/>
            </a:p>
          </p:txBody>
        </p:sp>
        <p:cxnSp>
          <p:nvCxnSpPr>
            <p:cNvPr id="32" name="Straight Arrow Connector 31"/>
            <p:cNvCxnSpPr>
              <a:stCxn id="31" idx="0"/>
            </p:cNvCxnSpPr>
            <p:nvPr/>
          </p:nvCxnSpPr>
          <p:spPr>
            <a:xfrm flipH="1" flipV="1">
              <a:off x="119950" y="1990590"/>
              <a:ext cx="302871" cy="77118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175</a:t>
            </a:fld>
            <a:endParaRPr lang="nl-BE"/>
          </a:p>
        </p:txBody>
      </p:sp>
      <p:sp>
        <p:nvSpPr>
          <p:cNvPr id="33" name="TextBox 32"/>
          <p:cNvSpPr txBox="1"/>
          <p:nvPr/>
        </p:nvSpPr>
        <p:spPr>
          <a:xfrm>
            <a:off x="3031033" y="5673214"/>
            <a:ext cx="4459939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(data) ==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comm.Get_size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sz="2000" dirty="0">
                <a:cs typeface="Courier New" panose="02070309020205020404" pitchFamily="49" charset="0"/>
              </a:rPr>
              <a:t>at </a:t>
            </a:r>
            <a:r>
              <a:rPr lang="en-US" sz="2000" i="1" dirty="0" err="1">
                <a:cs typeface="Courier New" panose="02070309020205020404" pitchFamily="49" charset="0"/>
              </a:rPr>
              <a:t>i</a:t>
            </a:r>
            <a:r>
              <a:rPr lang="en-US" sz="2000" dirty="0">
                <a:cs typeface="Courier New" panose="02070309020205020404" pitchFamily="49" charset="0"/>
              </a:rPr>
              <a:t>,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data[j] ==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en-US" sz="2000" dirty="0">
                <a:cs typeface="Courier New" panose="02070309020205020404" pitchFamily="49" charset="0"/>
              </a:rPr>
              <a:t> at </a:t>
            </a:r>
            <a:r>
              <a:rPr lang="en-US" sz="2000" i="1" dirty="0">
                <a:cs typeface="Courier New" panose="02070309020205020404" pitchFamily="49" charset="0"/>
              </a:rPr>
              <a:t>j</a:t>
            </a:r>
            <a:endParaRPr lang="nl-BE" sz="2000" i="1" dirty="0"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6803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</p:bldLst>
  </p:timing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comm.reduce</a:t>
            </a:r>
            <a:endParaRPr lang="nl-BE" dirty="0"/>
          </a:p>
        </p:txBody>
      </p:sp>
      <p:sp>
        <p:nvSpPr>
          <p:cNvPr id="3" name="TextBox 2"/>
          <p:cNvSpPr txBox="1"/>
          <p:nvPr/>
        </p:nvSpPr>
        <p:spPr>
          <a:xfrm>
            <a:off x="971600" y="1547500"/>
            <a:ext cx="106740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0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712504" y="1547500"/>
            <a:ext cx="106740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1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4956813" y="1547500"/>
            <a:ext cx="14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</a:t>
            </a:r>
            <a:r>
              <a:rPr lang="en-US" dirty="0" err="1"/>
              <a:t>np</a:t>
            </a:r>
            <a:r>
              <a:rPr lang="en-US" dirty="0"/>
              <a:t> - 1</a:t>
            </a:r>
            <a:endParaRPr lang="nl-BE" dirty="0"/>
          </a:p>
        </p:txBody>
      </p:sp>
      <p:sp>
        <p:nvSpPr>
          <p:cNvPr id="6" name="TextBox 5"/>
          <p:cNvSpPr txBox="1"/>
          <p:nvPr/>
        </p:nvSpPr>
        <p:spPr>
          <a:xfrm>
            <a:off x="3923928" y="3491716"/>
            <a:ext cx="100328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</a:t>
            </a:r>
            <a:r>
              <a:rPr lang="nl-BE" i="1" dirty="0"/>
              <a:t>i</a:t>
            </a:r>
            <a:endParaRPr lang="en-US" i="1" dirty="0"/>
          </a:p>
        </p:txBody>
      </p:sp>
      <p:sp>
        <p:nvSpPr>
          <p:cNvPr id="16" name="TextBox 15"/>
          <p:cNvSpPr txBox="1"/>
          <p:nvPr/>
        </p:nvSpPr>
        <p:spPr>
          <a:xfrm>
            <a:off x="4228636" y="1547500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nl-BE" dirty="0"/>
          </a:p>
        </p:txBody>
      </p:sp>
      <p:grpSp>
        <p:nvGrpSpPr>
          <p:cNvPr id="11" name="Group 10"/>
          <p:cNvGrpSpPr/>
          <p:nvPr/>
        </p:nvGrpSpPr>
        <p:grpSpPr>
          <a:xfrm>
            <a:off x="869908" y="1844824"/>
            <a:ext cx="4830603" cy="1646892"/>
            <a:chOff x="869908" y="1844824"/>
            <a:chExt cx="4830603" cy="1646892"/>
          </a:xfrm>
        </p:grpSpPr>
        <p:cxnSp>
          <p:nvCxnSpPr>
            <p:cNvPr id="9" name="Straight Arrow Connector 8"/>
            <p:cNvCxnSpPr>
              <a:stCxn id="6" idx="0"/>
              <a:endCxn id="3" idx="2"/>
            </p:cNvCxnSpPr>
            <p:nvPr/>
          </p:nvCxnSpPr>
          <p:spPr>
            <a:xfrm flipH="1" flipV="1">
              <a:off x="1505304" y="1916832"/>
              <a:ext cx="2920268" cy="1574884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stealth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/>
            <p:cNvCxnSpPr>
              <a:stCxn id="6" idx="0"/>
              <a:endCxn id="4" idx="2"/>
            </p:cNvCxnSpPr>
            <p:nvPr/>
          </p:nvCxnSpPr>
          <p:spPr>
            <a:xfrm flipH="1" flipV="1">
              <a:off x="3246208" y="1916832"/>
              <a:ext cx="1179364" cy="1574884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stealth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/>
            <p:cNvCxnSpPr>
              <a:stCxn id="6" idx="0"/>
              <a:endCxn id="5" idx="2"/>
            </p:cNvCxnSpPr>
            <p:nvPr/>
          </p:nvCxnSpPr>
          <p:spPr>
            <a:xfrm flipV="1">
              <a:off x="4425572" y="1916832"/>
              <a:ext cx="1274939" cy="1574884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stealth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/>
            <p:cNvSpPr txBox="1"/>
            <p:nvPr/>
          </p:nvSpPr>
          <p:spPr>
            <a:xfrm>
              <a:off x="869908" y="1844824"/>
              <a:ext cx="317716" cy="46166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x</a:t>
              </a:r>
              <a:endParaRPr lang="nl-BE" i="1" dirty="0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526092" y="1844824"/>
              <a:ext cx="322524" cy="461665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y</a:t>
              </a:r>
              <a:endParaRPr lang="nl-BE" i="1" dirty="0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716016" y="1844824"/>
              <a:ext cx="306494" cy="461665"/>
            </a:xfrm>
            <a:prstGeom prst="rect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z</a:t>
              </a:r>
              <a:endParaRPr lang="nl-BE" i="1" dirty="0"/>
            </a:p>
          </p:txBody>
        </p:sp>
      </p:grpSp>
      <p:sp>
        <p:nvSpPr>
          <p:cNvPr id="37" name="Rectangle 36"/>
          <p:cNvSpPr/>
          <p:nvPr/>
        </p:nvSpPr>
        <p:spPr>
          <a:xfrm>
            <a:off x="648072" y="4830251"/>
            <a:ext cx="7380312" cy="338554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data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comm.reduce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op=MPI.SUM, root=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nl-BE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14" name="Group 13"/>
          <p:cNvGrpSpPr/>
          <p:nvPr/>
        </p:nvGrpSpPr>
        <p:grpSpPr>
          <a:xfrm>
            <a:off x="2204989" y="3759423"/>
            <a:ext cx="1790947" cy="461665"/>
            <a:chOff x="971600" y="3449164"/>
            <a:chExt cx="1790947" cy="461665"/>
          </a:xfrm>
        </p:grpSpPr>
        <p:sp>
          <p:nvSpPr>
            <p:cNvPr id="7" name="TextBox 6"/>
            <p:cNvSpPr txBox="1"/>
            <p:nvPr/>
          </p:nvSpPr>
          <p:spPr>
            <a:xfrm>
              <a:off x="971600" y="3449164"/>
              <a:ext cx="317716" cy="46166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x</a:t>
              </a:r>
              <a:endParaRPr lang="nl-BE" i="1" dirty="0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1711422" y="3449164"/>
              <a:ext cx="322524" cy="461665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y</a:t>
              </a:r>
              <a:endParaRPr lang="nl-BE" i="1" dirty="0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2456053" y="3449164"/>
              <a:ext cx="306494" cy="461665"/>
            </a:xfrm>
            <a:prstGeom prst="rect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2400" i="1" dirty="0"/>
                <a:t>z</a:t>
              </a:r>
              <a:endParaRPr lang="nl-BE" i="1" dirty="0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367159" y="3495330"/>
              <a:ext cx="2664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dirty="0"/>
                <a:t>◦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2111789" y="3495330"/>
              <a:ext cx="2664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dirty="0"/>
                <a:t>◦</a:t>
              </a:r>
            </a:p>
          </p:txBody>
        </p:sp>
      </p:grpSp>
      <p:grpSp>
        <p:nvGrpSpPr>
          <p:cNvPr id="28" name="Group 27"/>
          <p:cNvGrpSpPr/>
          <p:nvPr/>
        </p:nvGrpSpPr>
        <p:grpSpPr>
          <a:xfrm>
            <a:off x="230726" y="5168805"/>
            <a:ext cx="2201821" cy="1140515"/>
            <a:chOff x="-678090" y="1990590"/>
            <a:chExt cx="2201821" cy="1140515"/>
          </a:xfrm>
        </p:grpSpPr>
        <p:sp>
          <p:nvSpPr>
            <p:cNvPr id="30" name="TextBox 29"/>
            <p:cNvSpPr txBox="1"/>
            <p:nvPr/>
          </p:nvSpPr>
          <p:spPr>
            <a:xfrm>
              <a:off x="-678090" y="2761773"/>
              <a:ext cx="220182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on root, i.e., process </a:t>
              </a:r>
              <a:r>
                <a:rPr lang="en-US" i="1" dirty="0" err="1"/>
                <a:t>i</a:t>
              </a:r>
              <a:endParaRPr lang="nl-BE" i="1" dirty="0"/>
            </a:p>
          </p:txBody>
        </p:sp>
        <p:cxnSp>
          <p:nvCxnSpPr>
            <p:cNvPr id="31" name="Straight Arrow Connector 30"/>
            <p:cNvCxnSpPr>
              <a:stCxn id="30" idx="0"/>
            </p:cNvCxnSpPr>
            <p:nvPr/>
          </p:nvCxnSpPr>
          <p:spPr>
            <a:xfrm flipH="1" flipV="1">
              <a:off x="119950" y="1990590"/>
              <a:ext cx="302871" cy="77118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/>
          <p:cNvGrpSpPr/>
          <p:nvPr/>
        </p:nvGrpSpPr>
        <p:grpSpPr>
          <a:xfrm>
            <a:off x="4139952" y="3914095"/>
            <a:ext cx="3844486" cy="923330"/>
            <a:chOff x="3493060" y="1923572"/>
            <a:chExt cx="3844486" cy="923330"/>
          </a:xfrm>
        </p:grpSpPr>
        <p:sp>
          <p:nvSpPr>
            <p:cNvPr id="40" name="TextBox 39"/>
            <p:cNvSpPr txBox="1"/>
            <p:nvPr/>
          </p:nvSpPr>
          <p:spPr>
            <a:xfrm>
              <a:off x="5423752" y="1923572"/>
              <a:ext cx="1913794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on all processes of</a:t>
              </a:r>
              <a:br>
                <a:rPr lang="en-US" dirty="0"/>
              </a:br>
              <a:r>
                <a:rPr lang="en-US" dirty="0"/>
                <a:t>communicator,</a:t>
              </a:r>
              <a:br>
                <a:rPr lang="en-US" dirty="0"/>
              </a:br>
              <a:r>
                <a:rPr lang="en-US" dirty="0"/>
                <a:t>including root</a:t>
              </a:r>
              <a:endParaRPr lang="nl-BE" i="1" dirty="0"/>
            </a:p>
          </p:txBody>
        </p:sp>
        <p:cxnSp>
          <p:nvCxnSpPr>
            <p:cNvPr id="41" name="Straight Arrow Connector 40"/>
            <p:cNvCxnSpPr>
              <a:stCxn id="40" idx="1"/>
            </p:cNvCxnSpPr>
            <p:nvPr/>
          </p:nvCxnSpPr>
          <p:spPr>
            <a:xfrm flipH="1">
              <a:off x="3493060" y="2385237"/>
              <a:ext cx="1930692" cy="425307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176</a:t>
            </a:fld>
            <a:endParaRPr lang="nl-BE"/>
          </a:p>
        </p:txBody>
      </p:sp>
      <p:sp>
        <p:nvSpPr>
          <p:cNvPr id="33" name="TextBox 32"/>
          <p:cNvSpPr txBox="1"/>
          <p:nvPr/>
        </p:nvSpPr>
        <p:spPr>
          <a:xfrm>
            <a:off x="3031033" y="5673214"/>
            <a:ext cx="5943743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cs typeface="Courier New" panose="02070309020205020404" pitchFamily="49" charset="0"/>
              </a:rPr>
              <a:t>at </a:t>
            </a:r>
            <a:r>
              <a:rPr lang="en-US" sz="2000" i="1" dirty="0" err="1">
                <a:cs typeface="Courier New" panose="02070309020205020404" pitchFamily="49" charset="0"/>
              </a:rPr>
              <a:t>i</a:t>
            </a:r>
            <a:r>
              <a:rPr lang="en-US" sz="2000" dirty="0">
                <a:cs typeface="Courier New" panose="02070309020205020404" pitchFamily="49" charset="0"/>
              </a:rPr>
              <a:t>,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data ==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aggr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([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en-US" sz="2000" dirty="0">
                <a:cs typeface="Courier New" panose="02070309020205020404" pitchFamily="49" charset="0"/>
              </a:rPr>
              <a:t> at </a:t>
            </a:r>
            <a:r>
              <a:rPr lang="en-US" sz="2000" i="1" dirty="0">
                <a:cs typeface="Courier New" panose="02070309020205020404" pitchFamily="49" charset="0"/>
              </a:rPr>
              <a:t>j</a:t>
            </a:r>
            <a:r>
              <a:rPr lang="en-US" sz="2000" dirty="0">
                <a:cs typeface="Courier New" panose="02070309020205020404" pitchFamily="49" charset="0"/>
              </a:rPr>
              <a:t> for all </a:t>
            </a:r>
            <a:r>
              <a:rPr lang="en-US" sz="2000" i="1" dirty="0">
                <a:cs typeface="Courier New" panose="02070309020205020404" pitchFamily="49" charset="0"/>
              </a:rPr>
              <a:t>j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  <a:endParaRPr lang="nl-BE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6245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comm.reduce</a:t>
            </a:r>
            <a:r>
              <a:rPr lang="en-US" dirty="0"/>
              <a:t> operators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Numeric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MPI.SUM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MPI.PROD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MPI.MIN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MPI.MAX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MPI.MINLOC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MPI.MAXLOC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Logical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MPI.LAND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MPI.LOR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MPI.LXOR</a:t>
            </a:r>
          </a:p>
          <a:p>
            <a:r>
              <a:rPr lang="en-US" dirty="0"/>
              <a:t>Bitwise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MPI.BAND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MPI.BOR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MPI.BXOR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177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558516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comm.alltoall</a:t>
            </a:r>
            <a:endParaRPr lang="nl-BE" dirty="0"/>
          </a:p>
        </p:txBody>
      </p:sp>
      <p:sp>
        <p:nvSpPr>
          <p:cNvPr id="3" name="TextBox 2"/>
          <p:cNvSpPr txBox="1"/>
          <p:nvPr/>
        </p:nvSpPr>
        <p:spPr>
          <a:xfrm>
            <a:off x="971600" y="1547500"/>
            <a:ext cx="106740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0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712504" y="1547500"/>
            <a:ext cx="106740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1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4956813" y="1547500"/>
            <a:ext cx="14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</a:t>
            </a:r>
            <a:r>
              <a:rPr lang="en-US" i="1" dirty="0" err="1"/>
              <a:t>np</a:t>
            </a:r>
            <a:r>
              <a:rPr lang="en-US" dirty="0"/>
              <a:t> - 1</a:t>
            </a:r>
            <a:endParaRPr lang="nl-BE" dirty="0"/>
          </a:p>
        </p:txBody>
      </p:sp>
      <p:sp>
        <p:nvSpPr>
          <p:cNvPr id="16" name="TextBox 15"/>
          <p:cNvSpPr txBox="1"/>
          <p:nvPr/>
        </p:nvSpPr>
        <p:spPr>
          <a:xfrm>
            <a:off x="4228636" y="1547500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nl-BE" dirty="0"/>
          </a:p>
        </p:txBody>
      </p:sp>
      <p:cxnSp>
        <p:nvCxnSpPr>
          <p:cNvPr id="9" name="Straight Arrow Connector 8"/>
          <p:cNvCxnSpPr>
            <a:stCxn id="46" idx="0"/>
            <a:endCxn id="3" idx="2"/>
          </p:cNvCxnSpPr>
          <p:nvPr/>
        </p:nvCxnSpPr>
        <p:spPr>
          <a:xfrm flipV="1">
            <a:off x="1505304" y="1916832"/>
            <a:ext cx="0" cy="2016224"/>
          </a:xfrm>
          <a:prstGeom prst="straightConnector1">
            <a:avLst/>
          </a:prstGeom>
          <a:ln w="19050">
            <a:solidFill>
              <a:schemeClr val="tx1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>
            <a:stCxn id="46" idx="0"/>
            <a:endCxn id="4" idx="2"/>
          </p:cNvCxnSpPr>
          <p:nvPr/>
        </p:nvCxnSpPr>
        <p:spPr>
          <a:xfrm flipV="1">
            <a:off x="1505304" y="1916832"/>
            <a:ext cx="1740904" cy="2016224"/>
          </a:xfrm>
          <a:prstGeom prst="straightConnector1">
            <a:avLst/>
          </a:prstGeom>
          <a:ln w="19050">
            <a:solidFill>
              <a:schemeClr val="tx1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>
            <a:stCxn id="46" idx="0"/>
            <a:endCxn id="5" idx="2"/>
          </p:cNvCxnSpPr>
          <p:nvPr/>
        </p:nvCxnSpPr>
        <p:spPr>
          <a:xfrm flipV="1">
            <a:off x="1505304" y="1916832"/>
            <a:ext cx="4195207" cy="2016224"/>
          </a:xfrm>
          <a:prstGeom prst="straightConnector1">
            <a:avLst/>
          </a:prstGeom>
          <a:ln w="19050">
            <a:solidFill>
              <a:schemeClr val="tx1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971600" y="3933056"/>
            <a:ext cx="106740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0</a:t>
            </a:r>
            <a:endParaRPr lang="nl-BE" dirty="0"/>
          </a:p>
        </p:txBody>
      </p:sp>
      <p:sp>
        <p:nvSpPr>
          <p:cNvPr id="47" name="TextBox 46"/>
          <p:cNvSpPr txBox="1"/>
          <p:nvPr/>
        </p:nvSpPr>
        <p:spPr>
          <a:xfrm>
            <a:off x="2712504" y="3933056"/>
            <a:ext cx="106740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1</a:t>
            </a:r>
            <a:endParaRPr lang="nl-BE" dirty="0"/>
          </a:p>
        </p:txBody>
      </p:sp>
      <p:sp>
        <p:nvSpPr>
          <p:cNvPr id="48" name="TextBox 47"/>
          <p:cNvSpPr txBox="1"/>
          <p:nvPr/>
        </p:nvSpPr>
        <p:spPr>
          <a:xfrm>
            <a:off x="4956813" y="3933056"/>
            <a:ext cx="14873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process </a:t>
            </a:r>
            <a:r>
              <a:rPr lang="en-US" i="1" dirty="0" err="1"/>
              <a:t>np</a:t>
            </a:r>
            <a:r>
              <a:rPr lang="en-US" dirty="0"/>
              <a:t> - 1</a:t>
            </a:r>
            <a:endParaRPr lang="nl-BE" dirty="0"/>
          </a:p>
        </p:txBody>
      </p:sp>
      <p:sp>
        <p:nvSpPr>
          <p:cNvPr id="49" name="TextBox 48"/>
          <p:cNvSpPr txBox="1"/>
          <p:nvPr/>
        </p:nvSpPr>
        <p:spPr>
          <a:xfrm>
            <a:off x="4228636" y="393305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nl-BE" dirty="0"/>
          </a:p>
        </p:txBody>
      </p:sp>
      <p:grpSp>
        <p:nvGrpSpPr>
          <p:cNvPr id="91" name="Group 90"/>
          <p:cNvGrpSpPr/>
          <p:nvPr/>
        </p:nvGrpSpPr>
        <p:grpSpPr>
          <a:xfrm>
            <a:off x="848366" y="4293096"/>
            <a:ext cx="5854206" cy="1728192"/>
            <a:chOff x="848366" y="4293096"/>
            <a:chExt cx="5854206" cy="1728192"/>
          </a:xfrm>
        </p:grpSpPr>
        <p:grpSp>
          <p:nvGrpSpPr>
            <p:cNvPr id="50" name="Group 49"/>
            <p:cNvGrpSpPr/>
            <p:nvPr/>
          </p:nvGrpSpPr>
          <p:grpSpPr>
            <a:xfrm>
              <a:off x="848366" y="4293096"/>
              <a:ext cx="699297" cy="1728192"/>
              <a:chOff x="845092" y="1844824"/>
              <a:chExt cx="699297" cy="1728192"/>
            </a:xfrm>
          </p:grpSpPr>
          <p:sp>
            <p:nvSpPr>
              <p:cNvPr id="51" name="TextBox 50"/>
              <p:cNvSpPr txBox="1"/>
              <p:nvPr/>
            </p:nvSpPr>
            <p:spPr>
              <a:xfrm>
                <a:off x="869907" y="1844824"/>
                <a:ext cx="674481" cy="46166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i="1" dirty="0"/>
                  <a:t>x</a:t>
                </a:r>
                <a:r>
                  <a:rPr lang="en-US" sz="2400" baseline="-25000" dirty="0"/>
                  <a:t>0</a:t>
                </a:r>
                <a:endParaRPr lang="nl-BE" baseline="-25000" dirty="0"/>
              </a:p>
            </p:txBody>
          </p:sp>
          <p:sp>
            <p:nvSpPr>
              <p:cNvPr id="52" name="TextBox 51"/>
              <p:cNvSpPr txBox="1"/>
              <p:nvPr/>
            </p:nvSpPr>
            <p:spPr>
              <a:xfrm>
                <a:off x="857774" y="2348880"/>
                <a:ext cx="686615" cy="461665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i="1" dirty="0"/>
                  <a:t>y</a:t>
                </a:r>
                <a:r>
                  <a:rPr lang="en-US" sz="2400" baseline="-25000" dirty="0"/>
                  <a:t>0</a:t>
                </a:r>
                <a:endParaRPr lang="nl-BE" baseline="-25000" dirty="0"/>
              </a:p>
            </p:txBody>
          </p:sp>
          <p:sp>
            <p:nvSpPr>
              <p:cNvPr id="53" name="TextBox 52"/>
              <p:cNvSpPr txBox="1"/>
              <p:nvPr/>
            </p:nvSpPr>
            <p:spPr>
              <a:xfrm>
                <a:off x="845092" y="3111351"/>
                <a:ext cx="699297" cy="461665"/>
              </a:xfrm>
              <a:prstGeom prst="rect">
                <a:avLst/>
              </a:prstGeom>
              <a:solidFill>
                <a:srgbClr val="0070C0"/>
              </a:solidFill>
              <a:ln>
                <a:solidFill>
                  <a:srgbClr val="0070C0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i="1" dirty="0"/>
                  <a:t>z</a:t>
                </a:r>
                <a:r>
                  <a:rPr lang="en-US" sz="2400" baseline="-25000" dirty="0"/>
                  <a:t>0</a:t>
                </a:r>
                <a:endParaRPr lang="nl-BE" baseline="-25000" dirty="0"/>
              </a:p>
            </p:txBody>
          </p:sp>
          <p:sp>
            <p:nvSpPr>
              <p:cNvPr id="54" name="TextBox 53"/>
              <p:cNvSpPr txBox="1"/>
              <p:nvPr/>
            </p:nvSpPr>
            <p:spPr>
              <a:xfrm rot="5400000">
                <a:off x="1129329" y="2784620"/>
                <a:ext cx="3433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…</a:t>
                </a:r>
                <a:endParaRPr lang="nl-BE" dirty="0"/>
              </a:p>
            </p:txBody>
          </p:sp>
        </p:grpSp>
        <p:grpSp>
          <p:nvGrpSpPr>
            <p:cNvPr id="55" name="Group 54"/>
            <p:cNvGrpSpPr/>
            <p:nvPr/>
          </p:nvGrpSpPr>
          <p:grpSpPr>
            <a:xfrm>
              <a:off x="2576559" y="4293096"/>
              <a:ext cx="699297" cy="1728192"/>
              <a:chOff x="845092" y="1844824"/>
              <a:chExt cx="699297" cy="1728192"/>
            </a:xfrm>
          </p:grpSpPr>
          <p:sp>
            <p:nvSpPr>
              <p:cNvPr id="56" name="TextBox 55"/>
              <p:cNvSpPr txBox="1"/>
              <p:nvPr/>
            </p:nvSpPr>
            <p:spPr>
              <a:xfrm>
                <a:off x="869907" y="1844824"/>
                <a:ext cx="674481" cy="46166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i="1" dirty="0"/>
                  <a:t>x</a:t>
                </a:r>
                <a:r>
                  <a:rPr lang="en-US" sz="2400" baseline="-25000" dirty="0"/>
                  <a:t>1</a:t>
                </a:r>
                <a:endParaRPr lang="nl-BE" baseline="-25000" dirty="0"/>
              </a:p>
            </p:txBody>
          </p:sp>
          <p:sp>
            <p:nvSpPr>
              <p:cNvPr id="57" name="TextBox 56"/>
              <p:cNvSpPr txBox="1"/>
              <p:nvPr/>
            </p:nvSpPr>
            <p:spPr>
              <a:xfrm>
                <a:off x="857774" y="2348880"/>
                <a:ext cx="686615" cy="461665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i="1" dirty="0"/>
                  <a:t>y</a:t>
                </a:r>
                <a:r>
                  <a:rPr lang="en-US" sz="2400" baseline="-25000" dirty="0"/>
                  <a:t>1</a:t>
                </a:r>
                <a:endParaRPr lang="nl-BE" baseline="-25000" dirty="0"/>
              </a:p>
            </p:txBody>
          </p:sp>
          <p:sp>
            <p:nvSpPr>
              <p:cNvPr id="58" name="TextBox 57"/>
              <p:cNvSpPr txBox="1"/>
              <p:nvPr/>
            </p:nvSpPr>
            <p:spPr>
              <a:xfrm>
                <a:off x="845092" y="3111351"/>
                <a:ext cx="699297" cy="461665"/>
              </a:xfrm>
              <a:prstGeom prst="rect">
                <a:avLst/>
              </a:prstGeom>
              <a:solidFill>
                <a:srgbClr val="0070C0"/>
              </a:solidFill>
              <a:ln>
                <a:solidFill>
                  <a:srgbClr val="0070C0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i="1" dirty="0"/>
                  <a:t>z</a:t>
                </a:r>
                <a:r>
                  <a:rPr lang="en-US" sz="2400" baseline="-25000" dirty="0"/>
                  <a:t>1</a:t>
                </a:r>
                <a:endParaRPr lang="nl-BE" baseline="-25000" dirty="0"/>
              </a:p>
            </p:txBody>
          </p:sp>
          <p:sp>
            <p:nvSpPr>
              <p:cNvPr id="59" name="TextBox 58"/>
              <p:cNvSpPr txBox="1"/>
              <p:nvPr/>
            </p:nvSpPr>
            <p:spPr>
              <a:xfrm rot="5400000">
                <a:off x="1129329" y="2784620"/>
                <a:ext cx="3433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…</a:t>
                </a:r>
                <a:endParaRPr lang="nl-BE" dirty="0"/>
              </a:p>
            </p:txBody>
          </p:sp>
        </p:grpSp>
        <p:grpSp>
          <p:nvGrpSpPr>
            <p:cNvPr id="61" name="Group 60"/>
            <p:cNvGrpSpPr/>
            <p:nvPr/>
          </p:nvGrpSpPr>
          <p:grpSpPr>
            <a:xfrm>
              <a:off x="5960935" y="4293096"/>
              <a:ext cx="741637" cy="1728192"/>
              <a:chOff x="845092" y="1844824"/>
              <a:chExt cx="741637" cy="1728192"/>
            </a:xfrm>
          </p:grpSpPr>
          <p:sp>
            <p:nvSpPr>
              <p:cNvPr id="62" name="TextBox 61"/>
              <p:cNvSpPr txBox="1"/>
              <p:nvPr/>
            </p:nvSpPr>
            <p:spPr>
              <a:xfrm>
                <a:off x="869907" y="1844824"/>
                <a:ext cx="716822" cy="46166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i="1" dirty="0"/>
                  <a:t>x</a:t>
                </a:r>
                <a:r>
                  <a:rPr lang="en-US" sz="2400" i="1" baseline="-25000" dirty="0"/>
                  <a:t>np</a:t>
                </a:r>
                <a:r>
                  <a:rPr lang="en-US" sz="2400" baseline="-25000" dirty="0"/>
                  <a:t>-1</a:t>
                </a:r>
                <a:endParaRPr lang="nl-BE" baseline="-25000" dirty="0"/>
              </a:p>
            </p:txBody>
          </p:sp>
          <p:sp>
            <p:nvSpPr>
              <p:cNvPr id="63" name="TextBox 62"/>
              <p:cNvSpPr txBox="1"/>
              <p:nvPr/>
            </p:nvSpPr>
            <p:spPr>
              <a:xfrm>
                <a:off x="857774" y="2348880"/>
                <a:ext cx="728954" cy="461665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i="1" dirty="0"/>
                  <a:t>y</a:t>
                </a:r>
                <a:r>
                  <a:rPr lang="en-US" sz="2400" i="1" baseline="-25000" dirty="0"/>
                  <a:t>np</a:t>
                </a:r>
                <a:r>
                  <a:rPr lang="en-US" sz="2400" baseline="-25000" dirty="0"/>
                  <a:t>-1</a:t>
                </a:r>
                <a:endParaRPr lang="nl-BE" baseline="-25000" dirty="0"/>
              </a:p>
            </p:txBody>
          </p:sp>
          <p:sp>
            <p:nvSpPr>
              <p:cNvPr id="64" name="TextBox 63"/>
              <p:cNvSpPr txBox="1"/>
              <p:nvPr/>
            </p:nvSpPr>
            <p:spPr>
              <a:xfrm>
                <a:off x="845092" y="3111351"/>
                <a:ext cx="741636" cy="461665"/>
              </a:xfrm>
              <a:prstGeom prst="rect">
                <a:avLst/>
              </a:prstGeom>
              <a:solidFill>
                <a:srgbClr val="0070C0"/>
              </a:solidFill>
              <a:ln>
                <a:solidFill>
                  <a:srgbClr val="0070C0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i="1" dirty="0"/>
                  <a:t>z</a:t>
                </a:r>
                <a:r>
                  <a:rPr lang="en-US" sz="2400" i="1" baseline="-25000" dirty="0"/>
                  <a:t>np</a:t>
                </a:r>
                <a:r>
                  <a:rPr lang="en-US" sz="2400" baseline="-25000" dirty="0"/>
                  <a:t>-1</a:t>
                </a:r>
                <a:endParaRPr lang="nl-BE" baseline="-25000" dirty="0"/>
              </a:p>
            </p:txBody>
          </p:sp>
          <p:sp>
            <p:nvSpPr>
              <p:cNvPr id="65" name="TextBox 64"/>
              <p:cNvSpPr txBox="1"/>
              <p:nvPr/>
            </p:nvSpPr>
            <p:spPr>
              <a:xfrm rot="5400000">
                <a:off x="1129329" y="2784620"/>
                <a:ext cx="3433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…</a:t>
                </a:r>
                <a:endParaRPr lang="nl-BE" dirty="0"/>
              </a:p>
            </p:txBody>
          </p:sp>
        </p:grpSp>
      </p:grpSp>
      <p:cxnSp>
        <p:nvCxnSpPr>
          <p:cNvPr id="66" name="Straight Arrow Connector 65"/>
          <p:cNvCxnSpPr>
            <a:stCxn id="47" idx="0"/>
            <a:endCxn id="3" idx="2"/>
          </p:cNvCxnSpPr>
          <p:nvPr/>
        </p:nvCxnSpPr>
        <p:spPr>
          <a:xfrm flipH="1" flipV="1">
            <a:off x="1505304" y="1916832"/>
            <a:ext cx="1740904" cy="2016224"/>
          </a:xfrm>
          <a:prstGeom prst="straightConnector1">
            <a:avLst/>
          </a:prstGeom>
          <a:ln w="19050">
            <a:solidFill>
              <a:schemeClr val="tx1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/>
          <p:cNvCxnSpPr>
            <a:stCxn id="48" idx="0"/>
            <a:endCxn id="4" idx="2"/>
          </p:cNvCxnSpPr>
          <p:nvPr/>
        </p:nvCxnSpPr>
        <p:spPr>
          <a:xfrm flipH="1" flipV="1">
            <a:off x="3246208" y="1916832"/>
            <a:ext cx="2454303" cy="2016224"/>
          </a:xfrm>
          <a:prstGeom prst="straightConnector1">
            <a:avLst/>
          </a:prstGeom>
          <a:ln w="19050">
            <a:solidFill>
              <a:schemeClr val="tx1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/>
          <p:cNvCxnSpPr>
            <a:stCxn id="47" idx="0"/>
            <a:endCxn id="4" idx="2"/>
          </p:cNvCxnSpPr>
          <p:nvPr/>
        </p:nvCxnSpPr>
        <p:spPr>
          <a:xfrm flipV="1">
            <a:off x="3246208" y="1916832"/>
            <a:ext cx="0" cy="2016224"/>
          </a:xfrm>
          <a:prstGeom prst="straightConnector1">
            <a:avLst/>
          </a:prstGeom>
          <a:ln w="19050">
            <a:solidFill>
              <a:schemeClr val="tx1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>
            <a:stCxn id="48" idx="0"/>
            <a:endCxn id="3" idx="2"/>
          </p:cNvCxnSpPr>
          <p:nvPr/>
        </p:nvCxnSpPr>
        <p:spPr>
          <a:xfrm flipH="1" flipV="1">
            <a:off x="1505304" y="1916832"/>
            <a:ext cx="4195207" cy="2016224"/>
          </a:xfrm>
          <a:prstGeom prst="straightConnector1">
            <a:avLst/>
          </a:prstGeom>
          <a:ln w="19050">
            <a:solidFill>
              <a:schemeClr val="tx1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/>
          <p:cNvCxnSpPr>
            <a:stCxn id="47" idx="0"/>
            <a:endCxn id="5" idx="2"/>
          </p:cNvCxnSpPr>
          <p:nvPr/>
        </p:nvCxnSpPr>
        <p:spPr>
          <a:xfrm flipV="1">
            <a:off x="3246208" y="1916832"/>
            <a:ext cx="2454303" cy="2016224"/>
          </a:xfrm>
          <a:prstGeom prst="straightConnector1">
            <a:avLst/>
          </a:prstGeom>
          <a:ln w="19050">
            <a:solidFill>
              <a:schemeClr val="tx1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/>
          <p:cNvCxnSpPr>
            <a:stCxn id="48" idx="0"/>
            <a:endCxn id="5" idx="2"/>
          </p:cNvCxnSpPr>
          <p:nvPr/>
        </p:nvCxnSpPr>
        <p:spPr>
          <a:xfrm flipV="1">
            <a:off x="5700511" y="1916832"/>
            <a:ext cx="0" cy="2016224"/>
          </a:xfrm>
          <a:prstGeom prst="straightConnector1">
            <a:avLst/>
          </a:prstGeom>
          <a:ln w="19050">
            <a:solidFill>
              <a:schemeClr val="tx1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Group 11"/>
          <p:cNvGrpSpPr/>
          <p:nvPr/>
        </p:nvGrpSpPr>
        <p:grpSpPr>
          <a:xfrm>
            <a:off x="848366" y="1875997"/>
            <a:ext cx="696024" cy="1728192"/>
            <a:chOff x="848366" y="1844824"/>
            <a:chExt cx="696024" cy="1728192"/>
          </a:xfrm>
        </p:grpSpPr>
        <p:sp>
          <p:nvSpPr>
            <p:cNvPr id="17" name="TextBox 16"/>
            <p:cNvSpPr txBox="1"/>
            <p:nvPr/>
          </p:nvSpPr>
          <p:spPr>
            <a:xfrm>
              <a:off x="869907" y="1844824"/>
              <a:ext cx="674481" cy="46166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2400" i="1" dirty="0"/>
                <a:t>x</a:t>
              </a:r>
              <a:r>
                <a:rPr lang="en-US" sz="2400" baseline="-25000" dirty="0"/>
                <a:t>0</a:t>
              </a:r>
              <a:endParaRPr lang="nl-BE" baseline="-25000" dirty="0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857774" y="2348880"/>
              <a:ext cx="686615" cy="46166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2400" i="1" dirty="0"/>
                <a:t>x</a:t>
              </a:r>
              <a:r>
                <a:rPr lang="en-US" sz="2400" baseline="-25000" dirty="0"/>
                <a:t>1</a:t>
              </a:r>
              <a:endParaRPr lang="nl-BE" baseline="-25000" dirty="0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848366" y="3111351"/>
              <a:ext cx="696024" cy="46166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/>
              <a:r>
                <a:rPr lang="en-US" sz="2400" i="1" dirty="0"/>
                <a:t>x</a:t>
              </a:r>
              <a:r>
                <a:rPr lang="en-US" sz="2400" i="1" baseline="-25000" dirty="0"/>
                <a:t>np</a:t>
              </a:r>
              <a:r>
                <a:rPr lang="en-US" sz="2400" baseline="-25000" dirty="0"/>
                <a:t>-1</a:t>
              </a:r>
              <a:endParaRPr lang="nl-BE" baseline="-25000" dirty="0"/>
            </a:p>
          </p:txBody>
        </p:sp>
        <p:sp>
          <p:nvSpPr>
            <p:cNvPr id="34" name="TextBox 33"/>
            <p:cNvSpPr txBox="1"/>
            <p:nvPr/>
          </p:nvSpPr>
          <p:spPr>
            <a:xfrm rot="5400000">
              <a:off x="1129329" y="2784620"/>
              <a:ext cx="3433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</a:t>
              </a:r>
              <a:endParaRPr lang="nl-BE" dirty="0"/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2575023" y="1875997"/>
            <a:ext cx="700833" cy="1728192"/>
            <a:chOff x="845962" y="1844824"/>
            <a:chExt cx="700833" cy="1728192"/>
          </a:xfrm>
          <a:solidFill>
            <a:srgbClr val="FF0000"/>
          </a:solidFill>
        </p:grpSpPr>
        <p:sp>
          <p:nvSpPr>
            <p:cNvPr id="36" name="TextBox 35"/>
            <p:cNvSpPr txBox="1"/>
            <p:nvPr/>
          </p:nvSpPr>
          <p:spPr>
            <a:xfrm>
              <a:off x="869907" y="1844824"/>
              <a:ext cx="674481" cy="461665"/>
            </a:xfrm>
            <a:prstGeom prst="rect">
              <a:avLst/>
            </a:prstGeom>
            <a:grpFill/>
            <a:ln>
              <a:solidFill>
                <a:srgbClr val="FF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2400" i="1" dirty="0"/>
                <a:t>y</a:t>
              </a:r>
              <a:r>
                <a:rPr lang="en-US" sz="2400" baseline="-25000" dirty="0"/>
                <a:t>0</a:t>
              </a:r>
              <a:endParaRPr lang="nl-BE" baseline="-25000" dirty="0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857774" y="2348880"/>
              <a:ext cx="686615" cy="461665"/>
            </a:xfrm>
            <a:prstGeom prst="rect">
              <a:avLst/>
            </a:prstGeom>
            <a:grpFill/>
            <a:ln>
              <a:solidFill>
                <a:srgbClr val="FF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2400" i="1" dirty="0"/>
                <a:t>y</a:t>
              </a:r>
              <a:r>
                <a:rPr lang="en-US" sz="2400" baseline="-25000" dirty="0"/>
                <a:t>1</a:t>
              </a:r>
              <a:endParaRPr lang="nl-BE" baseline="-25000" dirty="0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845962" y="3111351"/>
              <a:ext cx="700833" cy="461665"/>
            </a:xfrm>
            <a:prstGeom prst="rect">
              <a:avLst/>
            </a:prstGeom>
            <a:grpFill/>
            <a:ln>
              <a:solidFill>
                <a:srgbClr val="FF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/>
              <a:r>
                <a:rPr lang="en-US" sz="2400" i="1" dirty="0"/>
                <a:t>y</a:t>
              </a:r>
              <a:r>
                <a:rPr lang="en-US" sz="2400" i="1" baseline="-25000" dirty="0"/>
                <a:t>np</a:t>
              </a:r>
              <a:r>
                <a:rPr lang="en-US" sz="2400" baseline="-25000" dirty="0"/>
                <a:t>-1</a:t>
              </a:r>
              <a:endParaRPr lang="nl-BE" baseline="-25000" dirty="0"/>
            </a:p>
          </p:txBody>
        </p:sp>
        <p:sp>
          <p:nvSpPr>
            <p:cNvPr id="40" name="TextBox 39"/>
            <p:cNvSpPr txBox="1"/>
            <p:nvPr/>
          </p:nvSpPr>
          <p:spPr>
            <a:xfrm rot="5400000">
              <a:off x="1129329" y="2784620"/>
              <a:ext cx="343364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…</a:t>
              </a:r>
              <a:endParaRPr lang="nl-BE" dirty="0"/>
            </a:p>
          </p:txBody>
        </p:sp>
      </p:grpSp>
      <p:grpSp>
        <p:nvGrpSpPr>
          <p:cNvPr id="41" name="Group 40"/>
          <p:cNvGrpSpPr/>
          <p:nvPr/>
        </p:nvGrpSpPr>
        <p:grpSpPr>
          <a:xfrm>
            <a:off x="6012160" y="1875997"/>
            <a:ext cx="690412" cy="1728192"/>
            <a:chOff x="853977" y="1844824"/>
            <a:chExt cx="690412" cy="1728192"/>
          </a:xfrm>
          <a:solidFill>
            <a:srgbClr val="0070C0"/>
          </a:solidFill>
        </p:grpSpPr>
        <p:sp>
          <p:nvSpPr>
            <p:cNvPr id="42" name="TextBox 41"/>
            <p:cNvSpPr txBox="1"/>
            <p:nvPr/>
          </p:nvSpPr>
          <p:spPr>
            <a:xfrm>
              <a:off x="869907" y="1844824"/>
              <a:ext cx="674481" cy="461665"/>
            </a:xfrm>
            <a:prstGeom prst="rect">
              <a:avLst/>
            </a:prstGeom>
            <a:grpFill/>
            <a:ln>
              <a:solidFill>
                <a:srgbClr val="0070C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2400" i="1" dirty="0"/>
                <a:t>z</a:t>
              </a:r>
              <a:r>
                <a:rPr lang="en-US" sz="2400" baseline="-25000" dirty="0"/>
                <a:t>0</a:t>
              </a:r>
              <a:endParaRPr lang="nl-BE" baseline="-25000" dirty="0"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857774" y="2348880"/>
              <a:ext cx="686615" cy="461665"/>
            </a:xfrm>
            <a:prstGeom prst="rect">
              <a:avLst/>
            </a:prstGeom>
            <a:grpFill/>
            <a:ln>
              <a:solidFill>
                <a:srgbClr val="0070C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2400" i="1" dirty="0"/>
                <a:t>z</a:t>
              </a:r>
              <a:r>
                <a:rPr lang="en-US" sz="2400" baseline="-25000" dirty="0"/>
                <a:t>1</a:t>
              </a:r>
              <a:endParaRPr lang="nl-BE" baseline="-25000" dirty="0"/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853977" y="3111351"/>
              <a:ext cx="684803" cy="461665"/>
            </a:xfrm>
            <a:prstGeom prst="rect">
              <a:avLst/>
            </a:prstGeom>
            <a:grpFill/>
            <a:ln>
              <a:solidFill>
                <a:srgbClr val="0070C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/>
              <a:r>
                <a:rPr lang="en-US" sz="2400" i="1" dirty="0"/>
                <a:t>z</a:t>
              </a:r>
              <a:r>
                <a:rPr lang="en-US" sz="2400" i="1" baseline="-25000" dirty="0"/>
                <a:t>np</a:t>
              </a:r>
              <a:r>
                <a:rPr lang="en-US" sz="2400" baseline="-25000" dirty="0"/>
                <a:t>-1</a:t>
              </a:r>
              <a:endParaRPr lang="nl-BE" baseline="-25000" dirty="0"/>
            </a:p>
          </p:txBody>
        </p:sp>
        <p:sp>
          <p:nvSpPr>
            <p:cNvPr id="45" name="TextBox 44"/>
            <p:cNvSpPr txBox="1"/>
            <p:nvPr/>
          </p:nvSpPr>
          <p:spPr>
            <a:xfrm rot="5400000">
              <a:off x="1129329" y="2784620"/>
              <a:ext cx="343364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…</a:t>
              </a:r>
              <a:endParaRPr lang="nl-BE" dirty="0"/>
            </a:p>
          </p:txBody>
        </p:sp>
      </p:grpSp>
      <p:sp>
        <p:nvSpPr>
          <p:cNvPr id="86" name="TextBox 85"/>
          <p:cNvSpPr txBox="1"/>
          <p:nvPr/>
        </p:nvSpPr>
        <p:spPr>
          <a:xfrm>
            <a:off x="7092280" y="3646765"/>
            <a:ext cx="1583190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Note: does not</a:t>
            </a:r>
            <a:br>
              <a:rPr lang="nl-BE" dirty="0"/>
            </a:br>
            <a:r>
              <a:rPr lang="nl-BE" dirty="0"/>
              <a:t>           </a:t>
            </a:r>
            <a:r>
              <a:rPr lang="nl-BE" dirty="0" err="1"/>
              <a:t>scale</a:t>
            </a:r>
            <a:r>
              <a:rPr lang="nl-BE" dirty="0"/>
              <a:t>!</a:t>
            </a:r>
            <a:endParaRPr lang="en-US" dirty="0"/>
          </a:p>
        </p:txBody>
      </p:sp>
      <p:sp>
        <p:nvSpPr>
          <p:cNvPr id="88" name="Rectangle 87"/>
          <p:cNvSpPr/>
          <p:nvPr/>
        </p:nvSpPr>
        <p:spPr>
          <a:xfrm>
            <a:off x="648072" y="6186790"/>
            <a:ext cx="4132258" cy="338554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data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comm.alltoall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nl-BE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178</a:t>
            </a:fld>
            <a:endParaRPr lang="nl-BE"/>
          </a:p>
        </p:txBody>
      </p:sp>
      <p:grpSp>
        <p:nvGrpSpPr>
          <p:cNvPr id="26" name="Group 25"/>
          <p:cNvGrpSpPr/>
          <p:nvPr/>
        </p:nvGrpSpPr>
        <p:grpSpPr>
          <a:xfrm>
            <a:off x="4721832" y="5805264"/>
            <a:ext cx="3980807" cy="923330"/>
            <a:chOff x="3356739" y="1923572"/>
            <a:chExt cx="3980807" cy="923330"/>
          </a:xfrm>
        </p:grpSpPr>
        <p:cxnSp>
          <p:nvCxnSpPr>
            <p:cNvPr id="28" name="Straight Arrow Connector 27"/>
            <p:cNvCxnSpPr>
              <a:stCxn id="27" idx="1"/>
            </p:cNvCxnSpPr>
            <p:nvPr/>
          </p:nvCxnSpPr>
          <p:spPr>
            <a:xfrm flipH="1">
              <a:off x="3356739" y="2385237"/>
              <a:ext cx="2067013" cy="89138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/>
            <p:cNvSpPr txBox="1"/>
            <p:nvPr/>
          </p:nvSpPr>
          <p:spPr>
            <a:xfrm>
              <a:off x="5423752" y="1923572"/>
              <a:ext cx="1913794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on all processes of</a:t>
              </a:r>
              <a:br>
                <a:rPr lang="en-US" dirty="0"/>
              </a:br>
              <a:r>
                <a:rPr lang="en-US" dirty="0"/>
                <a:t>communicator,</a:t>
              </a:r>
              <a:br>
                <a:rPr lang="en-US" dirty="0"/>
              </a:br>
              <a:r>
                <a:rPr lang="en-US" dirty="0"/>
                <a:t>including root</a:t>
              </a:r>
              <a:endParaRPr lang="nl-BE" i="1" dirty="0"/>
            </a:p>
          </p:txBody>
        </p:sp>
      </p:grpSp>
      <p:sp>
        <p:nvSpPr>
          <p:cNvPr id="60" name="TextBox 59"/>
          <p:cNvSpPr txBox="1"/>
          <p:nvPr/>
        </p:nvSpPr>
        <p:spPr>
          <a:xfrm>
            <a:off x="3151609" y="4733774"/>
            <a:ext cx="5570756" cy="10156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(data) ==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comm.Get_size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 ==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comm.Get_size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sz="2000" dirty="0">
                <a:cs typeface="Courier New" panose="02070309020205020404" pitchFamily="49" charset="0"/>
              </a:rPr>
              <a:t>at </a:t>
            </a:r>
            <a:r>
              <a:rPr lang="en-US" sz="2000" i="1" dirty="0">
                <a:cs typeface="Courier New" panose="02070309020205020404" pitchFamily="49" charset="0"/>
              </a:rPr>
              <a:t>j</a:t>
            </a:r>
            <a:r>
              <a:rPr lang="en-US" sz="2000" dirty="0">
                <a:cs typeface="Courier New" panose="02070309020205020404" pitchFamily="49" charset="0"/>
              </a:rPr>
              <a:t>,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data[k] ==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[j]</a:t>
            </a:r>
            <a:r>
              <a:rPr lang="en-US" sz="2000" dirty="0">
                <a:cs typeface="Courier New" panose="02070309020205020404" pitchFamily="49" charset="0"/>
              </a:rPr>
              <a:t> at </a:t>
            </a:r>
            <a:r>
              <a:rPr lang="en-US" sz="2000" i="1" dirty="0">
                <a:cs typeface="Courier New" panose="02070309020205020404" pitchFamily="49" charset="0"/>
              </a:rPr>
              <a:t>k</a:t>
            </a:r>
            <a:endParaRPr lang="nl-BE" sz="2000" i="1" dirty="0"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6072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6" grpId="0" animBg="1"/>
      <p:bldP spid="60" grpId="0" animBg="1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calculate</a:t>
            </a:r>
            <a:r>
              <a:rPr lang="en-US" dirty="0">
                <a:sym typeface="Symbol"/>
              </a:rPr>
              <a:t>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Process 0 determines</a:t>
            </a:r>
          </a:p>
          <a:p>
            <a:pPr lvl="1"/>
            <a:r>
              <a:rPr lang="en-US" i="1" dirty="0"/>
              <a:t>n</a:t>
            </a:r>
            <a:r>
              <a:rPr lang="en-US" dirty="0"/>
              <a:t> (from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sys.argv</a:t>
            </a:r>
            <a:r>
              <a:rPr lang="en-US" dirty="0"/>
              <a:t> if applicable)</a:t>
            </a:r>
          </a:p>
          <a:p>
            <a:pPr lvl="1"/>
            <a:r>
              <a:rPr lang="en-US" dirty="0"/>
              <a:t>start and end index for each process' loop</a:t>
            </a:r>
          </a:p>
          <a:p>
            <a:r>
              <a:rPr lang="en-US" dirty="0"/>
              <a:t>Process 0</a:t>
            </a:r>
          </a:p>
          <a:p>
            <a:pPr lvl="1"/>
            <a:r>
              <a:rPr lang="en-US" dirty="0"/>
              <a:t>broadcasts </a:t>
            </a:r>
            <a:r>
              <a:rPr lang="en-US" i="1" dirty="0"/>
              <a:t>n</a:t>
            </a:r>
          </a:p>
          <a:p>
            <a:pPr lvl="1"/>
            <a:r>
              <a:rPr lang="en-US" dirty="0"/>
              <a:t>scatters start and end index</a:t>
            </a:r>
          </a:p>
          <a:p>
            <a:r>
              <a:rPr lang="en-US" dirty="0"/>
              <a:t>All processes compute partial sum</a:t>
            </a:r>
          </a:p>
          <a:p>
            <a:r>
              <a:rPr lang="en-US" dirty="0"/>
              <a:t>Reduction of partial sums to global sum at</a:t>
            </a:r>
            <a:br>
              <a:rPr lang="en-US" dirty="0"/>
            </a:br>
            <a:r>
              <a:rPr lang="en-US" dirty="0"/>
              <a:t>process 0</a:t>
            </a:r>
          </a:p>
          <a:p>
            <a:r>
              <a:rPr lang="en-US" dirty="0"/>
              <a:t>Process 0 computes and prints </a:t>
            </a:r>
            <a:r>
              <a:rPr lang="en-US" dirty="0">
                <a:sym typeface="Symbol"/>
              </a:rPr>
              <a:t></a:t>
            </a:r>
            <a:endParaRPr lang="nl-BE" dirty="0"/>
          </a:p>
        </p:txBody>
      </p:sp>
      <p:grpSp>
        <p:nvGrpSpPr>
          <p:cNvPr id="11" name="Group 10"/>
          <p:cNvGrpSpPr/>
          <p:nvPr/>
        </p:nvGrpSpPr>
        <p:grpSpPr>
          <a:xfrm>
            <a:off x="5148064" y="2983936"/>
            <a:ext cx="3858417" cy="864096"/>
            <a:chOff x="5436096" y="2924944"/>
            <a:chExt cx="3858417" cy="864096"/>
          </a:xfrm>
        </p:grpSpPr>
        <p:grpSp>
          <p:nvGrpSpPr>
            <p:cNvPr id="4" name="Group 3"/>
            <p:cNvGrpSpPr/>
            <p:nvPr/>
          </p:nvGrpSpPr>
          <p:grpSpPr>
            <a:xfrm>
              <a:off x="5652120" y="2924944"/>
              <a:ext cx="3642393" cy="513348"/>
              <a:chOff x="4679680" y="1985357"/>
              <a:chExt cx="3642393" cy="513348"/>
            </a:xfrm>
          </p:grpSpPr>
          <p:sp>
            <p:nvSpPr>
              <p:cNvPr id="5" name="TextBox 4"/>
              <p:cNvSpPr txBox="1"/>
              <p:nvPr/>
            </p:nvSpPr>
            <p:spPr>
              <a:xfrm>
                <a:off x="5718219" y="2129373"/>
                <a:ext cx="26038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silly, but illustrates scatter</a:t>
                </a:r>
                <a:endParaRPr lang="nl-BE" i="1" dirty="0"/>
              </a:p>
            </p:txBody>
          </p:sp>
          <p:cxnSp>
            <p:nvCxnSpPr>
              <p:cNvPr id="6" name="Straight Arrow Connector 5"/>
              <p:cNvCxnSpPr>
                <a:stCxn id="5" idx="1"/>
              </p:cNvCxnSpPr>
              <p:nvPr/>
            </p:nvCxnSpPr>
            <p:spPr>
              <a:xfrm flipH="1" flipV="1">
                <a:off x="4679680" y="1985357"/>
                <a:ext cx="1038539" cy="328682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/>
            <p:cNvCxnSpPr/>
            <p:nvPr/>
          </p:nvCxnSpPr>
          <p:spPr>
            <a:xfrm flipH="1">
              <a:off x="5436096" y="3253626"/>
              <a:ext cx="1254563" cy="535414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179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04875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 for calculating</a:t>
            </a:r>
            <a:r>
              <a:rPr lang="en-US" dirty="0">
                <a:sym typeface="Symbol"/>
              </a:rPr>
              <a:t>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95536" y="1340768"/>
            <a:ext cx="6479659" cy="501675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root, n, verbose = 0, None, None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MPI.COMM_WORLD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rank, size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comm.Get_rank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(),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comm.Get_size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lbounds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ubounds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[], []</a:t>
            </a:r>
          </a:p>
          <a:p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rank == root: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n, verbose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get_options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nl-BE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r in range(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size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lbound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ubound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compute_bounds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size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r, n)</a:t>
            </a:r>
          </a:p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lbounds.append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lbound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ubounds.append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ubound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 = 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comm.bcast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(n, root=root)</a:t>
            </a:r>
          </a:p>
          <a:p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verbose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comm.bcast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verbose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root=root)</a:t>
            </a:r>
          </a:p>
          <a:p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lbound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comm.scatter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lbounds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root=root)</a:t>
            </a:r>
          </a:p>
          <a:p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ubound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comm.scatter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ubounds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root=root)</a:t>
            </a:r>
          </a:p>
          <a:p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partial_sum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partial_pi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lbound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ubound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n)</a:t>
            </a:r>
          </a:p>
          <a:p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total_sum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comm.reduce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partial_sum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op=MPI.SUM,</a:t>
            </a:r>
          </a:p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root=root)</a:t>
            </a:r>
          </a:p>
          <a:p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rank == root:</a:t>
            </a:r>
          </a:p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print(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f'pi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{</a:t>
            </a:r>
            <a:r>
              <a:rPr lang="nl-BE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total_sum</a:t>
            </a:r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/n:.12f}')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180</a:t>
            </a:fld>
            <a:endParaRPr lang="nl-BE"/>
          </a:p>
        </p:txBody>
      </p:sp>
      <p:grpSp>
        <p:nvGrpSpPr>
          <p:cNvPr id="17" name="Group 16"/>
          <p:cNvGrpSpPr/>
          <p:nvPr/>
        </p:nvGrpSpPr>
        <p:grpSpPr>
          <a:xfrm>
            <a:off x="6751763" y="1597741"/>
            <a:ext cx="1811044" cy="1086465"/>
            <a:chOff x="6751763" y="1597741"/>
            <a:chExt cx="1811044" cy="1086465"/>
          </a:xfrm>
        </p:grpSpPr>
        <p:sp>
          <p:nvSpPr>
            <p:cNvPr id="10" name="Right Brace 9"/>
            <p:cNvSpPr/>
            <p:nvPr/>
          </p:nvSpPr>
          <p:spPr>
            <a:xfrm>
              <a:off x="6751763" y="1597741"/>
              <a:ext cx="248805" cy="1086465"/>
            </a:xfrm>
            <a:prstGeom prst="rightBrace">
              <a:avLst>
                <a:gd name="adj1" fmla="val 91321"/>
                <a:gd name="adj2" fmla="val 50000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192304" y="1946790"/>
              <a:ext cx="13705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initialize (all)</a:t>
              </a:r>
              <a:endParaRPr lang="nl-BE" dirty="0"/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6751763" y="2684207"/>
            <a:ext cx="2267491" cy="2378268"/>
            <a:chOff x="6751763" y="2684207"/>
            <a:chExt cx="2267491" cy="2378268"/>
          </a:xfrm>
        </p:grpSpPr>
        <p:sp>
          <p:nvSpPr>
            <p:cNvPr id="3" name="Right Brace 2"/>
            <p:cNvSpPr/>
            <p:nvPr/>
          </p:nvSpPr>
          <p:spPr>
            <a:xfrm>
              <a:off x="6751763" y="2684207"/>
              <a:ext cx="248805" cy="2378268"/>
            </a:xfrm>
            <a:prstGeom prst="rightBrace">
              <a:avLst>
                <a:gd name="adj1" fmla="val 91321"/>
                <a:gd name="adj2" fmla="val 50000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7064488" y="3357686"/>
              <a:ext cx="1954766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handle parameters</a:t>
              </a:r>
              <a:br>
                <a:rPr lang="en-US" dirty="0"/>
              </a:br>
              <a:r>
                <a:rPr lang="en-US" dirty="0"/>
                <a:t>compute bounds</a:t>
              </a:r>
              <a:br>
                <a:rPr lang="en-US" dirty="0"/>
              </a:br>
              <a:r>
                <a:rPr lang="en-US" dirty="0"/>
                <a:t>(root)</a:t>
              </a:r>
            </a:p>
            <a:p>
              <a:r>
                <a:rPr lang="en-US" dirty="0"/>
                <a:t>broadcast (all)</a:t>
              </a:r>
              <a:endParaRPr lang="nl-BE" dirty="0"/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6751763" y="5050398"/>
            <a:ext cx="1871125" cy="373703"/>
            <a:chOff x="6751763" y="5147110"/>
            <a:chExt cx="1871125" cy="373703"/>
          </a:xfrm>
        </p:grpSpPr>
        <p:sp>
          <p:nvSpPr>
            <p:cNvPr id="7" name="Right Brace 6"/>
            <p:cNvSpPr/>
            <p:nvPr/>
          </p:nvSpPr>
          <p:spPr>
            <a:xfrm>
              <a:off x="6751763" y="5161935"/>
              <a:ext cx="248805" cy="358878"/>
            </a:xfrm>
            <a:prstGeom prst="rightBrace">
              <a:avLst>
                <a:gd name="adj1" fmla="val 31615"/>
                <a:gd name="adj2" fmla="val 50000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7192304" y="5147110"/>
              <a:ext cx="143058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compute (all)</a:t>
              </a:r>
              <a:endParaRPr lang="nl-BE" dirty="0"/>
            </a:p>
          </p:txBody>
        </p:sp>
      </p:grpSp>
      <p:grpSp>
        <p:nvGrpSpPr>
          <p:cNvPr id="20" name="Group 19"/>
          <p:cNvGrpSpPr/>
          <p:nvPr/>
        </p:nvGrpSpPr>
        <p:grpSpPr>
          <a:xfrm>
            <a:off x="6751763" y="5422582"/>
            <a:ext cx="1684984" cy="496537"/>
            <a:chOff x="6751763" y="5589630"/>
            <a:chExt cx="1684984" cy="496537"/>
          </a:xfrm>
        </p:grpSpPr>
        <p:sp>
          <p:nvSpPr>
            <p:cNvPr id="8" name="Right Brace 7"/>
            <p:cNvSpPr/>
            <p:nvPr/>
          </p:nvSpPr>
          <p:spPr>
            <a:xfrm>
              <a:off x="6751763" y="5589630"/>
              <a:ext cx="248805" cy="496537"/>
            </a:xfrm>
            <a:prstGeom prst="rightBrace">
              <a:avLst>
                <a:gd name="adj1" fmla="val 31615"/>
                <a:gd name="adj2" fmla="val 50000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192304" y="5633798"/>
              <a:ext cx="124444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reduce (all)</a:t>
              </a:r>
              <a:endParaRPr lang="nl-BE" dirty="0"/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6751763" y="5923258"/>
            <a:ext cx="1857404" cy="496537"/>
            <a:chOff x="6751763" y="6125478"/>
            <a:chExt cx="1857404" cy="496537"/>
          </a:xfrm>
        </p:grpSpPr>
        <p:sp>
          <p:nvSpPr>
            <p:cNvPr id="9" name="Right Brace 8"/>
            <p:cNvSpPr/>
            <p:nvPr/>
          </p:nvSpPr>
          <p:spPr>
            <a:xfrm>
              <a:off x="6751763" y="6125478"/>
              <a:ext cx="248805" cy="496537"/>
            </a:xfrm>
            <a:prstGeom prst="rightBrace">
              <a:avLst>
                <a:gd name="adj1" fmla="val 31615"/>
                <a:gd name="adj2" fmla="val 50000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7192304" y="6159814"/>
              <a:ext cx="14168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output (root)</a:t>
              </a:r>
              <a:endParaRPr lang="nl-BE" dirty="0"/>
            </a:p>
          </p:txBody>
        </p:sp>
      </p:grpSp>
    </p:spTree>
    <p:extLst>
      <p:ext uri="{BB962C8B-B14F-4D97-AF65-F5344CB8AC3E}">
        <p14:creationId xmlns:p14="http://schemas.microsoft.com/office/powerpoint/2010/main" val="42222339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Any python object that can be pickled</a:t>
            </a:r>
          </a:p>
          <a:p>
            <a:pPr lvl="1"/>
            <a:r>
              <a:rPr lang="en-US" dirty="0"/>
              <a:t>pros: versatile, simple</a:t>
            </a:r>
          </a:p>
          <a:p>
            <a:pPr lvl="1"/>
            <a:r>
              <a:rPr lang="en-US" dirty="0"/>
              <a:t>cons: slow, memory/bandwidth overhead</a:t>
            </a:r>
          </a:p>
          <a:p>
            <a:r>
              <a:rPr lang="en-US" dirty="0"/>
              <a:t>Any python object exporting single segment buffer interface, e.g., </a:t>
            </a:r>
            <a:r>
              <a:rPr lang="en-US" dirty="0" err="1"/>
              <a:t>str</a:t>
            </a:r>
            <a:r>
              <a:rPr lang="en-US" dirty="0"/>
              <a:t>, Python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array.array</a:t>
            </a:r>
            <a:r>
              <a:rPr lang="en-US" dirty="0"/>
              <a:t>, </a:t>
            </a:r>
            <a:r>
              <a:rPr lang="en-US" dirty="0" err="1"/>
              <a:t>numpy</a:t>
            </a:r>
            <a:r>
              <a:rPr lang="en-US" dirty="0"/>
              <a:t> array</a:t>
            </a:r>
          </a:p>
          <a:p>
            <a:pPr lvl="1"/>
            <a:r>
              <a:rPr lang="en-US" dirty="0"/>
              <a:t>pros: much faster, more memory/bandwidth efficient</a:t>
            </a:r>
          </a:p>
          <a:p>
            <a:pPr lvl="1"/>
            <a:r>
              <a:rPr lang="en-US" dirty="0"/>
              <a:t>cons: somewhat more involved API, programming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181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33518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comm.Ssend</a:t>
            </a:r>
            <a:r>
              <a:rPr lang="en-US" dirty="0"/>
              <a:t>/</a:t>
            </a:r>
            <a:r>
              <a:rPr lang="en-US" dirty="0" err="1"/>
              <a:t>comm.Recv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Sending/receiving </a:t>
            </a:r>
            <a:r>
              <a:rPr lang="en-US" dirty="0" err="1"/>
              <a:t>numpy</a:t>
            </a:r>
            <a:r>
              <a:rPr lang="en-US" dirty="0"/>
              <a:t> array, hold the pickles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182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539552" y="2809959"/>
            <a:ext cx="7491153" cy="3139321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np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1001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if rank == sender: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(-10.0, 10.0,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comm.Ssend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=receiver)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rank == receiver: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recv_buffer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np.empty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comm.Recv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recv_buffer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source=sender)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802227" y="5770420"/>
            <a:ext cx="4501873" cy="754924"/>
            <a:chOff x="-678090" y="2376181"/>
            <a:chExt cx="4501873" cy="754924"/>
          </a:xfrm>
        </p:grpSpPr>
        <p:sp>
          <p:nvSpPr>
            <p:cNvPr id="7" name="TextBox 6"/>
            <p:cNvSpPr txBox="1"/>
            <p:nvPr/>
          </p:nvSpPr>
          <p:spPr>
            <a:xfrm>
              <a:off x="-678090" y="2761773"/>
              <a:ext cx="450187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on receiver, explicit initialized buffer required!</a:t>
              </a:r>
              <a:endParaRPr lang="nl-BE" i="1" dirty="0"/>
            </a:p>
          </p:txBody>
        </p:sp>
        <p:cxnSp>
          <p:nvCxnSpPr>
            <p:cNvPr id="8" name="Straight Arrow Connector 7"/>
            <p:cNvCxnSpPr>
              <a:stCxn id="7" idx="0"/>
            </p:cNvCxnSpPr>
            <p:nvPr/>
          </p:nvCxnSpPr>
          <p:spPr>
            <a:xfrm flipH="1" flipV="1">
              <a:off x="119969" y="2376181"/>
              <a:ext cx="1452878" cy="385592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563463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comm.Reduce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Computing sum of matrices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183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539552" y="2276872"/>
            <a:ext cx="7491153" cy="3139321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np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data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np.array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((m, n))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if rank == root: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recv_buffer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np.empty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((m, n))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else: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recv_buffer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None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comm.Reduce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(data,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recv_buffer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op=MPI.SUM, root=root)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090259" y="5168806"/>
            <a:ext cx="3605667" cy="1140514"/>
            <a:chOff x="-678090" y="1990591"/>
            <a:chExt cx="3605667" cy="1140514"/>
          </a:xfrm>
        </p:grpSpPr>
        <p:sp>
          <p:nvSpPr>
            <p:cNvPr id="7" name="TextBox 6"/>
            <p:cNvSpPr txBox="1"/>
            <p:nvPr/>
          </p:nvSpPr>
          <p:spPr>
            <a:xfrm>
              <a:off x="-678090" y="2761773"/>
              <a:ext cx="360566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only initialized on root, i.e., process </a:t>
              </a:r>
              <a:r>
                <a:rPr lang="en-US" i="1" dirty="0" err="1"/>
                <a:t>i</a:t>
              </a:r>
              <a:endParaRPr lang="nl-BE" i="1" dirty="0"/>
            </a:p>
          </p:txBody>
        </p:sp>
        <p:cxnSp>
          <p:nvCxnSpPr>
            <p:cNvPr id="8" name="Straight Arrow Connector 7"/>
            <p:cNvCxnSpPr>
              <a:stCxn id="7" idx="0"/>
            </p:cNvCxnSpPr>
            <p:nvPr/>
          </p:nvCxnSpPr>
          <p:spPr>
            <a:xfrm flipH="1" flipV="1">
              <a:off x="119956" y="1990591"/>
              <a:ext cx="1004788" cy="771182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051637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user-defined types</a:t>
            </a:r>
          </a:p>
          <a:p>
            <a:r>
              <a:rPr lang="en-US" dirty="0"/>
              <a:t>Data must be in type that exports single-segment buffer interface</a:t>
            </a:r>
          </a:p>
          <a:p>
            <a:r>
              <a:rPr lang="en-US" dirty="0"/>
              <a:t>Data must be contiguous in 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184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619672" y="4653136"/>
            <a:ext cx="5562613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Implication: for, e.g., 2D halo exchange,</a:t>
            </a:r>
            <a:br>
              <a:rPr lang="en-US" sz="2400" dirty="0"/>
            </a:br>
            <a:r>
              <a:rPr lang="en-US" sz="2400" dirty="0"/>
              <a:t>                      column halo has to be copied!!</a:t>
            </a:r>
            <a:endParaRPr lang="nl-BE" sz="2400" dirty="0"/>
          </a:p>
        </p:txBody>
      </p:sp>
    </p:spTree>
    <p:extLst>
      <p:ext uri="{BB962C8B-B14F-4D97-AF65-F5344CB8AC3E}">
        <p14:creationId xmlns:p14="http://schemas.microsoft.com/office/powerpoint/2010/main" val="4242027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Topology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700409" cy="4781128"/>
          </a:xfrm>
        </p:spPr>
        <p:txBody>
          <a:bodyPr>
            <a:normAutofit/>
          </a:bodyPr>
          <a:lstStyle/>
          <a:p>
            <a:r>
              <a:rPr lang="en-US" dirty="0"/>
              <a:t>Domain decomposition: often in 2D or 3D, e.g.,</a:t>
            </a:r>
          </a:p>
          <a:p>
            <a:pPr lvl="1"/>
            <a:r>
              <a:rPr lang="en-US" dirty="0"/>
              <a:t>image processing</a:t>
            </a:r>
          </a:p>
          <a:p>
            <a:pPr lvl="1"/>
            <a:r>
              <a:rPr lang="en-US" dirty="0"/>
              <a:t>many other applications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MPI allows to "arrange" processes in 1D, 2D, 3D, … grids, i.e., Cartesian topology</a:t>
            </a:r>
          </a:p>
          <a:p>
            <a:pPr lvl="1"/>
            <a:r>
              <a:rPr lang="en-US" dirty="0"/>
              <a:t>easy to determine neighbors</a:t>
            </a:r>
          </a:p>
          <a:p>
            <a:pPr lvl="1"/>
            <a:r>
              <a:rPr lang="en-US" dirty="0"/>
              <a:t>new communicator</a:t>
            </a:r>
          </a:p>
        </p:txBody>
      </p:sp>
      <p:pic>
        <p:nvPicPr>
          <p:cNvPr id="5" name="Picture 2" descr="C:\Users\lucg5005\Downloads\DSC_0825-Edit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6924" y="2162244"/>
            <a:ext cx="1800000" cy="18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6268792" y="1874112"/>
            <a:ext cx="2376264" cy="2376264"/>
            <a:chOff x="5282412" y="2060848"/>
            <a:chExt cx="2376264" cy="2376264"/>
          </a:xfrm>
        </p:grpSpPr>
        <p:cxnSp>
          <p:nvCxnSpPr>
            <p:cNvPr id="7" name="Straight Connector 6"/>
            <p:cNvCxnSpPr/>
            <p:nvPr/>
          </p:nvCxnSpPr>
          <p:spPr>
            <a:xfrm flipH="1" flipV="1">
              <a:off x="6452592" y="2060848"/>
              <a:ext cx="35904" cy="2376264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rot="5400000" flipH="1" flipV="1">
              <a:off x="6452592" y="2060848"/>
              <a:ext cx="35904" cy="2376264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185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647544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comm.Create_cart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Rearrange processes into virtual grid, e.g., 2D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Here,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m*n ==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comm.Get_size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 and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cart_comm.Get_size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() ==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comm.Get_size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186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590765" y="2348880"/>
            <a:ext cx="7353295" cy="1754326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cart_comm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comm.Create_cart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([m, n],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periods=[False, False],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reorder=False)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rank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cart_comm.Get_rank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6840130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Coordinates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rank, determine coordinates</a:t>
            </a:r>
            <a:br>
              <a:rPr lang="en-US" dirty="0"/>
            </a:b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coords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cart_comm.Get_coords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(rank)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Get rank of neighbors in 2D</a:t>
            </a:r>
            <a:br>
              <a:rPr lang="en-US" dirty="0"/>
            </a:b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left, right =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cart_comm.shift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(0, 1)</a:t>
            </a:r>
            <a:b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up, down =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cart_comm.shift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(1, 1)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187</a:t>
            </a:fld>
            <a:endParaRPr lang="nl-BE"/>
          </a:p>
        </p:txBody>
      </p:sp>
      <p:grpSp>
        <p:nvGrpSpPr>
          <p:cNvPr id="17" name="Group 16"/>
          <p:cNvGrpSpPr/>
          <p:nvPr/>
        </p:nvGrpSpPr>
        <p:grpSpPr>
          <a:xfrm>
            <a:off x="5206432" y="3070949"/>
            <a:ext cx="1429769" cy="1737669"/>
            <a:chOff x="5148064" y="3100133"/>
            <a:chExt cx="1429769" cy="1737669"/>
          </a:xfrm>
        </p:grpSpPr>
        <p:sp>
          <p:nvSpPr>
            <p:cNvPr id="5" name="Rectangle 4"/>
            <p:cNvSpPr/>
            <p:nvPr/>
          </p:nvSpPr>
          <p:spPr>
            <a:xfrm>
              <a:off x="6361809" y="3100133"/>
              <a:ext cx="216024" cy="28803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6" name="Rectangle 5"/>
            <p:cNvSpPr/>
            <p:nvPr/>
          </p:nvSpPr>
          <p:spPr>
            <a:xfrm>
              <a:off x="5796136" y="3490617"/>
              <a:ext cx="216024" cy="28803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8" name="Straight Arrow Connector 7"/>
            <p:cNvCxnSpPr>
              <a:stCxn id="12" idx="0"/>
              <a:endCxn id="6" idx="2"/>
            </p:cNvCxnSpPr>
            <p:nvPr/>
          </p:nvCxnSpPr>
          <p:spPr>
            <a:xfrm flipV="1">
              <a:off x="5659679" y="3778649"/>
              <a:ext cx="244469" cy="689821"/>
            </a:xfrm>
            <a:prstGeom prst="straightConnector1">
              <a:avLst/>
            </a:prstGeom>
            <a:ln w="15875"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>
              <a:stCxn id="12" idx="0"/>
              <a:endCxn id="5" idx="2"/>
            </p:cNvCxnSpPr>
            <p:nvPr/>
          </p:nvCxnSpPr>
          <p:spPr>
            <a:xfrm flipV="1">
              <a:off x="5659679" y="3388165"/>
              <a:ext cx="810142" cy="1080305"/>
            </a:xfrm>
            <a:prstGeom prst="straightConnector1">
              <a:avLst/>
            </a:prstGeom>
            <a:ln w="15875"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/>
            <p:cNvSpPr txBox="1"/>
            <p:nvPr/>
          </p:nvSpPr>
          <p:spPr>
            <a:xfrm>
              <a:off x="5148064" y="4468470"/>
              <a:ext cx="1023229" cy="369332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direction</a:t>
              </a:r>
              <a:endParaRPr lang="nl-BE" dirty="0">
                <a:solidFill>
                  <a:srgbClr val="0070C0"/>
                </a:solidFill>
              </a:endParaRP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6410449" y="3068332"/>
            <a:ext cx="1336032" cy="1741134"/>
            <a:chOff x="4592418" y="2945726"/>
            <a:chExt cx="1336032" cy="1741134"/>
          </a:xfrm>
        </p:grpSpPr>
        <p:sp>
          <p:nvSpPr>
            <p:cNvPr id="19" name="Rectangle 18"/>
            <p:cNvSpPr/>
            <p:nvPr/>
          </p:nvSpPr>
          <p:spPr>
            <a:xfrm>
              <a:off x="5127282" y="2945726"/>
              <a:ext cx="216024" cy="288032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592418" y="3326914"/>
              <a:ext cx="216024" cy="288032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1" name="Straight Arrow Connector 20"/>
            <p:cNvCxnSpPr>
              <a:stCxn id="23" idx="0"/>
              <a:endCxn id="20" idx="2"/>
            </p:cNvCxnSpPr>
            <p:nvPr/>
          </p:nvCxnSpPr>
          <p:spPr>
            <a:xfrm flipH="1" flipV="1">
              <a:off x="4700430" y="3614946"/>
              <a:ext cx="737661" cy="702582"/>
            </a:xfrm>
            <a:prstGeom prst="straightConnector1">
              <a:avLst/>
            </a:prstGeom>
            <a:ln w="158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/>
            <p:cNvCxnSpPr>
              <a:stCxn id="23" idx="0"/>
              <a:endCxn id="19" idx="2"/>
            </p:cNvCxnSpPr>
            <p:nvPr/>
          </p:nvCxnSpPr>
          <p:spPr>
            <a:xfrm flipH="1" flipV="1">
              <a:off x="5235294" y="3233758"/>
              <a:ext cx="202797" cy="1083770"/>
            </a:xfrm>
            <a:prstGeom prst="straightConnector1">
              <a:avLst/>
            </a:prstGeom>
            <a:ln w="158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/>
            <p:cNvSpPr txBox="1"/>
            <p:nvPr/>
          </p:nvSpPr>
          <p:spPr>
            <a:xfrm>
              <a:off x="4947732" y="4317528"/>
              <a:ext cx="980718" cy="369332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step size</a:t>
              </a:r>
              <a:endParaRPr lang="nl-BE" dirty="0">
                <a:solidFill>
                  <a:srgbClr val="C00000"/>
                </a:solidFill>
              </a:endParaRPr>
            </a:p>
          </p:txBody>
        </p:sp>
      </p:grpSp>
      <p:grpSp>
        <p:nvGrpSpPr>
          <p:cNvPr id="34" name="Group 33"/>
          <p:cNvGrpSpPr/>
          <p:nvPr/>
        </p:nvGrpSpPr>
        <p:grpSpPr>
          <a:xfrm>
            <a:off x="1115616" y="4293096"/>
            <a:ext cx="2324309" cy="2036277"/>
            <a:chOff x="1115616" y="4293096"/>
            <a:chExt cx="2324309" cy="2036277"/>
          </a:xfrm>
        </p:grpSpPr>
        <p:sp>
          <p:nvSpPr>
            <p:cNvPr id="26" name="Rectangle 25"/>
            <p:cNvSpPr/>
            <p:nvPr/>
          </p:nvSpPr>
          <p:spPr>
            <a:xfrm>
              <a:off x="1115616" y="4293096"/>
              <a:ext cx="1152128" cy="100811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2287797" y="4293096"/>
              <a:ext cx="1152128" cy="100811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1115616" y="5321261"/>
              <a:ext cx="1152128" cy="100811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2287797" y="5321261"/>
              <a:ext cx="1152128" cy="100811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1547664" y="4612301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0</a:t>
              </a:r>
              <a:endParaRPr lang="nl-BE" dirty="0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547664" y="5610022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1</a:t>
              </a:r>
              <a:endParaRPr lang="nl-BE" dirty="0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2699792" y="4612671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2</a:t>
              </a:r>
              <a:endParaRPr lang="nl-BE" dirty="0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2699792" y="5610392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  <a:endParaRPr lang="nl-BE" dirty="0"/>
            </a:p>
          </p:txBody>
        </p:sp>
      </p:grpSp>
      <p:sp>
        <p:nvSpPr>
          <p:cNvPr id="35" name="TextBox 34"/>
          <p:cNvSpPr txBox="1"/>
          <p:nvPr/>
        </p:nvSpPr>
        <p:spPr>
          <a:xfrm>
            <a:off x="3825471" y="5013176"/>
            <a:ext cx="2114681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E.g., for process 0:</a:t>
            </a:r>
            <a:br>
              <a:rPr lang="nl-BE" dirty="0"/>
            </a:b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left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== -1</a:t>
            </a:r>
            <a:b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right == 2</a:t>
            </a:r>
            <a:b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up == -1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down = 1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87342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5" grpId="0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Halo exchange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781128"/>
          </a:xfrm>
        </p:spPr>
        <p:txBody>
          <a:bodyPr>
            <a:normAutofit/>
          </a:bodyPr>
          <a:lstStyle/>
          <a:p>
            <a:r>
              <a:rPr lang="en-US" dirty="0"/>
              <a:t>Domain decomposition: often information exchange required, i.e.,</a:t>
            </a:r>
            <a:br>
              <a:rPr lang="en-US" dirty="0"/>
            </a:br>
            <a:r>
              <a:rPr lang="en-US" dirty="0"/>
              <a:t>edges need to be sent</a:t>
            </a:r>
            <a:br>
              <a:rPr lang="en-US" dirty="0"/>
            </a:br>
            <a:r>
              <a:rPr lang="en-US" dirty="0"/>
              <a:t>to "neighbors"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 either</a:t>
            </a:r>
          </a:p>
          <a:p>
            <a:pPr lvl="1"/>
            <a:r>
              <a:rPr lang="en-US" dirty="0"/>
              <a:t>four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cart_comm.Sendrecv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one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cart_comm.Neighbor_alltoall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cs typeface="Courier New" panose="02070309020205020404" pitchFamily="49" charset="0"/>
              </a:rPr>
              <a:t>(whenever it gets implemented)</a:t>
            </a:r>
          </a:p>
        </p:txBody>
      </p:sp>
      <p:pic>
        <p:nvPicPr>
          <p:cNvPr id="5" name="Picture 2" descr="C:\Users\lucg5005\Downloads\DSC_0825-Edit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52220" y="2492996"/>
            <a:ext cx="1800000" cy="18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5364088" y="2204864"/>
            <a:ext cx="2376264" cy="2376264"/>
            <a:chOff x="5282412" y="2060848"/>
            <a:chExt cx="2376264" cy="2376264"/>
          </a:xfrm>
        </p:grpSpPr>
        <p:cxnSp>
          <p:nvCxnSpPr>
            <p:cNvPr id="7" name="Straight Connector 6"/>
            <p:cNvCxnSpPr/>
            <p:nvPr/>
          </p:nvCxnSpPr>
          <p:spPr>
            <a:xfrm flipH="1" flipV="1">
              <a:off x="6452592" y="2060848"/>
              <a:ext cx="35904" cy="2376264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rot="5400000" flipH="1" flipV="1">
              <a:off x="6452592" y="2060848"/>
              <a:ext cx="35904" cy="2376264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188</a:t>
            </a:fld>
            <a:endParaRPr lang="nl-BE"/>
          </a:p>
        </p:txBody>
      </p:sp>
      <p:grpSp>
        <p:nvGrpSpPr>
          <p:cNvPr id="8" name="Group 7"/>
          <p:cNvGrpSpPr/>
          <p:nvPr/>
        </p:nvGrpSpPr>
        <p:grpSpPr>
          <a:xfrm>
            <a:off x="5364088" y="2204864"/>
            <a:ext cx="2386655" cy="2386655"/>
            <a:chOff x="5364088" y="2204864"/>
            <a:chExt cx="2386655" cy="2386655"/>
          </a:xfrm>
        </p:grpSpPr>
        <p:grpSp>
          <p:nvGrpSpPr>
            <p:cNvPr id="6" name="Group 5"/>
            <p:cNvGrpSpPr/>
            <p:nvPr/>
          </p:nvGrpSpPr>
          <p:grpSpPr>
            <a:xfrm>
              <a:off x="6433817" y="2204864"/>
              <a:ext cx="226415" cy="2386655"/>
              <a:chOff x="6433817" y="2204864"/>
              <a:chExt cx="226415" cy="2386655"/>
            </a:xfrm>
          </p:grpSpPr>
          <p:cxnSp>
            <p:nvCxnSpPr>
              <p:cNvPr id="9" name="Straight Connector 8"/>
              <p:cNvCxnSpPr/>
              <p:nvPr/>
            </p:nvCxnSpPr>
            <p:spPr>
              <a:xfrm flipH="1" flipV="1">
                <a:off x="6624328" y="2204864"/>
                <a:ext cx="35904" cy="2376264"/>
              </a:xfrm>
              <a:prstGeom prst="line">
                <a:avLst/>
              </a:prstGeom>
              <a:ln w="3175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/>
              <p:cNvCxnSpPr/>
              <p:nvPr/>
            </p:nvCxnSpPr>
            <p:spPr>
              <a:xfrm flipH="1" flipV="1">
                <a:off x="6433817" y="2215255"/>
                <a:ext cx="35904" cy="2376264"/>
              </a:xfrm>
              <a:prstGeom prst="line">
                <a:avLst/>
              </a:prstGeom>
              <a:ln w="3175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" name="Group 12"/>
            <p:cNvGrpSpPr/>
            <p:nvPr/>
          </p:nvGrpSpPr>
          <p:grpSpPr>
            <a:xfrm rot="16200000">
              <a:off x="6444208" y="2204865"/>
              <a:ext cx="226415" cy="2386655"/>
              <a:chOff x="6433817" y="2204864"/>
              <a:chExt cx="226415" cy="2386655"/>
            </a:xfrm>
          </p:grpSpPr>
          <p:cxnSp>
            <p:nvCxnSpPr>
              <p:cNvPr id="14" name="Straight Connector 13"/>
              <p:cNvCxnSpPr/>
              <p:nvPr/>
            </p:nvCxnSpPr>
            <p:spPr>
              <a:xfrm flipH="1" flipV="1">
                <a:off x="6624328" y="2204864"/>
                <a:ext cx="35904" cy="2376264"/>
              </a:xfrm>
              <a:prstGeom prst="line">
                <a:avLst/>
              </a:prstGeom>
              <a:ln w="3175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/>
              <p:cNvCxnSpPr/>
              <p:nvPr/>
            </p:nvCxnSpPr>
            <p:spPr>
              <a:xfrm flipH="1" flipV="1">
                <a:off x="6433817" y="2215255"/>
                <a:ext cx="35904" cy="2376264"/>
              </a:xfrm>
              <a:prstGeom prst="line">
                <a:avLst/>
              </a:prstGeom>
              <a:ln w="3175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9672653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Halo exchange &amp; </a:t>
            </a:r>
            <a:r>
              <a:rPr lang="en-US" dirty="0" err="1"/>
              <a:t>comm.Sendrecv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189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323528" y="1628800"/>
            <a:ext cx="7353295" cy="4247317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 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matrix[:, 0].copy()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cart_comm.Sendrecv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left,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recvbuf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right_halo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source=right)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matrix[:, -1].copy()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cart_comm.Sendrecv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right,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recvbuf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left_halo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source=left)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cart_comm.Sendrecv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(matrix[0, :], up,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recvbuf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lower_halo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source=down)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cart_comm.Sendrecv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(matrix[-1, :], down,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recvbuf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upper_halo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source=up)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9" name="Group 8"/>
          <p:cNvGrpSpPr/>
          <p:nvPr/>
        </p:nvGrpSpPr>
        <p:grpSpPr>
          <a:xfrm>
            <a:off x="5336931" y="1444134"/>
            <a:ext cx="3758396" cy="709981"/>
            <a:chOff x="5336931" y="1444134"/>
            <a:chExt cx="3758396" cy="709981"/>
          </a:xfrm>
        </p:grpSpPr>
        <p:sp>
          <p:nvSpPr>
            <p:cNvPr id="6" name="TextBox 5"/>
            <p:cNvSpPr txBox="1"/>
            <p:nvPr/>
          </p:nvSpPr>
          <p:spPr>
            <a:xfrm>
              <a:off x="7743287" y="1444134"/>
              <a:ext cx="1352040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left edge</a:t>
              </a:r>
              <a:endParaRPr lang="nl-BE" dirty="0"/>
            </a:p>
          </p:txBody>
        </p:sp>
        <p:cxnSp>
          <p:nvCxnSpPr>
            <p:cNvPr id="8" name="Straight Arrow Connector 7"/>
            <p:cNvCxnSpPr>
              <a:cxnSpLocks/>
              <a:stCxn id="6" idx="1"/>
            </p:cNvCxnSpPr>
            <p:nvPr/>
          </p:nvCxnSpPr>
          <p:spPr>
            <a:xfrm flipH="1">
              <a:off x="5336931" y="1628800"/>
              <a:ext cx="2406356" cy="52531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5577178" y="1876182"/>
            <a:ext cx="3518148" cy="616714"/>
            <a:chOff x="5580112" y="1444134"/>
            <a:chExt cx="3518148" cy="616714"/>
          </a:xfrm>
        </p:grpSpPr>
        <p:sp>
          <p:nvSpPr>
            <p:cNvPr id="11" name="TextBox 10"/>
            <p:cNvSpPr txBox="1"/>
            <p:nvPr/>
          </p:nvSpPr>
          <p:spPr>
            <a:xfrm>
              <a:off x="7743286" y="1444134"/>
              <a:ext cx="135497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right halo</a:t>
              </a:r>
              <a:endParaRPr lang="nl-BE" dirty="0"/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5580112" y="1628800"/>
              <a:ext cx="2163174" cy="43204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/>
          <p:cNvGrpSpPr/>
          <p:nvPr/>
        </p:nvGrpSpPr>
        <p:grpSpPr>
          <a:xfrm>
            <a:off x="5187462" y="2524254"/>
            <a:ext cx="3907866" cy="1048762"/>
            <a:chOff x="5187462" y="2524254"/>
            <a:chExt cx="3907866" cy="1048762"/>
          </a:xfrm>
        </p:grpSpPr>
        <p:grpSp>
          <p:nvGrpSpPr>
            <p:cNvPr id="13" name="Group 12"/>
            <p:cNvGrpSpPr/>
            <p:nvPr/>
          </p:nvGrpSpPr>
          <p:grpSpPr>
            <a:xfrm>
              <a:off x="5187462" y="2524254"/>
              <a:ext cx="3907866" cy="616714"/>
              <a:chOff x="5184528" y="1444134"/>
              <a:chExt cx="3907866" cy="616714"/>
            </a:xfrm>
          </p:grpSpPr>
          <p:sp>
            <p:nvSpPr>
              <p:cNvPr id="14" name="TextBox 13"/>
              <p:cNvSpPr txBox="1"/>
              <p:nvPr/>
            </p:nvSpPr>
            <p:spPr>
              <a:xfrm>
                <a:off x="7740354" y="1444134"/>
                <a:ext cx="1352040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right edge</a:t>
                </a:r>
                <a:endParaRPr lang="nl-BE" dirty="0"/>
              </a:p>
            </p:txBody>
          </p:sp>
          <p:cxnSp>
            <p:nvCxnSpPr>
              <p:cNvPr id="15" name="Straight Arrow Connector 14"/>
              <p:cNvCxnSpPr>
                <a:cxnSpLocks/>
                <a:stCxn id="14" idx="1"/>
              </p:cNvCxnSpPr>
              <p:nvPr/>
            </p:nvCxnSpPr>
            <p:spPr>
              <a:xfrm flipH="1">
                <a:off x="5184528" y="1628800"/>
                <a:ext cx="2555826" cy="432048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/>
            <p:cNvGrpSpPr/>
            <p:nvPr/>
          </p:nvGrpSpPr>
          <p:grpSpPr>
            <a:xfrm>
              <a:off x="5580113" y="2956302"/>
              <a:ext cx="3515214" cy="616714"/>
              <a:chOff x="5580113" y="1444134"/>
              <a:chExt cx="3515214" cy="616714"/>
            </a:xfrm>
          </p:grpSpPr>
          <p:sp>
            <p:nvSpPr>
              <p:cNvPr id="17" name="TextBox 16"/>
              <p:cNvSpPr txBox="1"/>
              <p:nvPr/>
            </p:nvSpPr>
            <p:spPr>
              <a:xfrm>
                <a:off x="7743289" y="1444134"/>
                <a:ext cx="135203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left halo</a:t>
                </a:r>
                <a:endParaRPr lang="nl-BE" dirty="0"/>
              </a:p>
            </p:txBody>
          </p:sp>
          <p:cxnSp>
            <p:nvCxnSpPr>
              <p:cNvPr id="18" name="Straight Arrow Connector 17"/>
              <p:cNvCxnSpPr>
                <a:stCxn id="17" idx="1"/>
              </p:cNvCxnSpPr>
              <p:nvPr/>
            </p:nvCxnSpPr>
            <p:spPr>
              <a:xfrm flipH="1">
                <a:off x="5580113" y="1628800"/>
                <a:ext cx="2163176" cy="432048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0" name="Group 19"/>
          <p:cNvGrpSpPr/>
          <p:nvPr/>
        </p:nvGrpSpPr>
        <p:grpSpPr>
          <a:xfrm>
            <a:off x="4716019" y="3676382"/>
            <a:ext cx="4379309" cy="801380"/>
            <a:chOff x="4932043" y="2524254"/>
            <a:chExt cx="4379309" cy="801380"/>
          </a:xfrm>
        </p:grpSpPr>
        <p:grpSp>
          <p:nvGrpSpPr>
            <p:cNvPr id="21" name="Group 20"/>
            <p:cNvGrpSpPr/>
            <p:nvPr/>
          </p:nvGrpSpPr>
          <p:grpSpPr>
            <a:xfrm>
              <a:off x="4932043" y="2524254"/>
              <a:ext cx="4379307" cy="544706"/>
              <a:chOff x="4929109" y="1444134"/>
              <a:chExt cx="4379307" cy="544706"/>
            </a:xfrm>
          </p:grpSpPr>
          <p:sp>
            <p:nvSpPr>
              <p:cNvPr id="25" name="TextBox 24"/>
              <p:cNvSpPr txBox="1"/>
              <p:nvPr/>
            </p:nvSpPr>
            <p:spPr>
              <a:xfrm>
                <a:off x="7956379" y="1444134"/>
                <a:ext cx="1352037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upper edge</a:t>
                </a:r>
                <a:endParaRPr lang="nl-BE" dirty="0"/>
              </a:p>
            </p:txBody>
          </p:sp>
          <p:cxnSp>
            <p:nvCxnSpPr>
              <p:cNvPr id="26" name="Straight Arrow Connector 25"/>
              <p:cNvCxnSpPr>
                <a:stCxn id="25" idx="1"/>
              </p:cNvCxnSpPr>
              <p:nvPr/>
            </p:nvCxnSpPr>
            <p:spPr>
              <a:xfrm flipH="1">
                <a:off x="4929109" y="1628800"/>
                <a:ext cx="3027270" cy="36004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Group 21"/>
            <p:cNvGrpSpPr/>
            <p:nvPr/>
          </p:nvGrpSpPr>
          <p:grpSpPr>
            <a:xfrm>
              <a:off x="5721194" y="2956302"/>
              <a:ext cx="3590158" cy="369332"/>
              <a:chOff x="5721194" y="1444134"/>
              <a:chExt cx="3590158" cy="369332"/>
            </a:xfrm>
          </p:grpSpPr>
          <p:sp>
            <p:nvSpPr>
              <p:cNvPr id="23" name="TextBox 22"/>
              <p:cNvSpPr txBox="1"/>
              <p:nvPr/>
            </p:nvSpPr>
            <p:spPr>
              <a:xfrm>
                <a:off x="7956376" y="1444134"/>
                <a:ext cx="1354976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lower halo</a:t>
                </a:r>
                <a:endParaRPr lang="nl-BE" dirty="0"/>
              </a:p>
            </p:txBody>
          </p:sp>
          <p:cxnSp>
            <p:nvCxnSpPr>
              <p:cNvPr id="24" name="Straight Arrow Connector 23"/>
              <p:cNvCxnSpPr>
                <a:stCxn id="23" idx="1"/>
              </p:cNvCxnSpPr>
              <p:nvPr/>
            </p:nvCxnSpPr>
            <p:spPr>
              <a:xfrm flipH="1">
                <a:off x="5721194" y="1628800"/>
                <a:ext cx="2235182" cy="184666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9" name="Group 28"/>
          <p:cNvGrpSpPr/>
          <p:nvPr/>
        </p:nvGrpSpPr>
        <p:grpSpPr>
          <a:xfrm>
            <a:off x="4883285" y="4518621"/>
            <a:ext cx="4212041" cy="772196"/>
            <a:chOff x="5099309" y="2553438"/>
            <a:chExt cx="4212041" cy="772196"/>
          </a:xfrm>
        </p:grpSpPr>
        <p:grpSp>
          <p:nvGrpSpPr>
            <p:cNvPr id="30" name="Group 29"/>
            <p:cNvGrpSpPr/>
            <p:nvPr/>
          </p:nvGrpSpPr>
          <p:grpSpPr>
            <a:xfrm>
              <a:off x="5099309" y="2553438"/>
              <a:ext cx="4212041" cy="544706"/>
              <a:chOff x="5096375" y="1473318"/>
              <a:chExt cx="4212041" cy="544706"/>
            </a:xfrm>
          </p:grpSpPr>
          <p:sp>
            <p:nvSpPr>
              <p:cNvPr id="34" name="TextBox 33"/>
              <p:cNvSpPr txBox="1"/>
              <p:nvPr/>
            </p:nvSpPr>
            <p:spPr>
              <a:xfrm>
                <a:off x="7956376" y="1473318"/>
                <a:ext cx="1352040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lower edge</a:t>
                </a:r>
                <a:endParaRPr lang="nl-BE" dirty="0"/>
              </a:p>
            </p:txBody>
          </p:sp>
          <p:cxnSp>
            <p:nvCxnSpPr>
              <p:cNvPr id="35" name="Straight Arrow Connector 34"/>
              <p:cNvCxnSpPr>
                <a:stCxn id="34" idx="1"/>
              </p:cNvCxnSpPr>
              <p:nvPr/>
            </p:nvCxnSpPr>
            <p:spPr>
              <a:xfrm flipH="1">
                <a:off x="5096375" y="1657984"/>
                <a:ext cx="2860001" cy="36004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1" name="Group 30"/>
            <p:cNvGrpSpPr/>
            <p:nvPr/>
          </p:nvGrpSpPr>
          <p:grpSpPr>
            <a:xfrm>
              <a:off x="5721194" y="2956302"/>
              <a:ext cx="3590156" cy="369332"/>
              <a:chOff x="5721194" y="1444134"/>
              <a:chExt cx="3590156" cy="369332"/>
            </a:xfrm>
          </p:grpSpPr>
          <p:sp>
            <p:nvSpPr>
              <p:cNvPr id="32" name="TextBox 31"/>
              <p:cNvSpPr txBox="1"/>
              <p:nvPr/>
            </p:nvSpPr>
            <p:spPr>
              <a:xfrm>
                <a:off x="7956376" y="1444134"/>
                <a:ext cx="1354974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 err="1"/>
                  <a:t>upperhalo</a:t>
                </a:r>
                <a:endParaRPr lang="nl-BE" dirty="0"/>
              </a:p>
            </p:txBody>
          </p:sp>
          <p:cxnSp>
            <p:nvCxnSpPr>
              <p:cNvPr id="33" name="Straight Arrow Connector 32"/>
              <p:cNvCxnSpPr>
                <a:stCxn id="32" idx="1"/>
              </p:cNvCxnSpPr>
              <p:nvPr/>
            </p:nvCxnSpPr>
            <p:spPr>
              <a:xfrm flipH="1">
                <a:off x="5721194" y="1628800"/>
                <a:ext cx="2235182" cy="184666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6" name="TextBox 35"/>
          <p:cNvSpPr txBox="1"/>
          <p:nvPr/>
        </p:nvSpPr>
        <p:spPr>
          <a:xfrm>
            <a:off x="323528" y="6093296"/>
            <a:ext cx="795166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comm.Sendrecv</a:t>
            </a:r>
            <a:r>
              <a:rPr lang="en-US" sz="2400" dirty="0"/>
              <a:t>: send &amp; receive, guaranteed deadlock-free</a:t>
            </a:r>
            <a:endParaRPr lang="nl-BE" sz="2400" dirty="0"/>
          </a:p>
        </p:txBody>
      </p:sp>
      <p:grpSp>
        <p:nvGrpSpPr>
          <p:cNvPr id="37" name="Group 36"/>
          <p:cNvGrpSpPr/>
          <p:nvPr/>
        </p:nvGrpSpPr>
        <p:grpSpPr>
          <a:xfrm>
            <a:off x="2748622" y="1382518"/>
            <a:ext cx="4370285" cy="616714"/>
            <a:chOff x="5552244" y="1463590"/>
            <a:chExt cx="4370285" cy="616714"/>
          </a:xfrm>
        </p:grpSpPr>
        <p:sp>
          <p:nvSpPr>
            <p:cNvPr id="38" name="TextBox 37"/>
            <p:cNvSpPr txBox="1"/>
            <p:nvPr/>
          </p:nvSpPr>
          <p:spPr>
            <a:xfrm>
              <a:off x="6740376" y="1463590"/>
              <a:ext cx="318215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note copy: contiguous data only</a:t>
              </a:r>
              <a:endParaRPr lang="nl-BE" dirty="0"/>
            </a:p>
          </p:txBody>
        </p:sp>
        <p:cxnSp>
          <p:nvCxnSpPr>
            <p:cNvPr id="39" name="Straight Arrow Connector 38"/>
            <p:cNvCxnSpPr>
              <a:stCxn id="38" idx="1"/>
            </p:cNvCxnSpPr>
            <p:nvPr/>
          </p:nvCxnSpPr>
          <p:spPr>
            <a:xfrm flipH="1">
              <a:off x="5552244" y="1648256"/>
              <a:ext cx="1188132" cy="43204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820001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 animBg="1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the wait?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14116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Non-blocking communication</a:t>
            </a:r>
          </a:p>
          <a:p>
            <a:pPr lvl="1"/>
            <a:r>
              <a:rPr lang="en-US" dirty="0"/>
              <a:t>initiate communication</a:t>
            </a:r>
          </a:p>
          <a:p>
            <a:pPr lvl="1"/>
            <a:r>
              <a:rPr lang="en-US" dirty="0"/>
              <a:t>do something else, i.e., compute</a:t>
            </a:r>
          </a:p>
          <a:p>
            <a:pPr lvl="1"/>
            <a:r>
              <a:rPr lang="en-US" dirty="0"/>
              <a:t>check whether communication done</a:t>
            </a:r>
          </a:p>
          <a:p>
            <a:r>
              <a:rPr lang="en-US" dirty="0"/>
              <a:t>Advantages</a:t>
            </a:r>
          </a:p>
          <a:p>
            <a:pPr lvl="1"/>
            <a:r>
              <a:rPr lang="en-US" dirty="0"/>
              <a:t>overlap communication &amp; computation</a:t>
            </a:r>
          </a:p>
          <a:p>
            <a:pPr lvl="1"/>
            <a:r>
              <a:rPr lang="en-US" b="1" dirty="0">
                <a:solidFill>
                  <a:srgbClr val="00B050"/>
                </a:solidFill>
              </a:rPr>
              <a:t>avoid deadlocks</a:t>
            </a:r>
          </a:p>
          <a:p>
            <a:r>
              <a:rPr lang="en-US" dirty="0"/>
              <a:t>Implemented for</a:t>
            </a:r>
          </a:p>
          <a:p>
            <a:pPr lvl="1"/>
            <a:r>
              <a:rPr lang="en-US" dirty="0"/>
              <a:t>peer-to-peer communication</a:t>
            </a:r>
          </a:p>
          <a:p>
            <a:pPr lvl="1"/>
            <a:r>
              <a:rPr lang="en-US" dirty="0"/>
              <a:t>collective communication (since MPI-3)</a:t>
            </a:r>
          </a:p>
          <a:p>
            <a:r>
              <a:rPr lang="en-US" dirty="0"/>
              <a:t>In mpi4py, only peer-to-peer</a:t>
            </a:r>
          </a:p>
          <a:p>
            <a:pPr lvl="1"/>
            <a:r>
              <a:rPr lang="en-US" dirty="0"/>
              <a:t>Python objects</a:t>
            </a:r>
          </a:p>
          <a:p>
            <a:pPr lvl="1"/>
            <a:r>
              <a:rPr lang="en-US" dirty="0"/>
              <a:t>single-segment buffer interface data types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190</a:t>
            </a:fld>
            <a:endParaRPr lang="nl-BE"/>
          </a:p>
        </p:txBody>
      </p:sp>
      <p:grpSp>
        <p:nvGrpSpPr>
          <p:cNvPr id="10" name="Group 9"/>
          <p:cNvGrpSpPr/>
          <p:nvPr/>
        </p:nvGrpSpPr>
        <p:grpSpPr>
          <a:xfrm>
            <a:off x="5936018" y="2472843"/>
            <a:ext cx="508190" cy="504056"/>
            <a:chOff x="7164288" y="2996952"/>
            <a:chExt cx="508190" cy="504056"/>
          </a:xfrm>
        </p:grpSpPr>
        <p:cxnSp>
          <p:nvCxnSpPr>
            <p:cNvPr id="6" name="Straight Connector 5"/>
            <p:cNvCxnSpPr/>
            <p:nvPr/>
          </p:nvCxnSpPr>
          <p:spPr>
            <a:xfrm>
              <a:off x="7164288" y="3469835"/>
              <a:ext cx="5040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/>
            <p:cNvCxnSpPr/>
            <p:nvPr/>
          </p:nvCxnSpPr>
          <p:spPr>
            <a:xfrm>
              <a:off x="7164288" y="2996952"/>
              <a:ext cx="504056" cy="0"/>
            </a:xfrm>
            <a:prstGeom prst="line">
              <a:avLst/>
            </a:prstGeom>
            <a:ln w="28575">
              <a:solidFill>
                <a:schemeClr val="tx1"/>
              </a:solidFill>
              <a:head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rot="5400000">
              <a:off x="7420450" y="3248980"/>
              <a:ext cx="5040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5868144" y="3933056"/>
            <a:ext cx="2952328" cy="646331"/>
            <a:chOff x="5868144" y="3933056"/>
            <a:chExt cx="2952328" cy="646331"/>
          </a:xfrm>
        </p:grpSpPr>
        <p:sp>
          <p:nvSpPr>
            <p:cNvPr id="11" name="TextBox 10"/>
            <p:cNvSpPr txBox="1"/>
            <p:nvPr/>
          </p:nvSpPr>
          <p:spPr>
            <a:xfrm>
              <a:off x="6476561" y="3933056"/>
              <a:ext cx="2343911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depends on underlying</a:t>
              </a:r>
              <a:br>
                <a:rPr lang="en-US" dirty="0"/>
              </a:br>
              <a:r>
                <a:rPr lang="en-US" dirty="0"/>
                <a:t>implementation of MPI</a:t>
              </a:r>
              <a:endParaRPr lang="nl-BE" dirty="0"/>
            </a:p>
          </p:txBody>
        </p:sp>
        <p:cxnSp>
          <p:nvCxnSpPr>
            <p:cNvPr id="13" name="Straight Arrow Connector 12"/>
            <p:cNvCxnSpPr>
              <a:stCxn id="11" idx="1"/>
            </p:cNvCxnSpPr>
            <p:nvPr/>
          </p:nvCxnSpPr>
          <p:spPr>
            <a:xfrm flipH="1" flipV="1">
              <a:off x="5868144" y="3933056"/>
              <a:ext cx="608417" cy="323166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lg" len="lg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66434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comm.isend</a:t>
            </a:r>
            <a:r>
              <a:rPr lang="en-US" dirty="0"/>
              <a:t>/</a:t>
            </a:r>
            <a:r>
              <a:rPr lang="en-US" dirty="0" err="1"/>
              <a:t>comm.irecv</a:t>
            </a:r>
            <a:r>
              <a:rPr lang="en-US" dirty="0"/>
              <a:t> &amp; wait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191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539552" y="1556792"/>
            <a:ext cx="8180445" cy="2862322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np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1001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f(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(-10.0, 10.0,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), rank)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send_request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comm.isend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reciever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recv_buffer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np.empty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recv_request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comm.irecv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recv_buffer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source=sender)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send_request.wait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recv_request.wait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827584" y="4293096"/>
            <a:ext cx="3222485" cy="1562110"/>
            <a:chOff x="-58477" y="2339593"/>
            <a:chExt cx="3222485" cy="1562110"/>
          </a:xfrm>
        </p:grpSpPr>
        <p:sp>
          <p:nvSpPr>
            <p:cNvPr id="7" name="TextBox 6"/>
            <p:cNvSpPr txBox="1"/>
            <p:nvPr/>
          </p:nvSpPr>
          <p:spPr>
            <a:xfrm>
              <a:off x="-58477" y="2978373"/>
              <a:ext cx="3222485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all communication done, save to</a:t>
              </a:r>
              <a:br>
                <a:rPr lang="en-US" dirty="0"/>
              </a:br>
              <a:r>
                <a:rPr lang="en-US" dirty="0"/>
                <a:t>    use </a:t>
              </a:r>
              <a:r>
                <a:rPr lang="en-US" dirty="0" err="1"/>
                <a:t>recv_buffer</a:t>
              </a:r>
              <a:r>
                <a:rPr lang="en-US" dirty="0"/>
                <a:t>,</a:t>
              </a:r>
              <a:br>
                <a:rPr lang="nl-BE" dirty="0"/>
              </a:br>
              <a:r>
                <a:rPr lang="nl-BE" dirty="0"/>
                <a:t>    </a:t>
              </a:r>
              <a:r>
                <a:rPr lang="nl-BE" dirty="0" err="1"/>
                <a:t>reuse</a:t>
              </a:r>
              <a:r>
                <a:rPr lang="nl-BE" dirty="0"/>
                <a:t> </a:t>
              </a:r>
              <a:r>
                <a:rPr lang="nl-BE" dirty="0" err="1"/>
                <a:t>recv_buffer</a:t>
              </a:r>
              <a:endParaRPr lang="en-US" dirty="0"/>
            </a:p>
          </p:txBody>
        </p:sp>
        <p:cxnSp>
          <p:nvCxnSpPr>
            <p:cNvPr id="8" name="Straight Arrow Connector 7"/>
            <p:cNvCxnSpPr>
              <a:stCxn id="7" idx="0"/>
            </p:cNvCxnSpPr>
            <p:nvPr/>
          </p:nvCxnSpPr>
          <p:spPr>
            <a:xfrm flipH="1" flipV="1">
              <a:off x="42008" y="2339593"/>
              <a:ext cx="1510758" cy="63878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Box 2"/>
          <p:cNvSpPr txBox="1"/>
          <p:nvPr/>
        </p:nvSpPr>
        <p:spPr>
          <a:xfrm>
            <a:off x="4289010" y="4581128"/>
            <a:ext cx="2926186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Do not modify send buffer</a:t>
            </a:r>
            <a:br>
              <a:rPr lang="en-US" sz="2000" dirty="0"/>
            </a:br>
            <a:r>
              <a:rPr lang="en-US" sz="2000" dirty="0"/>
              <a:t>before communication</a:t>
            </a:r>
            <a:br>
              <a:rPr lang="en-US" sz="2000" dirty="0"/>
            </a:br>
            <a:r>
              <a:rPr lang="en-US" sz="2000" dirty="0"/>
              <a:t>completes!</a:t>
            </a:r>
            <a:endParaRPr lang="nl-BE" dirty="0"/>
          </a:p>
        </p:txBody>
      </p:sp>
      <p:sp>
        <p:nvSpPr>
          <p:cNvPr id="9" name="TextBox 8"/>
          <p:cNvSpPr txBox="1"/>
          <p:nvPr/>
        </p:nvSpPr>
        <p:spPr>
          <a:xfrm>
            <a:off x="5796136" y="5301208"/>
            <a:ext cx="2814810" cy="10156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Do not use receive buffer</a:t>
            </a:r>
            <a:br>
              <a:rPr lang="en-US" sz="2000" dirty="0"/>
            </a:br>
            <a:r>
              <a:rPr lang="en-US" sz="2000" dirty="0"/>
              <a:t>before communication</a:t>
            </a:r>
            <a:br>
              <a:rPr lang="en-US" sz="2000" dirty="0"/>
            </a:br>
            <a:r>
              <a:rPr lang="en-US" sz="2000" dirty="0"/>
              <a:t>completes!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604743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9" grpId="0" animBg="1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Much more…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User created communicators &amp; groups</a:t>
            </a:r>
          </a:p>
          <a:p>
            <a:r>
              <a:rPr lang="en-US" dirty="0"/>
              <a:t>Many more collectives</a:t>
            </a:r>
          </a:p>
          <a:p>
            <a:r>
              <a:rPr lang="en-US" dirty="0"/>
              <a:t>MPI I/O</a:t>
            </a:r>
          </a:p>
          <a:p>
            <a:r>
              <a:rPr lang="en-US" dirty="0"/>
              <a:t>One sided communication</a:t>
            </a:r>
          </a:p>
          <a:p>
            <a:r>
              <a:rPr lang="en-US" dirty="0"/>
              <a:t>Dynamic process creation</a:t>
            </a:r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192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547664" y="5013176"/>
            <a:ext cx="5958811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Out of scope for this presentation,</a:t>
            </a:r>
            <a:br>
              <a:rPr lang="en-US" sz="2800" dirty="0"/>
            </a:br>
            <a:r>
              <a:rPr lang="en-US" sz="2800" dirty="0"/>
              <a:t>attend two-day MPI course if interested</a:t>
            </a:r>
            <a:endParaRPr lang="nl-BE" sz="2800" dirty="0"/>
          </a:p>
        </p:txBody>
      </p:sp>
    </p:spTree>
    <p:extLst>
      <p:ext uri="{BB962C8B-B14F-4D97-AF65-F5344CB8AC3E}">
        <p14:creationId xmlns:p14="http://schemas.microsoft.com/office/powerpoint/2010/main" val="16468351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Pitfalls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Deadlocks</a:t>
            </a:r>
          </a:p>
          <a:p>
            <a:pPr lvl="1"/>
            <a:r>
              <a:rPr lang="en-US" dirty="0"/>
              <a:t>Blocking communication</a:t>
            </a:r>
          </a:p>
          <a:p>
            <a:r>
              <a:rPr lang="en-US" dirty="0"/>
              <a:t>Race conditions</a:t>
            </a:r>
          </a:p>
          <a:p>
            <a:pPr lvl="1"/>
            <a:r>
              <a:rPr lang="en-US" dirty="0"/>
              <a:t>Non-blocking communication</a:t>
            </a:r>
          </a:p>
          <a:p>
            <a:pPr lvl="1"/>
            <a:r>
              <a:rPr lang="en-US" dirty="0"/>
              <a:t>One-sided communication</a:t>
            </a:r>
          </a:p>
          <a:p>
            <a:r>
              <a:rPr lang="en-US" dirty="0"/>
              <a:t>Bad performance</a:t>
            </a:r>
          </a:p>
          <a:p>
            <a:pPr lvl="1"/>
            <a:r>
              <a:rPr lang="en-US" dirty="0"/>
              <a:t>Load imbalance</a:t>
            </a:r>
          </a:p>
          <a:p>
            <a:pPr lvl="1"/>
            <a:r>
              <a:rPr lang="en-US" dirty="0"/>
              <a:t>Communication overhead</a:t>
            </a:r>
          </a:p>
          <a:p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5724128" y="3915053"/>
            <a:ext cx="2594043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Follow the specs</a:t>
            </a:r>
            <a:br>
              <a:rPr lang="en-US" sz="2800" dirty="0"/>
            </a:br>
            <a:r>
              <a:rPr lang="en-US" sz="2800" dirty="0"/>
              <a:t>or die!</a:t>
            </a:r>
            <a:endParaRPr lang="nl-BE" sz="28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193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58505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mpi4py Conclusions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97152"/>
          </a:xfrm>
        </p:spPr>
        <p:txBody>
          <a:bodyPr>
            <a:normAutofit/>
          </a:bodyPr>
          <a:lstStyle/>
          <a:p>
            <a:r>
              <a:rPr lang="en-US" dirty="0"/>
              <a:t>MPI in general</a:t>
            </a:r>
          </a:p>
          <a:p>
            <a:pPr lvl="1"/>
            <a:r>
              <a:rPr lang="en-US" dirty="0"/>
              <a:t>Nice, versatile programming model </a:t>
            </a:r>
          </a:p>
          <a:p>
            <a:pPr lvl="1"/>
            <a:r>
              <a:rPr lang="en-US" dirty="0"/>
              <a:t>MPI has very extensive specification</a:t>
            </a:r>
          </a:p>
          <a:p>
            <a:pPr lvl="2"/>
            <a:r>
              <a:rPr lang="en-US" dirty="0"/>
              <a:t>Freely available as PDF</a:t>
            </a:r>
          </a:p>
          <a:p>
            <a:pPr lvl="2"/>
            <a:r>
              <a:rPr lang="en-US" dirty="0"/>
              <a:t>Easy to read, many examples</a:t>
            </a:r>
          </a:p>
          <a:p>
            <a:pPr lvl="1"/>
            <a:r>
              <a:rPr lang="en-US" dirty="0"/>
              <a:t>Many nitty-gritty details</a:t>
            </a:r>
          </a:p>
          <a:p>
            <a:pPr lvl="2"/>
            <a:r>
              <a:rPr lang="en-US" dirty="0"/>
              <a:t>Important for efficiency</a:t>
            </a:r>
          </a:p>
          <a:p>
            <a:r>
              <a:rPr lang="en-US" dirty="0"/>
              <a:t>mpi4py specific</a:t>
            </a:r>
          </a:p>
          <a:p>
            <a:pPr lvl="1"/>
            <a:r>
              <a:rPr lang="en-US" dirty="0"/>
              <a:t>Nice when used well</a:t>
            </a:r>
          </a:p>
          <a:p>
            <a:pPr lvl="1"/>
            <a:r>
              <a:rPr lang="en-US" dirty="0"/>
              <a:t>Documentation could stand considerable improvement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918C2E-FE36-451E-B80E-1968976550A5}" type="slidenum">
              <a:rPr lang="nl-BE" smtClean="0"/>
              <a:t>194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10897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pyspark</a:t>
            </a:r>
            <a:endParaRPr lang="nl-B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GB" sz="1400" dirty="0">
                <a:hlinkClick r:id="rId2"/>
              </a:rPr>
              <a:t>https://github.com/gjbex/Python-for-HPC/tree/master/source-code/pyspark</a:t>
            </a:r>
            <a:endParaRPr lang="nl-BE" sz="1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195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3961764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issue…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Big data</a:t>
            </a:r>
          </a:p>
          <a:p>
            <a:pPr lvl="1"/>
            <a:r>
              <a:rPr lang="en-US" dirty="0"/>
              <a:t>Volume</a:t>
            </a:r>
          </a:p>
          <a:p>
            <a:pPr lvl="1"/>
            <a:r>
              <a:rPr lang="en-US" dirty="0"/>
              <a:t>Velocity</a:t>
            </a:r>
          </a:p>
          <a:p>
            <a:pPr lvl="1"/>
            <a:r>
              <a:rPr lang="en-US" dirty="0"/>
              <a:t>Variety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Data will be analyzed by distributed computation</a:t>
            </a:r>
          </a:p>
          <a:p>
            <a:r>
              <a:rPr lang="en-US" dirty="0"/>
              <a:t>Data can be stored distributed on nodes</a:t>
            </a:r>
            <a:endParaRPr lang="nl-BE" dirty="0"/>
          </a:p>
        </p:txBody>
      </p:sp>
      <p:sp>
        <p:nvSpPr>
          <p:cNvPr id="6" name="TextBox 5"/>
          <p:cNvSpPr txBox="1"/>
          <p:nvPr/>
        </p:nvSpPr>
        <p:spPr>
          <a:xfrm>
            <a:off x="2993366" y="2682808"/>
            <a:ext cx="393011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Mostly not that big, but well…</a:t>
            </a:r>
            <a:endParaRPr lang="nl-BE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196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541386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6" grpId="0" animBg="1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solution, take 1: Hadoop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Hadoop</a:t>
            </a:r>
          </a:p>
          <a:p>
            <a:pPr lvl="1"/>
            <a:r>
              <a:rPr lang="en-US" dirty="0"/>
              <a:t>Simple computational model: MapReduce</a:t>
            </a:r>
          </a:p>
          <a:p>
            <a:pPr lvl="2"/>
            <a:r>
              <a:rPr lang="en-US" dirty="0"/>
              <a:t>Sequence of map and reduce operations</a:t>
            </a:r>
          </a:p>
          <a:p>
            <a:pPr lvl="2"/>
            <a:r>
              <a:rPr lang="en-US" dirty="0"/>
              <a:t>Data flow model: DAG</a:t>
            </a:r>
          </a:p>
          <a:p>
            <a:pPr lvl="1"/>
            <a:r>
              <a:rPr lang="en-US" dirty="0"/>
              <a:t>Ecosystem</a:t>
            </a:r>
          </a:p>
          <a:p>
            <a:pPr lvl="2"/>
            <a:r>
              <a:rPr lang="en-US" dirty="0"/>
              <a:t>File system: HDFS</a:t>
            </a:r>
          </a:p>
          <a:p>
            <a:pPr lvl="2"/>
            <a:r>
              <a:rPr lang="en-US" dirty="0"/>
              <a:t>Scheduler: </a:t>
            </a:r>
            <a:r>
              <a:rPr lang="en-US" dirty="0" err="1"/>
              <a:t>JobTracker</a:t>
            </a:r>
            <a:r>
              <a:rPr lang="en-US" dirty="0"/>
              <a:t>/</a:t>
            </a:r>
            <a:r>
              <a:rPr lang="en-US" dirty="0" err="1"/>
              <a:t>TaskTracker</a:t>
            </a:r>
            <a:endParaRPr lang="en-US" dirty="0"/>
          </a:p>
          <a:p>
            <a:pPr lvl="2"/>
            <a:r>
              <a:rPr lang="en-US" dirty="0"/>
              <a:t>Resource managers: Yarn, </a:t>
            </a:r>
            <a:r>
              <a:rPr lang="en-US" dirty="0" err="1"/>
              <a:t>Mesos</a:t>
            </a:r>
            <a:endParaRPr lang="en-US" dirty="0"/>
          </a:p>
          <a:p>
            <a:pPr lvl="2"/>
            <a:r>
              <a:rPr lang="en-US" dirty="0"/>
              <a:t>Distributed databases: </a:t>
            </a:r>
            <a:r>
              <a:rPr lang="en-US" dirty="0" err="1"/>
              <a:t>Hbase</a:t>
            </a:r>
            <a:r>
              <a:rPr lang="en-US" dirty="0"/>
              <a:t>, Hive</a:t>
            </a:r>
          </a:p>
          <a:p>
            <a:pPr lvl="2"/>
            <a:r>
              <a:rPr lang="en-US" dirty="0"/>
              <a:t>Machine learning library: Mahout</a:t>
            </a:r>
          </a:p>
          <a:p>
            <a:pPr lvl="1"/>
            <a:r>
              <a:rPr lang="en-US" dirty="0"/>
              <a:t>Deployment on cluster</a:t>
            </a:r>
          </a:p>
          <a:p>
            <a:pPr lvl="2"/>
            <a:r>
              <a:rPr lang="en-US" dirty="0"/>
              <a:t>Management nodes</a:t>
            </a:r>
          </a:p>
          <a:p>
            <a:pPr lvl="2"/>
            <a:r>
              <a:rPr lang="en-US" dirty="0"/>
              <a:t>Storage nodes</a:t>
            </a:r>
          </a:p>
          <a:p>
            <a:pPr lvl="2"/>
            <a:r>
              <a:rPr lang="en-US" dirty="0"/>
              <a:t>Worker nodes</a:t>
            </a:r>
            <a:endParaRPr lang="nl-BE" dirty="0"/>
          </a:p>
        </p:txBody>
      </p:sp>
      <p:grpSp>
        <p:nvGrpSpPr>
          <p:cNvPr id="6" name="Group 5"/>
          <p:cNvGrpSpPr/>
          <p:nvPr/>
        </p:nvGrpSpPr>
        <p:grpSpPr>
          <a:xfrm>
            <a:off x="3683479" y="5253484"/>
            <a:ext cx="2268937" cy="465826"/>
            <a:chOff x="3683479" y="5529532"/>
            <a:chExt cx="2268937" cy="465826"/>
          </a:xfrm>
        </p:grpSpPr>
        <p:sp>
          <p:nvSpPr>
            <p:cNvPr id="4" name="Right Brace 3"/>
            <p:cNvSpPr/>
            <p:nvPr/>
          </p:nvSpPr>
          <p:spPr>
            <a:xfrm>
              <a:off x="3683479" y="5529532"/>
              <a:ext cx="45719" cy="465826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3950906" y="5577779"/>
              <a:ext cx="20015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Mostly same nodes</a:t>
              </a:r>
              <a:endParaRPr lang="nl-BE" dirty="0"/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197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5361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Performance</a:t>
            </a:r>
          </a:p>
          <a:p>
            <a:pPr lvl="1"/>
            <a:r>
              <a:rPr lang="en-US" dirty="0"/>
              <a:t>Communication via file system</a:t>
            </a:r>
          </a:p>
          <a:p>
            <a:pPr lvl="1"/>
            <a:r>
              <a:rPr lang="en-US" dirty="0"/>
              <a:t>Not so smart scheduler: many data transfers between nodes</a:t>
            </a:r>
          </a:p>
          <a:p>
            <a:r>
              <a:rPr lang="en-US" dirty="0"/>
              <a:t>Computational model: DAG</a:t>
            </a:r>
          </a:p>
          <a:p>
            <a:pPr lvl="1"/>
            <a:r>
              <a:rPr lang="en-US" dirty="0"/>
              <a:t>No iterations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198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64677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solution, take 2: Spark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In-memory processing</a:t>
            </a:r>
          </a:p>
          <a:p>
            <a:pPr lvl="1"/>
            <a:r>
              <a:rPr lang="en-US" dirty="0"/>
              <a:t>If not possible, efficient spill over to disk</a:t>
            </a:r>
          </a:p>
          <a:p>
            <a:r>
              <a:rPr lang="en-US" dirty="0"/>
              <a:t>Richer computational model</a:t>
            </a:r>
          </a:p>
          <a:p>
            <a:pPr lvl="1"/>
            <a:r>
              <a:rPr lang="en-US" dirty="0"/>
              <a:t>Do what you want… if you don’t care about performance</a:t>
            </a:r>
          </a:p>
          <a:p>
            <a:r>
              <a:rPr lang="en-US" dirty="0"/>
              <a:t>Basic building block: RDDs</a:t>
            </a:r>
          </a:p>
          <a:p>
            <a:pPr lvl="1"/>
            <a:r>
              <a:rPr lang="en-US" dirty="0"/>
              <a:t>Resilient Distributed Datasets</a:t>
            </a:r>
          </a:p>
          <a:p>
            <a:pPr lvl="1"/>
            <a:r>
              <a:rPr lang="en-US" dirty="0"/>
              <a:t>Similar in spirit to </a:t>
            </a:r>
            <a:r>
              <a:rPr lang="en-US" dirty="0" err="1"/>
              <a:t>dataframes</a:t>
            </a:r>
            <a:r>
              <a:rPr lang="en-US" dirty="0"/>
              <a:t> in R or pandas</a:t>
            </a:r>
          </a:p>
          <a:p>
            <a:r>
              <a:rPr lang="en-US" dirty="0"/>
              <a:t>Programming Spark</a:t>
            </a:r>
          </a:p>
          <a:p>
            <a:pPr lvl="1"/>
            <a:r>
              <a:rPr lang="en-US" dirty="0"/>
              <a:t>Java</a:t>
            </a:r>
          </a:p>
          <a:p>
            <a:pPr lvl="1"/>
            <a:r>
              <a:rPr lang="en-US" dirty="0"/>
              <a:t>Scala</a:t>
            </a:r>
          </a:p>
          <a:p>
            <a:pPr lvl="1"/>
            <a:r>
              <a:rPr lang="en-US" dirty="0"/>
              <a:t>Python</a:t>
            </a:r>
          </a:p>
          <a:p>
            <a:pPr lvl="1"/>
            <a:r>
              <a:rPr lang="en-US" dirty="0"/>
              <a:t>R</a:t>
            </a:r>
            <a:endParaRPr lang="nl-BE" dirty="0"/>
          </a:p>
        </p:txBody>
      </p:sp>
      <p:grpSp>
        <p:nvGrpSpPr>
          <p:cNvPr id="6" name="Group 5"/>
          <p:cNvGrpSpPr/>
          <p:nvPr/>
        </p:nvGrpSpPr>
        <p:grpSpPr>
          <a:xfrm>
            <a:off x="2725947" y="4779034"/>
            <a:ext cx="1430418" cy="690113"/>
            <a:chOff x="2725947" y="4779034"/>
            <a:chExt cx="1430418" cy="690113"/>
          </a:xfrm>
        </p:grpSpPr>
        <p:sp>
          <p:nvSpPr>
            <p:cNvPr id="4" name="Up Arrow 3"/>
            <p:cNvSpPr/>
            <p:nvPr/>
          </p:nvSpPr>
          <p:spPr>
            <a:xfrm>
              <a:off x="2725947" y="4779034"/>
              <a:ext cx="293298" cy="690113"/>
            </a:xfrm>
            <a:prstGeom prst="up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3165901" y="4942939"/>
              <a:ext cx="9904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maturity</a:t>
              </a:r>
              <a:endParaRPr lang="nl-BE" dirty="0"/>
            </a:p>
          </p:txBody>
        </p:sp>
      </p:grpSp>
      <p:sp>
        <p:nvSpPr>
          <p:cNvPr id="7" name="Rectangle 6"/>
          <p:cNvSpPr/>
          <p:nvPr/>
        </p:nvSpPr>
        <p:spPr>
          <a:xfrm>
            <a:off x="1345721" y="5132717"/>
            <a:ext cx="923026" cy="336430"/>
          </a:xfrm>
          <a:prstGeom prst="rect">
            <a:avLst/>
          </a:prstGeom>
          <a:solidFill>
            <a:srgbClr val="5B9BD5">
              <a:alpha val="30196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199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0253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7" grpId="0" animBg="1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</a:t>
            </a:r>
            <a:endParaRPr lang="nl-BE" dirty="0"/>
          </a:p>
        </p:txBody>
      </p:sp>
      <p:grpSp>
        <p:nvGrpSpPr>
          <p:cNvPr id="25" name="Group 24"/>
          <p:cNvGrpSpPr/>
          <p:nvPr/>
        </p:nvGrpSpPr>
        <p:grpSpPr>
          <a:xfrm>
            <a:off x="2319879" y="4213084"/>
            <a:ext cx="2652383" cy="1362075"/>
            <a:chOff x="2319879" y="4213084"/>
            <a:chExt cx="2652383" cy="1362075"/>
          </a:xfrm>
        </p:grpSpPr>
        <p:sp>
          <p:nvSpPr>
            <p:cNvPr id="8" name="laptop"/>
            <p:cNvSpPr>
              <a:spLocks noEditPoints="1" noChangeArrowheads="1"/>
            </p:cNvSpPr>
            <p:nvPr/>
          </p:nvSpPr>
          <p:spPr bwMode="auto">
            <a:xfrm>
              <a:off x="3162512" y="4213084"/>
              <a:ext cx="1809750" cy="1362075"/>
            </a:xfrm>
            <a:custGeom>
              <a:avLst/>
              <a:gdLst>
                <a:gd name="T0" fmla="*/ 3362 w 21600"/>
                <a:gd name="T1" fmla="*/ 0 h 21600"/>
                <a:gd name="T2" fmla="*/ 3362 w 21600"/>
                <a:gd name="T3" fmla="*/ 7173 h 21600"/>
                <a:gd name="T4" fmla="*/ 18327 w 21600"/>
                <a:gd name="T5" fmla="*/ 0 h 21600"/>
                <a:gd name="T6" fmla="*/ 18327 w 21600"/>
                <a:gd name="T7" fmla="*/ 7173 h 21600"/>
                <a:gd name="T8" fmla="*/ 10800 w 21600"/>
                <a:gd name="T9" fmla="*/ 0 h 21600"/>
                <a:gd name="T10" fmla="*/ 10800 w 21600"/>
                <a:gd name="T11" fmla="*/ 21600 h 21600"/>
                <a:gd name="T12" fmla="*/ 0 w 21600"/>
                <a:gd name="T13" fmla="*/ 21600 h 21600"/>
                <a:gd name="T14" fmla="*/ 21600 w 21600"/>
                <a:gd name="T15" fmla="*/ 21600 h 21600"/>
                <a:gd name="T16" fmla="*/ 4445 w 21600"/>
                <a:gd name="T17" fmla="*/ 1858 h 21600"/>
                <a:gd name="T18" fmla="*/ 17311 w 21600"/>
                <a:gd name="T19" fmla="*/ 12323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T16" t="T17" r="T18" b="T19"/>
              <a:pathLst>
                <a:path w="21600" h="21600" extrusionOk="0">
                  <a:moveTo>
                    <a:pt x="3362" y="0"/>
                  </a:moveTo>
                  <a:lnTo>
                    <a:pt x="18327" y="0"/>
                  </a:lnTo>
                  <a:lnTo>
                    <a:pt x="18327" y="14347"/>
                  </a:lnTo>
                  <a:lnTo>
                    <a:pt x="3362" y="14347"/>
                  </a:lnTo>
                  <a:lnTo>
                    <a:pt x="3362" y="0"/>
                  </a:lnTo>
                  <a:close/>
                </a:path>
                <a:path w="21600" h="21600" extrusionOk="0">
                  <a:moveTo>
                    <a:pt x="3340" y="15068"/>
                  </a:moveTo>
                  <a:lnTo>
                    <a:pt x="0" y="19877"/>
                  </a:lnTo>
                  <a:lnTo>
                    <a:pt x="21600" y="19877"/>
                  </a:lnTo>
                  <a:lnTo>
                    <a:pt x="18327" y="15068"/>
                  </a:lnTo>
                  <a:lnTo>
                    <a:pt x="3340" y="15068"/>
                  </a:lnTo>
                  <a:close/>
                </a:path>
                <a:path w="21600" h="21600" extrusionOk="0">
                  <a:moveTo>
                    <a:pt x="0" y="19877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19877"/>
                  </a:lnTo>
                  <a:lnTo>
                    <a:pt x="0" y="19877"/>
                  </a:lnTo>
                  <a:close/>
                </a:path>
                <a:path w="21600" h="21600" extrusionOk="0">
                  <a:moveTo>
                    <a:pt x="4186" y="1523"/>
                  </a:moveTo>
                  <a:lnTo>
                    <a:pt x="17547" y="1523"/>
                  </a:lnTo>
                  <a:lnTo>
                    <a:pt x="17547" y="12744"/>
                  </a:lnTo>
                  <a:lnTo>
                    <a:pt x="4186" y="12744"/>
                  </a:lnTo>
                  <a:lnTo>
                    <a:pt x="4186" y="1523"/>
                  </a:lnTo>
                  <a:close/>
                </a:path>
                <a:path w="21600" h="21600" extrusionOk="0">
                  <a:moveTo>
                    <a:pt x="3318" y="15549"/>
                  </a:moveTo>
                  <a:lnTo>
                    <a:pt x="2917" y="16110"/>
                  </a:lnTo>
                  <a:lnTo>
                    <a:pt x="18727" y="16110"/>
                  </a:lnTo>
                  <a:lnTo>
                    <a:pt x="18327" y="15549"/>
                  </a:lnTo>
                  <a:lnTo>
                    <a:pt x="3318" y="15549"/>
                  </a:lnTo>
                  <a:close/>
                </a:path>
                <a:path w="21600" h="21600" extrusionOk="0">
                  <a:moveTo>
                    <a:pt x="6213" y="18314"/>
                  </a:moveTo>
                  <a:lnTo>
                    <a:pt x="5946" y="18875"/>
                  </a:lnTo>
                  <a:lnTo>
                    <a:pt x="15766" y="18875"/>
                  </a:lnTo>
                  <a:lnTo>
                    <a:pt x="15499" y="18314"/>
                  </a:lnTo>
                  <a:lnTo>
                    <a:pt x="6213" y="18314"/>
                  </a:lnTo>
                  <a:close/>
                </a:path>
                <a:path w="21600" h="21600" extrusionOk="0">
                  <a:moveTo>
                    <a:pt x="2828" y="16471"/>
                  </a:moveTo>
                  <a:lnTo>
                    <a:pt x="2405" y="17072"/>
                  </a:lnTo>
                  <a:lnTo>
                    <a:pt x="19284" y="17072"/>
                  </a:lnTo>
                  <a:lnTo>
                    <a:pt x="18839" y="16471"/>
                  </a:lnTo>
                  <a:lnTo>
                    <a:pt x="2828" y="16471"/>
                  </a:lnTo>
                  <a:close/>
                </a:path>
                <a:path w="21600" h="21600" extrusionOk="0">
                  <a:moveTo>
                    <a:pt x="2316" y="17352"/>
                  </a:moveTo>
                  <a:lnTo>
                    <a:pt x="1871" y="17953"/>
                  </a:lnTo>
                  <a:lnTo>
                    <a:pt x="19863" y="17953"/>
                  </a:lnTo>
                  <a:lnTo>
                    <a:pt x="19395" y="17352"/>
                  </a:lnTo>
                  <a:lnTo>
                    <a:pt x="2316" y="17352"/>
                  </a:lnTo>
                  <a:close/>
                </a:path>
              </a:pathLst>
            </a:custGeom>
            <a:solidFill>
              <a:srgbClr val="C0C0C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BE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319879" y="4742995"/>
              <a:ext cx="73706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driver</a:t>
              </a:r>
              <a:endParaRPr lang="nl-BE" dirty="0"/>
            </a:p>
          </p:txBody>
        </p:sp>
      </p:grpSp>
      <p:grpSp>
        <p:nvGrpSpPr>
          <p:cNvPr id="24" name="Group 23"/>
          <p:cNvGrpSpPr/>
          <p:nvPr/>
        </p:nvGrpSpPr>
        <p:grpSpPr>
          <a:xfrm>
            <a:off x="862445" y="1901535"/>
            <a:ext cx="6639791" cy="1485900"/>
            <a:chOff x="862445" y="1901535"/>
            <a:chExt cx="6639791" cy="1485900"/>
          </a:xfrm>
        </p:grpSpPr>
        <p:sp>
          <p:nvSpPr>
            <p:cNvPr id="4" name="modem"/>
            <p:cNvSpPr>
              <a:spLocks noEditPoints="1" noChangeArrowheads="1"/>
            </p:cNvSpPr>
            <p:nvPr/>
          </p:nvSpPr>
          <p:spPr bwMode="auto">
            <a:xfrm>
              <a:off x="5912430" y="2493516"/>
              <a:ext cx="1248497" cy="630820"/>
            </a:xfrm>
            <a:custGeom>
              <a:avLst/>
              <a:gdLst>
                <a:gd name="T0" fmla="*/ 0 w 21600"/>
                <a:gd name="T1" fmla="*/ 5152 h 21600"/>
                <a:gd name="T2" fmla="*/ 2941 w 21600"/>
                <a:gd name="T3" fmla="*/ 0 h 21600"/>
                <a:gd name="T4" fmla="*/ 18625 w 21600"/>
                <a:gd name="T5" fmla="*/ 0 h 21600"/>
                <a:gd name="T6" fmla="*/ 21600 w 21600"/>
                <a:gd name="T7" fmla="*/ 5152 h 21600"/>
                <a:gd name="T8" fmla="*/ 21600 w 21600"/>
                <a:gd name="T9" fmla="*/ 21600 h 21600"/>
                <a:gd name="T10" fmla="*/ 0 w 21600"/>
                <a:gd name="T11" fmla="*/ 21600 h 21600"/>
                <a:gd name="T12" fmla="*/ 10800 w 21600"/>
                <a:gd name="T13" fmla="*/ 0 h 21600"/>
                <a:gd name="T14" fmla="*/ 10800 w 21600"/>
                <a:gd name="T15" fmla="*/ 21600 h 21600"/>
                <a:gd name="T16" fmla="*/ 0 w 21600"/>
                <a:gd name="T17" fmla="*/ 13376 h 21600"/>
                <a:gd name="T18" fmla="*/ 21600 w 21600"/>
                <a:gd name="T19" fmla="*/ 13376 h 21600"/>
                <a:gd name="T20" fmla="*/ 400 w 21600"/>
                <a:gd name="T21" fmla="*/ 22400 h 21600"/>
                <a:gd name="T22" fmla="*/ 21200 w 21600"/>
                <a:gd name="T23" fmla="*/ 3000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T20" t="T21" r="T22" b="T23"/>
              <a:pathLst>
                <a:path w="21600" h="21600" extrusionOk="0">
                  <a:moveTo>
                    <a:pt x="0" y="5152"/>
                  </a:moveTo>
                  <a:lnTo>
                    <a:pt x="2941" y="0"/>
                  </a:lnTo>
                  <a:lnTo>
                    <a:pt x="18625" y="0"/>
                  </a:lnTo>
                  <a:lnTo>
                    <a:pt x="21600" y="5152"/>
                  </a:lnTo>
                  <a:lnTo>
                    <a:pt x="21600" y="21600"/>
                  </a:lnTo>
                  <a:lnTo>
                    <a:pt x="0" y="21600"/>
                  </a:lnTo>
                  <a:lnTo>
                    <a:pt x="0" y="5152"/>
                  </a:lnTo>
                  <a:close/>
                </a:path>
                <a:path w="21600" h="21600" extrusionOk="0">
                  <a:moveTo>
                    <a:pt x="0" y="5251"/>
                  </a:moveTo>
                  <a:lnTo>
                    <a:pt x="21600" y="5251"/>
                  </a:lnTo>
                  <a:moveTo>
                    <a:pt x="1961" y="11791"/>
                  </a:moveTo>
                  <a:lnTo>
                    <a:pt x="1961" y="14268"/>
                  </a:lnTo>
                  <a:lnTo>
                    <a:pt x="2806" y="14268"/>
                  </a:lnTo>
                  <a:lnTo>
                    <a:pt x="2806" y="11791"/>
                  </a:lnTo>
                  <a:lnTo>
                    <a:pt x="1961" y="11791"/>
                  </a:lnTo>
                  <a:close/>
                </a:path>
                <a:path w="21600" h="21600" extrusionOk="0">
                  <a:moveTo>
                    <a:pt x="3685" y="11791"/>
                  </a:moveTo>
                  <a:lnTo>
                    <a:pt x="3685" y="14268"/>
                  </a:lnTo>
                  <a:lnTo>
                    <a:pt x="4530" y="14268"/>
                  </a:lnTo>
                  <a:lnTo>
                    <a:pt x="4530" y="11791"/>
                  </a:lnTo>
                  <a:lnTo>
                    <a:pt x="3685" y="11791"/>
                  </a:lnTo>
                  <a:close/>
                </a:path>
                <a:path w="21600" h="21600" extrusionOk="0">
                  <a:moveTo>
                    <a:pt x="5408" y="11791"/>
                  </a:moveTo>
                  <a:lnTo>
                    <a:pt x="5408" y="14268"/>
                  </a:lnTo>
                  <a:lnTo>
                    <a:pt x="6254" y="14268"/>
                  </a:lnTo>
                  <a:lnTo>
                    <a:pt x="6254" y="11791"/>
                  </a:lnTo>
                  <a:lnTo>
                    <a:pt x="5408" y="11791"/>
                  </a:lnTo>
                  <a:close/>
                </a:path>
                <a:path w="21600" h="21600" extrusionOk="0">
                  <a:moveTo>
                    <a:pt x="7132" y="11791"/>
                  </a:moveTo>
                  <a:lnTo>
                    <a:pt x="7132" y="14268"/>
                  </a:lnTo>
                  <a:lnTo>
                    <a:pt x="7977" y="14268"/>
                  </a:lnTo>
                  <a:lnTo>
                    <a:pt x="7977" y="11791"/>
                  </a:lnTo>
                  <a:lnTo>
                    <a:pt x="7132" y="11791"/>
                  </a:lnTo>
                  <a:close/>
                </a:path>
              </a:pathLst>
            </a:custGeom>
            <a:solidFill>
              <a:srgbClr val="C0C0C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BE"/>
            </a:p>
          </p:txBody>
        </p:sp>
        <p:sp>
          <p:nvSpPr>
            <p:cNvPr id="5" name="modem"/>
            <p:cNvSpPr>
              <a:spLocks noEditPoints="1" noChangeArrowheads="1"/>
            </p:cNvSpPr>
            <p:nvPr/>
          </p:nvSpPr>
          <p:spPr bwMode="auto">
            <a:xfrm>
              <a:off x="4348014" y="2493516"/>
              <a:ext cx="1248497" cy="630820"/>
            </a:xfrm>
            <a:custGeom>
              <a:avLst/>
              <a:gdLst>
                <a:gd name="T0" fmla="*/ 0 w 21600"/>
                <a:gd name="T1" fmla="*/ 5152 h 21600"/>
                <a:gd name="T2" fmla="*/ 2941 w 21600"/>
                <a:gd name="T3" fmla="*/ 0 h 21600"/>
                <a:gd name="T4" fmla="*/ 18625 w 21600"/>
                <a:gd name="T5" fmla="*/ 0 h 21600"/>
                <a:gd name="T6" fmla="*/ 21600 w 21600"/>
                <a:gd name="T7" fmla="*/ 5152 h 21600"/>
                <a:gd name="T8" fmla="*/ 21600 w 21600"/>
                <a:gd name="T9" fmla="*/ 21600 h 21600"/>
                <a:gd name="T10" fmla="*/ 0 w 21600"/>
                <a:gd name="T11" fmla="*/ 21600 h 21600"/>
                <a:gd name="T12" fmla="*/ 10800 w 21600"/>
                <a:gd name="T13" fmla="*/ 0 h 21600"/>
                <a:gd name="T14" fmla="*/ 10800 w 21600"/>
                <a:gd name="T15" fmla="*/ 21600 h 21600"/>
                <a:gd name="T16" fmla="*/ 0 w 21600"/>
                <a:gd name="T17" fmla="*/ 13376 h 21600"/>
                <a:gd name="T18" fmla="*/ 21600 w 21600"/>
                <a:gd name="T19" fmla="*/ 13376 h 21600"/>
                <a:gd name="T20" fmla="*/ 400 w 21600"/>
                <a:gd name="T21" fmla="*/ 22400 h 21600"/>
                <a:gd name="T22" fmla="*/ 21200 w 21600"/>
                <a:gd name="T23" fmla="*/ 3000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T20" t="T21" r="T22" b="T23"/>
              <a:pathLst>
                <a:path w="21600" h="21600" extrusionOk="0">
                  <a:moveTo>
                    <a:pt x="0" y="5152"/>
                  </a:moveTo>
                  <a:lnTo>
                    <a:pt x="2941" y="0"/>
                  </a:lnTo>
                  <a:lnTo>
                    <a:pt x="18625" y="0"/>
                  </a:lnTo>
                  <a:lnTo>
                    <a:pt x="21600" y="5152"/>
                  </a:lnTo>
                  <a:lnTo>
                    <a:pt x="21600" y="21600"/>
                  </a:lnTo>
                  <a:lnTo>
                    <a:pt x="0" y="21600"/>
                  </a:lnTo>
                  <a:lnTo>
                    <a:pt x="0" y="5152"/>
                  </a:lnTo>
                  <a:close/>
                </a:path>
                <a:path w="21600" h="21600" extrusionOk="0">
                  <a:moveTo>
                    <a:pt x="0" y="5251"/>
                  </a:moveTo>
                  <a:lnTo>
                    <a:pt x="21600" y="5251"/>
                  </a:lnTo>
                  <a:moveTo>
                    <a:pt x="1961" y="11791"/>
                  </a:moveTo>
                  <a:lnTo>
                    <a:pt x="1961" y="14268"/>
                  </a:lnTo>
                  <a:lnTo>
                    <a:pt x="2806" y="14268"/>
                  </a:lnTo>
                  <a:lnTo>
                    <a:pt x="2806" y="11791"/>
                  </a:lnTo>
                  <a:lnTo>
                    <a:pt x="1961" y="11791"/>
                  </a:lnTo>
                  <a:close/>
                </a:path>
                <a:path w="21600" h="21600" extrusionOk="0">
                  <a:moveTo>
                    <a:pt x="3685" y="11791"/>
                  </a:moveTo>
                  <a:lnTo>
                    <a:pt x="3685" y="14268"/>
                  </a:lnTo>
                  <a:lnTo>
                    <a:pt x="4530" y="14268"/>
                  </a:lnTo>
                  <a:lnTo>
                    <a:pt x="4530" y="11791"/>
                  </a:lnTo>
                  <a:lnTo>
                    <a:pt x="3685" y="11791"/>
                  </a:lnTo>
                  <a:close/>
                </a:path>
                <a:path w="21600" h="21600" extrusionOk="0">
                  <a:moveTo>
                    <a:pt x="5408" y="11791"/>
                  </a:moveTo>
                  <a:lnTo>
                    <a:pt x="5408" y="14268"/>
                  </a:lnTo>
                  <a:lnTo>
                    <a:pt x="6254" y="14268"/>
                  </a:lnTo>
                  <a:lnTo>
                    <a:pt x="6254" y="11791"/>
                  </a:lnTo>
                  <a:lnTo>
                    <a:pt x="5408" y="11791"/>
                  </a:lnTo>
                  <a:close/>
                </a:path>
                <a:path w="21600" h="21600" extrusionOk="0">
                  <a:moveTo>
                    <a:pt x="7132" y="11791"/>
                  </a:moveTo>
                  <a:lnTo>
                    <a:pt x="7132" y="14268"/>
                  </a:lnTo>
                  <a:lnTo>
                    <a:pt x="7977" y="14268"/>
                  </a:lnTo>
                  <a:lnTo>
                    <a:pt x="7977" y="11791"/>
                  </a:lnTo>
                  <a:lnTo>
                    <a:pt x="7132" y="11791"/>
                  </a:lnTo>
                  <a:close/>
                </a:path>
              </a:pathLst>
            </a:custGeom>
            <a:solidFill>
              <a:srgbClr val="C0C0C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BE"/>
            </a:p>
          </p:txBody>
        </p:sp>
        <p:sp>
          <p:nvSpPr>
            <p:cNvPr id="6" name="modem"/>
            <p:cNvSpPr>
              <a:spLocks noEditPoints="1" noChangeArrowheads="1"/>
            </p:cNvSpPr>
            <p:nvPr/>
          </p:nvSpPr>
          <p:spPr bwMode="auto">
            <a:xfrm>
              <a:off x="2783599" y="2493516"/>
              <a:ext cx="1248497" cy="630820"/>
            </a:xfrm>
            <a:custGeom>
              <a:avLst/>
              <a:gdLst>
                <a:gd name="T0" fmla="*/ 0 w 21600"/>
                <a:gd name="T1" fmla="*/ 5152 h 21600"/>
                <a:gd name="T2" fmla="*/ 2941 w 21600"/>
                <a:gd name="T3" fmla="*/ 0 h 21600"/>
                <a:gd name="T4" fmla="*/ 18625 w 21600"/>
                <a:gd name="T5" fmla="*/ 0 h 21600"/>
                <a:gd name="T6" fmla="*/ 21600 w 21600"/>
                <a:gd name="T7" fmla="*/ 5152 h 21600"/>
                <a:gd name="T8" fmla="*/ 21600 w 21600"/>
                <a:gd name="T9" fmla="*/ 21600 h 21600"/>
                <a:gd name="T10" fmla="*/ 0 w 21600"/>
                <a:gd name="T11" fmla="*/ 21600 h 21600"/>
                <a:gd name="T12" fmla="*/ 10800 w 21600"/>
                <a:gd name="T13" fmla="*/ 0 h 21600"/>
                <a:gd name="T14" fmla="*/ 10800 w 21600"/>
                <a:gd name="T15" fmla="*/ 21600 h 21600"/>
                <a:gd name="T16" fmla="*/ 0 w 21600"/>
                <a:gd name="T17" fmla="*/ 13376 h 21600"/>
                <a:gd name="T18" fmla="*/ 21600 w 21600"/>
                <a:gd name="T19" fmla="*/ 13376 h 21600"/>
                <a:gd name="T20" fmla="*/ 400 w 21600"/>
                <a:gd name="T21" fmla="*/ 22400 h 21600"/>
                <a:gd name="T22" fmla="*/ 21200 w 21600"/>
                <a:gd name="T23" fmla="*/ 3000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T20" t="T21" r="T22" b="T23"/>
              <a:pathLst>
                <a:path w="21600" h="21600" extrusionOk="0">
                  <a:moveTo>
                    <a:pt x="0" y="5152"/>
                  </a:moveTo>
                  <a:lnTo>
                    <a:pt x="2941" y="0"/>
                  </a:lnTo>
                  <a:lnTo>
                    <a:pt x="18625" y="0"/>
                  </a:lnTo>
                  <a:lnTo>
                    <a:pt x="21600" y="5152"/>
                  </a:lnTo>
                  <a:lnTo>
                    <a:pt x="21600" y="21600"/>
                  </a:lnTo>
                  <a:lnTo>
                    <a:pt x="0" y="21600"/>
                  </a:lnTo>
                  <a:lnTo>
                    <a:pt x="0" y="5152"/>
                  </a:lnTo>
                  <a:close/>
                </a:path>
                <a:path w="21600" h="21600" extrusionOk="0">
                  <a:moveTo>
                    <a:pt x="0" y="5251"/>
                  </a:moveTo>
                  <a:lnTo>
                    <a:pt x="21600" y="5251"/>
                  </a:lnTo>
                  <a:moveTo>
                    <a:pt x="1961" y="11791"/>
                  </a:moveTo>
                  <a:lnTo>
                    <a:pt x="1961" y="14268"/>
                  </a:lnTo>
                  <a:lnTo>
                    <a:pt x="2806" y="14268"/>
                  </a:lnTo>
                  <a:lnTo>
                    <a:pt x="2806" y="11791"/>
                  </a:lnTo>
                  <a:lnTo>
                    <a:pt x="1961" y="11791"/>
                  </a:lnTo>
                  <a:close/>
                </a:path>
                <a:path w="21600" h="21600" extrusionOk="0">
                  <a:moveTo>
                    <a:pt x="3685" y="11791"/>
                  </a:moveTo>
                  <a:lnTo>
                    <a:pt x="3685" y="14268"/>
                  </a:lnTo>
                  <a:lnTo>
                    <a:pt x="4530" y="14268"/>
                  </a:lnTo>
                  <a:lnTo>
                    <a:pt x="4530" y="11791"/>
                  </a:lnTo>
                  <a:lnTo>
                    <a:pt x="3685" y="11791"/>
                  </a:lnTo>
                  <a:close/>
                </a:path>
                <a:path w="21600" h="21600" extrusionOk="0">
                  <a:moveTo>
                    <a:pt x="5408" y="11791"/>
                  </a:moveTo>
                  <a:lnTo>
                    <a:pt x="5408" y="14268"/>
                  </a:lnTo>
                  <a:lnTo>
                    <a:pt x="6254" y="14268"/>
                  </a:lnTo>
                  <a:lnTo>
                    <a:pt x="6254" y="11791"/>
                  </a:lnTo>
                  <a:lnTo>
                    <a:pt x="5408" y="11791"/>
                  </a:lnTo>
                  <a:close/>
                </a:path>
                <a:path w="21600" h="21600" extrusionOk="0">
                  <a:moveTo>
                    <a:pt x="7132" y="11791"/>
                  </a:moveTo>
                  <a:lnTo>
                    <a:pt x="7132" y="14268"/>
                  </a:lnTo>
                  <a:lnTo>
                    <a:pt x="7977" y="14268"/>
                  </a:lnTo>
                  <a:lnTo>
                    <a:pt x="7977" y="11791"/>
                  </a:lnTo>
                  <a:lnTo>
                    <a:pt x="7132" y="11791"/>
                  </a:lnTo>
                  <a:close/>
                </a:path>
              </a:pathLst>
            </a:custGeom>
            <a:solidFill>
              <a:srgbClr val="C0C0C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BE"/>
            </a:p>
          </p:txBody>
        </p:sp>
        <p:sp>
          <p:nvSpPr>
            <p:cNvPr id="7" name="modem"/>
            <p:cNvSpPr>
              <a:spLocks noEditPoints="1" noChangeArrowheads="1"/>
            </p:cNvSpPr>
            <p:nvPr/>
          </p:nvSpPr>
          <p:spPr bwMode="auto">
            <a:xfrm>
              <a:off x="1219184" y="2493516"/>
              <a:ext cx="1248497" cy="630820"/>
            </a:xfrm>
            <a:custGeom>
              <a:avLst/>
              <a:gdLst>
                <a:gd name="T0" fmla="*/ 0 w 21600"/>
                <a:gd name="T1" fmla="*/ 5152 h 21600"/>
                <a:gd name="T2" fmla="*/ 2941 w 21600"/>
                <a:gd name="T3" fmla="*/ 0 h 21600"/>
                <a:gd name="T4" fmla="*/ 18625 w 21600"/>
                <a:gd name="T5" fmla="*/ 0 h 21600"/>
                <a:gd name="T6" fmla="*/ 21600 w 21600"/>
                <a:gd name="T7" fmla="*/ 5152 h 21600"/>
                <a:gd name="T8" fmla="*/ 21600 w 21600"/>
                <a:gd name="T9" fmla="*/ 21600 h 21600"/>
                <a:gd name="T10" fmla="*/ 0 w 21600"/>
                <a:gd name="T11" fmla="*/ 21600 h 21600"/>
                <a:gd name="T12" fmla="*/ 10800 w 21600"/>
                <a:gd name="T13" fmla="*/ 0 h 21600"/>
                <a:gd name="T14" fmla="*/ 10800 w 21600"/>
                <a:gd name="T15" fmla="*/ 21600 h 21600"/>
                <a:gd name="T16" fmla="*/ 0 w 21600"/>
                <a:gd name="T17" fmla="*/ 13376 h 21600"/>
                <a:gd name="T18" fmla="*/ 21600 w 21600"/>
                <a:gd name="T19" fmla="*/ 13376 h 21600"/>
                <a:gd name="T20" fmla="*/ 400 w 21600"/>
                <a:gd name="T21" fmla="*/ 22400 h 21600"/>
                <a:gd name="T22" fmla="*/ 21200 w 21600"/>
                <a:gd name="T23" fmla="*/ 3000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T20" t="T21" r="T22" b="T23"/>
              <a:pathLst>
                <a:path w="21600" h="21600" extrusionOk="0">
                  <a:moveTo>
                    <a:pt x="0" y="5152"/>
                  </a:moveTo>
                  <a:lnTo>
                    <a:pt x="2941" y="0"/>
                  </a:lnTo>
                  <a:lnTo>
                    <a:pt x="18625" y="0"/>
                  </a:lnTo>
                  <a:lnTo>
                    <a:pt x="21600" y="5152"/>
                  </a:lnTo>
                  <a:lnTo>
                    <a:pt x="21600" y="21600"/>
                  </a:lnTo>
                  <a:lnTo>
                    <a:pt x="0" y="21600"/>
                  </a:lnTo>
                  <a:lnTo>
                    <a:pt x="0" y="5152"/>
                  </a:lnTo>
                  <a:close/>
                </a:path>
                <a:path w="21600" h="21600" extrusionOk="0">
                  <a:moveTo>
                    <a:pt x="0" y="5251"/>
                  </a:moveTo>
                  <a:lnTo>
                    <a:pt x="21600" y="5251"/>
                  </a:lnTo>
                  <a:moveTo>
                    <a:pt x="1961" y="11791"/>
                  </a:moveTo>
                  <a:lnTo>
                    <a:pt x="1961" y="14268"/>
                  </a:lnTo>
                  <a:lnTo>
                    <a:pt x="2806" y="14268"/>
                  </a:lnTo>
                  <a:lnTo>
                    <a:pt x="2806" y="11791"/>
                  </a:lnTo>
                  <a:lnTo>
                    <a:pt x="1961" y="11791"/>
                  </a:lnTo>
                  <a:close/>
                </a:path>
                <a:path w="21600" h="21600" extrusionOk="0">
                  <a:moveTo>
                    <a:pt x="3685" y="11791"/>
                  </a:moveTo>
                  <a:lnTo>
                    <a:pt x="3685" y="14268"/>
                  </a:lnTo>
                  <a:lnTo>
                    <a:pt x="4530" y="14268"/>
                  </a:lnTo>
                  <a:lnTo>
                    <a:pt x="4530" y="11791"/>
                  </a:lnTo>
                  <a:lnTo>
                    <a:pt x="3685" y="11791"/>
                  </a:lnTo>
                  <a:close/>
                </a:path>
                <a:path w="21600" h="21600" extrusionOk="0">
                  <a:moveTo>
                    <a:pt x="5408" y="11791"/>
                  </a:moveTo>
                  <a:lnTo>
                    <a:pt x="5408" y="14268"/>
                  </a:lnTo>
                  <a:lnTo>
                    <a:pt x="6254" y="14268"/>
                  </a:lnTo>
                  <a:lnTo>
                    <a:pt x="6254" y="11791"/>
                  </a:lnTo>
                  <a:lnTo>
                    <a:pt x="5408" y="11791"/>
                  </a:lnTo>
                  <a:close/>
                </a:path>
                <a:path w="21600" h="21600" extrusionOk="0">
                  <a:moveTo>
                    <a:pt x="7132" y="11791"/>
                  </a:moveTo>
                  <a:lnTo>
                    <a:pt x="7132" y="14268"/>
                  </a:lnTo>
                  <a:lnTo>
                    <a:pt x="7977" y="14268"/>
                  </a:lnTo>
                  <a:lnTo>
                    <a:pt x="7977" y="11791"/>
                  </a:lnTo>
                  <a:lnTo>
                    <a:pt x="7132" y="11791"/>
                  </a:lnTo>
                  <a:close/>
                </a:path>
              </a:pathLst>
            </a:custGeom>
            <a:solidFill>
              <a:srgbClr val="C0C0C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BE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862445" y="1901535"/>
              <a:ext cx="6639791" cy="1485900"/>
            </a:xfrm>
            <a:prstGeom prst="rect">
              <a:avLst/>
            </a:prstGeom>
            <a:solidFill>
              <a:schemeClr val="accent1">
                <a:alpha val="22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451995" y="1999492"/>
              <a:ext cx="92775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workers</a:t>
              </a:r>
              <a:endParaRPr lang="nl-BE" dirty="0"/>
            </a:p>
          </p:txBody>
        </p:sp>
      </p:grpSp>
      <p:grpSp>
        <p:nvGrpSpPr>
          <p:cNvPr id="26" name="Group 25"/>
          <p:cNvGrpSpPr/>
          <p:nvPr/>
        </p:nvGrpSpPr>
        <p:grpSpPr>
          <a:xfrm>
            <a:off x="6642688" y="4291443"/>
            <a:ext cx="1867884" cy="2018026"/>
            <a:chOff x="6642688" y="4291443"/>
            <a:chExt cx="1867884" cy="2018026"/>
          </a:xfrm>
        </p:grpSpPr>
        <p:sp>
          <p:nvSpPr>
            <p:cNvPr id="12" name="mainfrm"/>
            <p:cNvSpPr>
              <a:spLocks noEditPoints="1" noChangeArrowheads="1"/>
            </p:cNvSpPr>
            <p:nvPr/>
          </p:nvSpPr>
          <p:spPr bwMode="auto">
            <a:xfrm>
              <a:off x="6963497" y="4291443"/>
              <a:ext cx="1185501" cy="1497158"/>
            </a:xfrm>
            <a:custGeom>
              <a:avLst/>
              <a:gdLst>
                <a:gd name="T0" fmla="*/ 0 w 21600"/>
                <a:gd name="T1" fmla="*/ 0 h 21600"/>
                <a:gd name="T2" fmla="*/ 10800 w 21600"/>
                <a:gd name="T3" fmla="*/ 0 h 21600"/>
                <a:gd name="T4" fmla="*/ 21600 w 21600"/>
                <a:gd name="T5" fmla="*/ 0 h 21600"/>
                <a:gd name="T6" fmla="*/ 21600 w 21600"/>
                <a:gd name="T7" fmla="*/ 10800 h 21600"/>
                <a:gd name="T8" fmla="*/ 20603 w 21600"/>
                <a:gd name="T9" fmla="*/ 21600 h 21600"/>
                <a:gd name="T10" fmla="*/ 10800 w 21600"/>
                <a:gd name="T11" fmla="*/ 21600 h 21600"/>
                <a:gd name="T12" fmla="*/ 1163 w 21600"/>
                <a:gd name="T13" fmla="*/ 21600 h 21600"/>
                <a:gd name="T14" fmla="*/ 0 w 21600"/>
                <a:gd name="T15" fmla="*/ 10800 h 21600"/>
                <a:gd name="T16" fmla="*/ 332 w 21600"/>
                <a:gd name="T17" fmla="*/ 22174 h 21600"/>
                <a:gd name="T18" fmla="*/ 21579 w 21600"/>
                <a:gd name="T19" fmla="*/ 27914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T16" t="T17" r="T18" b="T19"/>
              <a:pathLst>
                <a:path w="21600" h="21600" extrusionOk="0">
                  <a:moveTo>
                    <a:pt x="21600" y="10885"/>
                  </a:moveTo>
                  <a:lnTo>
                    <a:pt x="21600" y="0"/>
                  </a:lnTo>
                  <a:lnTo>
                    <a:pt x="10634" y="0"/>
                  </a:lnTo>
                  <a:lnTo>
                    <a:pt x="0" y="0"/>
                  </a:lnTo>
                  <a:lnTo>
                    <a:pt x="0" y="10885"/>
                  </a:lnTo>
                  <a:lnTo>
                    <a:pt x="0" y="19729"/>
                  </a:lnTo>
                  <a:lnTo>
                    <a:pt x="1163" y="19729"/>
                  </a:lnTo>
                  <a:lnTo>
                    <a:pt x="1163" y="21600"/>
                  </a:lnTo>
                  <a:lnTo>
                    <a:pt x="10800" y="21600"/>
                  </a:lnTo>
                  <a:lnTo>
                    <a:pt x="20603" y="21600"/>
                  </a:lnTo>
                  <a:lnTo>
                    <a:pt x="20603" y="19729"/>
                  </a:lnTo>
                  <a:lnTo>
                    <a:pt x="21600" y="19729"/>
                  </a:lnTo>
                  <a:lnTo>
                    <a:pt x="21600" y="10885"/>
                  </a:lnTo>
                  <a:close/>
                </a:path>
                <a:path w="21600" h="21600" extrusionOk="0">
                  <a:moveTo>
                    <a:pt x="1163" y="19729"/>
                  </a:moveTo>
                  <a:lnTo>
                    <a:pt x="4320" y="19729"/>
                  </a:lnTo>
                  <a:lnTo>
                    <a:pt x="16449" y="19729"/>
                  </a:lnTo>
                  <a:lnTo>
                    <a:pt x="20603" y="19729"/>
                  </a:lnTo>
                  <a:lnTo>
                    <a:pt x="1163" y="19729"/>
                  </a:lnTo>
                  <a:moveTo>
                    <a:pt x="1495" y="2381"/>
                  </a:moveTo>
                  <a:lnTo>
                    <a:pt x="2160" y="2381"/>
                  </a:lnTo>
                  <a:lnTo>
                    <a:pt x="4985" y="2381"/>
                  </a:lnTo>
                  <a:lnTo>
                    <a:pt x="5982" y="2381"/>
                  </a:lnTo>
                  <a:lnTo>
                    <a:pt x="1495" y="2381"/>
                  </a:lnTo>
                  <a:lnTo>
                    <a:pt x="1495" y="3402"/>
                  </a:lnTo>
                  <a:lnTo>
                    <a:pt x="2160" y="3402"/>
                  </a:lnTo>
                  <a:lnTo>
                    <a:pt x="4985" y="3402"/>
                  </a:lnTo>
                  <a:lnTo>
                    <a:pt x="5982" y="3402"/>
                  </a:lnTo>
                  <a:lnTo>
                    <a:pt x="1495" y="3402"/>
                  </a:lnTo>
                  <a:lnTo>
                    <a:pt x="1495" y="4422"/>
                  </a:lnTo>
                  <a:lnTo>
                    <a:pt x="2160" y="4422"/>
                  </a:lnTo>
                  <a:lnTo>
                    <a:pt x="4985" y="4422"/>
                  </a:lnTo>
                  <a:lnTo>
                    <a:pt x="5982" y="4422"/>
                  </a:lnTo>
                  <a:lnTo>
                    <a:pt x="1495" y="4422"/>
                  </a:lnTo>
                  <a:lnTo>
                    <a:pt x="1495" y="5443"/>
                  </a:lnTo>
                  <a:lnTo>
                    <a:pt x="2160" y="5443"/>
                  </a:lnTo>
                  <a:lnTo>
                    <a:pt x="4985" y="5443"/>
                  </a:lnTo>
                  <a:lnTo>
                    <a:pt x="5982" y="5443"/>
                  </a:lnTo>
                  <a:lnTo>
                    <a:pt x="1495" y="5443"/>
                  </a:lnTo>
                  <a:lnTo>
                    <a:pt x="1495" y="6463"/>
                  </a:lnTo>
                  <a:lnTo>
                    <a:pt x="2160" y="6463"/>
                  </a:lnTo>
                  <a:lnTo>
                    <a:pt x="4985" y="6463"/>
                  </a:lnTo>
                  <a:lnTo>
                    <a:pt x="5982" y="6463"/>
                  </a:lnTo>
                  <a:lnTo>
                    <a:pt x="1495" y="6463"/>
                  </a:lnTo>
                  <a:lnTo>
                    <a:pt x="1495" y="7483"/>
                  </a:lnTo>
                  <a:lnTo>
                    <a:pt x="2160" y="7483"/>
                  </a:lnTo>
                  <a:lnTo>
                    <a:pt x="4985" y="7483"/>
                  </a:lnTo>
                  <a:lnTo>
                    <a:pt x="5982" y="7483"/>
                  </a:lnTo>
                  <a:lnTo>
                    <a:pt x="1495" y="7483"/>
                  </a:lnTo>
                  <a:lnTo>
                    <a:pt x="1495" y="8504"/>
                  </a:lnTo>
                  <a:lnTo>
                    <a:pt x="2160" y="8504"/>
                  </a:lnTo>
                  <a:lnTo>
                    <a:pt x="4985" y="8504"/>
                  </a:lnTo>
                  <a:lnTo>
                    <a:pt x="5982" y="8504"/>
                  </a:lnTo>
                  <a:lnTo>
                    <a:pt x="1495" y="8504"/>
                  </a:lnTo>
                  <a:lnTo>
                    <a:pt x="1495" y="9524"/>
                  </a:lnTo>
                  <a:lnTo>
                    <a:pt x="2160" y="9524"/>
                  </a:lnTo>
                  <a:lnTo>
                    <a:pt x="4985" y="9524"/>
                  </a:lnTo>
                  <a:lnTo>
                    <a:pt x="5982" y="9524"/>
                  </a:lnTo>
                  <a:lnTo>
                    <a:pt x="1495" y="9524"/>
                  </a:lnTo>
                  <a:lnTo>
                    <a:pt x="1495" y="10545"/>
                  </a:lnTo>
                  <a:lnTo>
                    <a:pt x="2160" y="10545"/>
                  </a:lnTo>
                  <a:lnTo>
                    <a:pt x="4985" y="10545"/>
                  </a:lnTo>
                  <a:lnTo>
                    <a:pt x="5982" y="10545"/>
                  </a:lnTo>
                  <a:lnTo>
                    <a:pt x="1495" y="10545"/>
                  </a:lnTo>
                  <a:lnTo>
                    <a:pt x="1495" y="11565"/>
                  </a:lnTo>
                  <a:lnTo>
                    <a:pt x="2160" y="11565"/>
                  </a:lnTo>
                  <a:lnTo>
                    <a:pt x="4985" y="11565"/>
                  </a:lnTo>
                  <a:lnTo>
                    <a:pt x="5982" y="11565"/>
                  </a:lnTo>
                  <a:lnTo>
                    <a:pt x="1495" y="11565"/>
                  </a:lnTo>
                  <a:lnTo>
                    <a:pt x="1495" y="12586"/>
                  </a:lnTo>
                  <a:lnTo>
                    <a:pt x="2160" y="12586"/>
                  </a:lnTo>
                  <a:lnTo>
                    <a:pt x="4985" y="12586"/>
                  </a:lnTo>
                  <a:lnTo>
                    <a:pt x="5982" y="12586"/>
                  </a:lnTo>
                  <a:lnTo>
                    <a:pt x="1495" y="12586"/>
                  </a:lnTo>
                  <a:lnTo>
                    <a:pt x="1495" y="13606"/>
                  </a:lnTo>
                  <a:lnTo>
                    <a:pt x="2160" y="13606"/>
                  </a:lnTo>
                  <a:lnTo>
                    <a:pt x="4985" y="13606"/>
                  </a:lnTo>
                  <a:lnTo>
                    <a:pt x="5982" y="13606"/>
                  </a:lnTo>
                  <a:lnTo>
                    <a:pt x="1495" y="13606"/>
                  </a:lnTo>
                  <a:lnTo>
                    <a:pt x="1495" y="14627"/>
                  </a:lnTo>
                  <a:lnTo>
                    <a:pt x="2160" y="14627"/>
                  </a:lnTo>
                  <a:lnTo>
                    <a:pt x="4985" y="14627"/>
                  </a:lnTo>
                  <a:lnTo>
                    <a:pt x="5982" y="14627"/>
                  </a:lnTo>
                  <a:lnTo>
                    <a:pt x="1495" y="14627"/>
                  </a:lnTo>
                  <a:lnTo>
                    <a:pt x="1495" y="15647"/>
                  </a:lnTo>
                  <a:lnTo>
                    <a:pt x="2160" y="15647"/>
                  </a:lnTo>
                  <a:lnTo>
                    <a:pt x="4985" y="15647"/>
                  </a:lnTo>
                  <a:lnTo>
                    <a:pt x="5982" y="15647"/>
                  </a:lnTo>
                  <a:lnTo>
                    <a:pt x="1495" y="15647"/>
                  </a:lnTo>
                  <a:lnTo>
                    <a:pt x="1495" y="16668"/>
                  </a:lnTo>
                  <a:lnTo>
                    <a:pt x="2160" y="16668"/>
                  </a:lnTo>
                  <a:lnTo>
                    <a:pt x="4985" y="16668"/>
                  </a:lnTo>
                  <a:lnTo>
                    <a:pt x="5982" y="16668"/>
                  </a:lnTo>
                  <a:lnTo>
                    <a:pt x="1495" y="16668"/>
                  </a:lnTo>
                  <a:lnTo>
                    <a:pt x="1495" y="17688"/>
                  </a:lnTo>
                  <a:lnTo>
                    <a:pt x="2160" y="17688"/>
                  </a:lnTo>
                  <a:lnTo>
                    <a:pt x="4985" y="17688"/>
                  </a:lnTo>
                  <a:lnTo>
                    <a:pt x="5982" y="17688"/>
                  </a:lnTo>
                  <a:lnTo>
                    <a:pt x="1495" y="17688"/>
                  </a:lnTo>
                  <a:moveTo>
                    <a:pt x="1994" y="19729"/>
                  </a:moveTo>
                  <a:lnTo>
                    <a:pt x="1994" y="20069"/>
                  </a:lnTo>
                  <a:lnTo>
                    <a:pt x="1994" y="21260"/>
                  </a:lnTo>
                  <a:lnTo>
                    <a:pt x="1994" y="21600"/>
                  </a:lnTo>
                  <a:lnTo>
                    <a:pt x="1994" y="19729"/>
                  </a:lnTo>
                  <a:lnTo>
                    <a:pt x="2658" y="19729"/>
                  </a:lnTo>
                  <a:lnTo>
                    <a:pt x="2658" y="20069"/>
                  </a:lnTo>
                  <a:lnTo>
                    <a:pt x="2658" y="21260"/>
                  </a:lnTo>
                  <a:lnTo>
                    <a:pt x="2658" y="21600"/>
                  </a:lnTo>
                  <a:lnTo>
                    <a:pt x="2658" y="19729"/>
                  </a:lnTo>
                  <a:lnTo>
                    <a:pt x="3489" y="19729"/>
                  </a:lnTo>
                  <a:lnTo>
                    <a:pt x="3489" y="20069"/>
                  </a:lnTo>
                  <a:lnTo>
                    <a:pt x="3489" y="21260"/>
                  </a:lnTo>
                  <a:lnTo>
                    <a:pt x="3489" y="21600"/>
                  </a:lnTo>
                  <a:lnTo>
                    <a:pt x="3489" y="19729"/>
                  </a:lnTo>
                  <a:lnTo>
                    <a:pt x="4320" y="19729"/>
                  </a:lnTo>
                  <a:lnTo>
                    <a:pt x="4320" y="20069"/>
                  </a:lnTo>
                  <a:lnTo>
                    <a:pt x="4320" y="21260"/>
                  </a:lnTo>
                  <a:lnTo>
                    <a:pt x="4320" y="21600"/>
                  </a:lnTo>
                  <a:lnTo>
                    <a:pt x="4320" y="19729"/>
                  </a:lnTo>
                  <a:lnTo>
                    <a:pt x="5151" y="19729"/>
                  </a:lnTo>
                  <a:lnTo>
                    <a:pt x="5151" y="20069"/>
                  </a:lnTo>
                  <a:lnTo>
                    <a:pt x="5151" y="21260"/>
                  </a:lnTo>
                  <a:lnTo>
                    <a:pt x="5151" y="21600"/>
                  </a:lnTo>
                  <a:lnTo>
                    <a:pt x="5151" y="19729"/>
                  </a:lnTo>
                  <a:lnTo>
                    <a:pt x="5982" y="19729"/>
                  </a:lnTo>
                  <a:lnTo>
                    <a:pt x="5982" y="20069"/>
                  </a:lnTo>
                  <a:lnTo>
                    <a:pt x="5982" y="21260"/>
                  </a:lnTo>
                  <a:lnTo>
                    <a:pt x="5982" y="21600"/>
                  </a:lnTo>
                  <a:lnTo>
                    <a:pt x="5982" y="19729"/>
                  </a:lnTo>
                  <a:lnTo>
                    <a:pt x="6812" y="19729"/>
                  </a:lnTo>
                  <a:lnTo>
                    <a:pt x="6812" y="20069"/>
                  </a:lnTo>
                  <a:lnTo>
                    <a:pt x="6812" y="21260"/>
                  </a:lnTo>
                  <a:lnTo>
                    <a:pt x="6812" y="21600"/>
                  </a:lnTo>
                  <a:lnTo>
                    <a:pt x="6812" y="19729"/>
                  </a:lnTo>
                  <a:lnTo>
                    <a:pt x="7643" y="19729"/>
                  </a:lnTo>
                  <a:lnTo>
                    <a:pt x="7643" y="20069"/>
                  </a:lnTo>
                  <a:lnTo>
                    <a:pt x="7643" y="21260"/>
                  </a:lnTo>
                  <a:lnTo>
                    <a:pt x="7643" y="21600"/>
                  </a:lnTo>
                  <a:lnTo>
                    <a:pt x="7643" y="19729"/>
                  </a:lnTo>
                  <a:lnTo>
                    <a:pt x="8474" y="19729"/>
                  </a:lnTo>
                  <a:lnTo>
                    <a:pt x="8474" y="20069"/>
                  </a:lnTo>
                  <a:lnTo>
                    <a:pt x="8474" y="21260"/>
                  </a:lnTo>
                  <a:lnTo>
                    <a:pt x="8474" y="21600"/>
                  </a:lnTo>
                  <a:lnTo>
                    <a:pt x="8474" y="19729"/>
                  </a:lnTo>
                  <a:lnTo>
                    <a:pt x="9305" y="19729"/>
                  </a:lnTo>
                  <a:lnTo>
                    <a:pt x="9305" y="20069"/>
                  </a:lnTo>
                  <a:lnTo>
                    <a:pt x="9305" y="21260"/>
                  </a:lnTo>
                  <a:lnTo>
                    <a:pt x="9305" y="21600"/>
                  </a:lnTo>
                  <a:lnTo>
                    <a:pt x="9305" y="19729"/>
                  </a:lnTo>
                  <a:lnTo>
                    <a:pt x="10135" y="19729"/>
                  </a:lnTo>
                  <a:lnTo>
                    <a:pt x="10135" y="20069"/>
                  </a:lnTo>
                  <a:lnTo>
                    <a:pt x="10135" y="21260"/>
                  </a:lnTo>
                  <a:lnTo>
                    <a:pt x="10135" y="21600"/>
                  </a:lnTo>
                  <a:lnTo>
                    <a:pt x="10135" y="19729"/>
                  </a:lnTo>
                  <a:lnTo>
                    <a:pt x="10966" y="19729"/>
                  </a:lnTo>
                  <a:lnTo>
                    <a:pt x="10966" y="20069"/>
                  </a:lnTo>
                  <a:lnTo>
                    <a:pt x="10966" y="21260"/>
                  </a:lnTo>
                  <a:lnTo>
                    <a:pt x="10966" y="21600"/>
                  </a:lnTo>
                  <a:lnTo>
                    <a:pt x="10966" y="19729"/>
                  </a:lnTo>
                  <a:lnTo>
                    <a:pt x="11797" y="19729"/>
                  </a:lnTo>
                  <a:lnTo>
                    <a:pt x="11797" y="20069"/>
                  </a:lnTo>
                  <a:lnTo>
                    <a:pt x="11797" y="21260"/>
                  </a:lnTo>
                  <a:lnTo>
                    <a:pt x="11797" y="21600"/>
                  </a:lnTo>
                  <a:lnTo>
                    <a:pt x="11797" y="19729"/>
                  </a:lnTo>
                  <a:lnTo>
                    <a:pt x="12462" y="19729"/>
                  </a:lnTo>
                  <a:lnTo>
                    <a:pt x="12462" y="20069"/>
                  </a:lnTo>
                  <a:lnTo>
                    <a:pt x="12462" y="21260"/>
                  </a:lnTo>
                  <a:lnTo>
                    <a:pt x="12462" y="21600"/>
                  </a:lnTo>
                  <a:lnTo>
                    <a:pt x="12462" y="19729"/>
                  </a:lnTo>
                  <a:lnTo>
                    <a:pt x="13292" y="19729"/>
                  </a:lnTo>
                  <a:lnTo>
                    <a:pt x="13292" y="20069"/>
                  </a:lnTo>
                  <a:lnTo>
                    <a:pt x="13292" y="21260"/>
                  </a:lnTo>
                  <a:lnTo>
                    <a:pt x="13292" y="21600"/>
                  </a:lnTo>
                  <a:lnTo>
                    <a:pt x="13292" y="19729"/>
                  </a:lnTo>
                  <a:lnTo>
                    <a:pt x="14123" y="19729"/>
                  </a:lnTo>
                  <a:lnTo>
                    <a:pt x="14123" y="20069"/>
                  </a:lnTo>
                  <a:lnTo>
                    <a:pt x="14123" y="21260"/>
                  </a:lnTo>
                  <a:lnTo>
                    <a:pt x="14123" y="21600"/>
                  </a:lnTo>
                  <a:lnTo>
                    <a:pt x="14123" y="19729"/>
                  </a:lnTo>
                  <a:lnTo>
                    <a:pt x="14954" y="19729"/>
                  </a:lnTo>
                  <a:lnTo>
                    <a:pt x="14954" y="20069"/>
                  </a:lnTo>
                  <a:lnTo>
                    <a:pt x="14954" y="21260"/>
                  </a:lnTo>
                  <a:lnTo>
                    <a:pt x="14954" y="21600"/>
                  </a:lnTo>
                  <a:lnTo>
                    <a:pt x="14954" y="19729"/>
                  </a:lnTo>
                  <a:lnTo>
                    <a:pt x="15785" y="19729"/>
                  </a:lnTo>
                  <a:lnTo>
                    <a:pt x="15785" y="20069"/>
                  </a:lnTo>
                  <a:lnTo>
                    <a:pt x="15785" y="21260"/>
                  </a:lnTo>
                  <a:lnTo>
                    <a:pt x="15785" y="21600"/>
                  </a:lnTo>
                  <a:lnTo>
                    <a:pt x="15785" y="19729"/>
                  </a:lnTo>
                  <a:lnTo>
                    <a:pt x="16615" y="19729"/>
                  </a:lnTo>
                  <a:lnTo>
                    <a:pt x="16615" y="20069"/>
                  </a:lnTo>
                  <a:lnTo>
                    <a:pt x="16615" y="21260"/>
                  </a:lnTo>
                  <a:lnTo>
                    <a:pt x="16615" y="21600"/>
                  </a:lnTo>
                  <a:lnTo>
                    <a:pt x="16615" y="19729"/>
                  </a:lnTo>
                  <a:lnTo>
                    <a:pt x="17446" y="19729"/>
                  </a:lnTo>
                  <a:lnTo>
                    <a:pt x="17446" y="20069"/>
                  </a:lnTo>
                  <a:lnTo>
                    <a:pt x="17446" y="21260"/>
                  </a:lnTo>
                  <a:lnTo>
                    <a:pt x="17446" y="21600"/>
                  </a:lnTo>
                  <a:lnTo>
                    <a:pt x="17446" y="19729"/>
                  </a:lnTo>
                  <a:lnTo>
                    <a:pt x="18277" y="19729"/>
                  </a:lnTo>
                  <a:lnTo>
                    <a:pt x="18277" y="20069"/>
                  </a:lnTo>
                  <a:lnTo>
                    <a:pt x="18277" y="21260"/>
                  </a:lnTo>
                  <a:lnTo>
                    <a:pt x="18277" y="21600"/>
                  </a:lnTo>
                  <a:lnTo>
                    <a:pt x="18277" y="19729"/>
                  </a:lnTo>
                  <a:lnTo>
                    <a:pt x="19108" y="19729"/>
                  </a:lnTo>
                  <a:lnTo>
                    <a:pt x="19108" y="20069"/>
                  </a:lnTo>
                  <a:lnTo>
                    <a:pt x="19108" y="21260"/>
                  </a:lnTo>
                  <a:lnTo>
                    <a:pt x="19108" y="21600"/>
                  </a:lnTo>
                  <a:lnTo>
                    <a:pt x="19108" y="19729"/>
                  </a:lnTo>
                  <a:lnTo>
                    <a:pt x="19938" y="19729"/>
                  </a:lnTo>
                  <a:lnTo>
                    <a:pt x="19938" y="20069"/>
                  </a:lnTo>
                  <a:lnTo>
                    <a:pt x="19938" y="21260"/>
                  </a:lnTo>
                  <a:lnTo>
                    <a:pt x="19938" y="21600"/>
                  </a:lnTo>
                  <a:lnTo>
                    <a:pt x="19938" y="19729"/>
                  </a:lnTo>
                  <a:moveTo>
                    <a:pt x="1495" y="1531"/>
                  </a:moveTo>
                  <a:lnTo>
                    <a:pt x="5982" y="1531"/>
                  </a:lnTo>
                  <a:lnTo>
                    <a:pt x="5982" y="18539"/>
                  </a:lnTo>
                  <a:lnTo>
                    <a:pt x="1495" y="18539"/>
                  </a:lnTo>
                  <a:lnTo>
                    <a:pt x="1495" y="1531"/>
                  </a:lnTo>
                  <a:moveTo>
                    <a:pt x="7311" y="1531"/>
                  </a:moveTo>
                  <a:lnTo>
                    <a:pt x="7975" y="1531"/>
                  </a:lnTo>
                  <a:lnTo>
                    <a:pt x="7975" y="8334"/>
                  </a:lnTo>
                  <a:lnTo>
                    <a:pt x="7311" y="8334"/>
                  </a:lnTo>
                  <a:lnTo>
                    <a:pt x="7311" y="1531"/>
                  </a:lnTo>
                  <a:moveTo>
                    <a:pt x="7145" y="9865"/>
                  </a:moveTo>
                  <a:lnTo>
                    <a:pt x="8142" y="9865"/>
                  </a:lnTo>
                  <a:lnTo>
                    <a:pt x="8142" y="10715"/>
                  </a:lnTo>
                  <a:lnTo>
                    <a:pt x="7145" y="10715"/>
                  </a:lnTo>
                  <a:lnTo>
                    <a:pt x="7145" y="9865"/>
                  </a:lnTo>
                  <a:moveTo>
                    <a:pt x="8972" y="1531"/>
                  </a:moveTo>
                  <a:lnTo>
                    <a:pt x="12462" y="1531"/>
                  </a:lnTo>
                  <a:lnTo>
                    <a:pt x="12462" y="5443"/>
                  </a:lnTo>
                  <a:lnTo>
                    <a:pt x="8972" y="5443"/>
                  </a:lnTo>
                  <a:lnTo>
                    <a:pt x="8972" y="1531"/>
                  </a:lnTo>
                  <a:moveTo>
                    <a:pt x="13625" y="1531"/>
                  </a:moveTo>
                  <a:lnTo>
                    <a:pt x="20271" y="1531"/>
                  </a:lnTo>
                  <a:lnTo>
                    <a:pt x="20271" y="5443"/>
                  </a:lnTo>
                  <a:lnTo>
                    <a:pt x="13625" y="5443"/>
                  </a:lnTo>
                  <a:lnTo>
                    <a:pt x="13625" y="1531"/>
                  </a:lnTo>
                  <a:moveTo>
                    <a:pt x="18609" y="6463"/>
                  </a:moveTo>
                  <a:lnTo>
                    <a:pt x="20437" y="6463"/>
                  </a:lnTo>
                  <a:lnTo>
                    <a:pt x="20437" y="10885"/>
                  </a:lnTo>
                  <a:lnTo>
                    <a:pt x="18609" y="10885"/>
                  </a:lnTo>
                  <a:lnTo>
                    <a:pt x="18609" y="6463"/>
                  </a:lnTo>
                </a:path>
              </a:pathLst>
            </a:custGeom>
            <a:solidFill>
              <a:srgbClr val="C0C0C0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nl-BE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642688" y="5940137"/>
              <a:ext cx="1867884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shared file system</a:t>
              </a:r>
              <a:endParaRPr lang="nl-BE" dirty="0"/>
            </a:p>
          </p:txBody>
        </p:sp>
      </p:grpSp>
      <p:cxnSp>
        <p:nvCxnSpPr>
          <p:cNvPr id="16" name="Straight Arrow Connector 15"/>
          <p:cNvCxnSpPr/>
          <p:nvPr/>
        </p:nvCxnSpPr>
        <p:spPr>
          <a:xfrm>
            <a:off x="6234545" y="3512127"/>
            <a:ext cx="681327" cy="602673"/>
          </a:xfrm>
          <a:prstGeom prst="straightConnector1">
            <a:avLst/>
          </a:prstGeom>
          <a:ln w="38100"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/>
          <p:nvPr/>
        </p:nvCxnSpPr>
        <p:spPr>
          <a:xfrm>
            <a:off x="5205845" y="4894121"/>
            <a:ext cx="1436843" cy="124685"/>
          </a:xfrm>
          <a:prstGeom prst="straightConnector1">
            <a:avLst/>
          </a:prstGeom>
          <a:ln w="38100"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/>
          <p:nvPr/>
        </p:nvCxnSpPr>
        <p:spPr>
          <a:xfrm flipH="1">
            <a:off x="4530436" y="3512126"/>
            <a:ext cx="334746" cy="457201"/>
          </a:xfrm>
          <a:prstGeom prst="straightConnector1">
            <a:avLst/>
          </a:prstGeom>
          <a:ln w="38100"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200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63366945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RDDs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From text file</a:t>
            </a:r>
          </a:p>
          <a:p>
            <a:pPr lvl="1"/>
            <a:r>
              <a:rPr lang="en-US" dirty="0"/>
              <a:t>Each line is an item in RDD</a:t>
            </a:r>
          </a:p>
          <a:p>
            <a:pPr lvl="1"/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data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sc.textFile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('data.txt')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From list-like objects</a:t>
            </a:r>
          </a:p>
          <a:p>
            <a:pPr lvl="1"/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data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sc.parallelize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(-10.0, 10.0, 1001)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From sequence files</a:t>
            </a:r>
          </a:p>
          <a:p>
            <a:pPr lvl="1"/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data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sc.sequenceFile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data.bin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')</a:t>
            </a:r>
            <a:endParaRPr lang="en-US" dirty="0"/>
          </a:p>
          <a:p>
            <a:endParaRPr lang="en-US" dirty="0"/>
          </a:p>
          <a:p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5977466" y="2006581"/>
            <a:ext cx="2370777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</a:t>
            </a:r>
            <a:r>
              <a:rPr lang="en-US" sz="2400" dirty="0"/>
              <a:t>: </a:t>
            </a:r>
            <a:r>
              <a:rPr lang="en-US" sz="2400" dirty="0" err="1"/>
              <a:t>SparkContext</a:t>
            </a:r>
            <a:endParaRPr lang="nl-BE" sz="24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201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990824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Peeking at RDDs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Get some values (as a list)</a:t>
            </a:r>
          </a:p>
          <a:p>
            <a:pPr lvl="1"/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first_value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data.first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first_few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data.take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(5)</a:t>
            </a:r>
          </a:p>
          <a:p>
            <a:pPr lvl="1"/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sample =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data.takeSample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withReplacement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50)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Get all values as list</a:t>
            </a:r>
          </a:p>
          <a:p>
            <a:pPr lvl="1"/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list =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data.collect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How many elements?</a:t>
            </a:r>
          </a:p>
          <a:p>
            <a:pPr lvl="1"/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nr_elements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data.count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Save values to file</a:t>
            </a:r>
          </a:p>
          <a:p>
            <a:pPr lvl="1"/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data.saveAsTextFile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('output.txt')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data.saveAsSequenceFile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output.bin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')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809059" y="3505188"/>
            <a:ext cx="2719078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Note: this blows up in your</a:t>
            </a:r>
            <a:br>
              <a:rPr lang="en-US" dirty="0"/>
            </a:br>
            <a:r>
              <a:rPr lang="en-US" dirty="0"/>
              <a:t>           face if RDD is large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 rot="19862060">
            <a:off x="8173832" y="2187555"/>
            <a:ext cx="766557" cy="36933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action</a:t>
            </a:r>
          </a:p>
        </p:txBody>
      </p:sp>
      <p:sp>
        <p:nvSpPr>
          <p:cNvPr id="6" name="TextBox 5"/>
          <p:cNvSpPr txBox="1"/>
          <p:nvPr/>
        </p:nvSpPr>
        <p:spPr>
          <a:xfrm rot="19862060">
            <a:off x="8173832" y="3469446"/>
            <a:ext cx="766557" cy="36933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action</a:t>
            </a:r>
          </a:p>
        </p:txBody>
      </p:sp>
      <p:sp>
        <p:nvSpPr>
          <p:cNvPr id="7" name="TextBox 6"/>
          <p:cNvSpPr txBox="1"/>
          <p:nvPr/>
        </p:nvSpPr>
        <p:spPr>
          <a:xfrm rot="19862060">
            <a:off x="8173833" y="4404154"/>
            <a:ext cx="766557" cy="36933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action</a:t>
            </a:r>
          </a:p>
        </p:txBody>
      </p:sp>
      <p:sp>
        <p:nvSpPr>
          <p:cNvPr id="8" name="TextBox 7"/>
          <p:cNvSpPr txBox="1"/>
          <p:nvPr/>
        </p:nvSpPr>
        <p:spPr>
          <a:xfrm rot="19862060">
            <a:off x="8132072" y="5280078"/>
            <a:ext cx="766557" cy="36933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action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202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9253058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animBg="1"/>
      <p:bldP spid="6" grpId="0" animBg="1"/>
      <p:bldP spid="7" grpId="0" animBg="1"/>
      <p:bldP spid="8" grpId="0" animBg="1"/>
    </p:bldLst>
  </p:timing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operations on RDDs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Mapping function to each element</a:t>
            </a:r>
          </a:p>
          <a:p>
            <a:pPr lvl="1"/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squares =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data.map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(lambda x: x**2)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Filtering elements</a:t>
            </a:r>
          </a:p>
          <a:p>
            <a:pPr lvl="1"/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positives =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data.filter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(lambda x: x &gt; 0)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Reductions</a:t>
            </a:r>
          </a:p>
          <a:p>
            <a:pPr lvl="1"/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total_sum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data.reduce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(lambda a, b: a + b)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total_sum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data.sum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minimum =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data.min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sz="1800" dirty="0">
                <a:cs typeface="Courier New" panose="02070309020205020404" pitchFamily="49" charset="0"/>
              </a:rPr>
              <a:t>…</a:t>
            </a:r>
            <a:endParaRPr lang="nl-BE" dirty="0">
              <a:cs typeface="Courier New" panose="02070309020205020404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37261" y="5222081"/>
            <a:ext cx="3942169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Note: all operations are local, little need</a:t>
            </a:r>
            <a:br>
              <a:rPr lang="en-US" dirty="0"/>
            </a:br>
            <a:r>
              <a:rPr lang="en-US" dirty="0"/>
              <a:t>           to communicate between workers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3621504" y="6009225"/>
            <a:ext cx="4301755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Note: lazy evaluation, for transformations,</a:t>
            </a:r>
            <a:br>
              <a:rPr lang="en-US" dirty="0"/>
            </a:br>
            <a:r>
              <a:rPr lang="en-US" dirty="0"/>
              <a:t>           results computed only when needed</a:t>
            </a:r>
            <a:endParaRPr lang="nl-BE" dirty="0"/>
          </a:p>
        </p:txBody>
      </p:sp>
      <p:sp>
        <p:nvSpPr>
          <p:cNvPr id="6" name="TextBox 5"/>
          <p:cNvSpPr txBox="1"/>
          <p:nvPr/>
        </p:nvSpPr>
        <p:spPr>
          <a:xfrm rot="19862060">
            <a:off x="7260125" y="1734771"/>
            <a:ext cx="1591077" cy="369332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transformation</a:t>
            </a:r>
          </a:p>
        </p:txBody>
      </p:sp>
      <p:sp>
        <p:nvSpPr>
          <p:cNvPr id="7" name="TextBox 6"/>
          <p:cNvSpPr txBox="1"/>
          <p:nvPr/>
        </p:nvSpPr>
        <p:spPr>
          <a:xfrm rot="19862060">
            <a:off x="7260126" y="2810353"/>
            <a:ext cx="1591077" cy="369332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transformation</a:t>
            </a:r>
          </a:p>
        </p:txBody>
      </p:sp>
      <p:sp>
        <p:nvSpPr>
          <p:cNvPr id="8" name="TextBox 7"/>
          <p:cNvSpPr txBox="1"/>
          <p:nvPr/>
        </p:nvSpPr>
        <p:spPr>
          <a:xfrm rot="19862060">
            <a:off x="7672384" y="4114683"/>
            <a:ext cx="766557" cy="36933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action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203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342107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operations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RDDs can be interpreted as sets</a:t>
            </a:r>
          </a:p>
          <a:p>
            <a:pPr lvl="1"/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union()</a:t>
            </a:r>
          </a:p>
          <a:p>
            <a:pPr lvl="1"/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intersection()</a:t>
            </a:r>
          </a:p>
          <a:p>
            <a:pPr lvl="1"/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distinct()</a:t>
            </a:r>
            <a:r>
              <a:rPr lang="en-US" sz="1800" dirty="0">
                <a:cs typeface="Courier New" panose="02070309020205020404" pitchFamily="49" charset="0"/>
              </a:rPr>
              <a:t> (returns new RDD with unique elements)</a:t>
            </a:r>
          </a:p>
          <a:p>
            <a:r>
              <a:rPr lang="en-US" dirty="0">
                <a:cs typeface="Courier New" panose="02070309020205020404" pitchFamily="49" charset="0"/>
              </a:rPr>
              <a:t>Note: no set difference!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very expensive operation</a:t>
            </a:r>
          </a:p>
          <a:p>
            <a:r>
              <a:rPr lang="en-US" dirty="0"/>
              <a:t>Cartesian product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data1</a:t>
            </a:r>
            <a:r>
              <a:rPr lang="en-US" dirty="0"/>
              <a:t>: V</a:t>
            </a:r>
            <a:r>
              <a:rPr lang="en-US" baseline="-25000" dirty="0"/>
              <a:t>1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data2</a:t>
            </a:r>
            <a:r>
              <a:rPr lang="en-US" dirty="0"/>
              <a:t>: V</a:t>
            </a:r>
            <a:r>
              <a:rPr lang="en-US" baseline="-25000" dirty="0"/>
              <a:t>2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data1.carthesian(data2)</a:t>
            </a:r>
            <a:r>
              <a:rPr lang="en-US" dirty="0"/>
              <a:t>: (V</a:t>
            </a:r>
            <a:r>
              <a:rPr lang="en-US" baseline="-25000" dirty="0"/>
              <a:t>1</a:t>
            </a:r>
            <a:r>
              <a:rPr lang="en-US" dirty="0"/>
              <a:t>, V</a:t>
            </a:r>
            <a:r>
              <a:rPr lang="en-US" baseline="-25000" dirty="0"/>
              <a:t>2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 rot="19862060">
            <a:off x="7260125" y="2255879"/>
            <a:ext cx="1591077" cy="369332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transformation</a:t>
            </a:r>
          </a:p>
        </p:txBody>
      </p:sp>
      <p:sp>
        <p:nvSpPr>
          <p:cNvPr id="5" name="TextBox 4"/>
          <p:cNvSpPr txBox="1"/>
          <p:nvPr/>
        </p:nvSpPr>
        <p:spPr>
          <a:xfrm rot="19862060">
            <a:off x="7260126" y="4954837"/>
            <a:ext cx="1591077" cy="369332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transformation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204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83850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Key/value pairs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Often convenient (or necessary) to label data for aggregation: key/value tuples, e.g.,</a:t>
            </a:r>
          </a:p>
          <a:p>
            <a:pPr lvl="1"/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data 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sc.parallelize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(-10.0, 10.0, 1001)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signs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sc.map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(lambda x: ('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' if x &gt; 0 else '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neg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', x))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sums 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sc.reduceByKey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(lambda a, b: a + b)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result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sums.collect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Key/value based operations</a:t>
            </a:r>
          </a:p>
          <a:p>
            <a:pPr lvl="1"/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groupByKey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reduceByKey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aggregateByKey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sortByKey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countByKey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180663" y="3513661"/>
            <a:ext cx="244817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Note: pure MapReduce!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3530553" y="5190077"/>
            <a:ext cx="4012765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Note: all operations are non-local, lots of</a:t>
            </a:r>
            <a:br>
              <a:rPr lang="en-US" dirty="0"/>
            </a:br>
            <a:r>
              <a:rPr lang="en-US" dirty="0"/>
              <a:t>           communication between workers</a:t>
            </a:r>
            <a:endParaRPr lang="nl-B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205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97116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</p:bldLst>
  </p:timing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Combining RDDs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Joining key/value pair RDDs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data1</a:t>
            </a:r>
            <a:r>
              <a:rPr lang="en-US" dirty="0"/>
              <a:t>: (K, V</a:t>
            </a:r>
            <a:r>
              <a:rPr lang="en-US" baseline="-25000" dirty="0"/>
              <a:t>1</a:t>
            </a:r>
            <a:r>
              <a:rPr lang="en-US" dirty="0"/>
              <a:t>),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data2</a:t>
            </a:r>
            <a:r>
              <a:rPr lang="en-US" dirty="0"/>
              <a:t>: (K, V</a:t>
            </a:r>
            <a:r>
              <a:rPr lang="en-US" baseline="-25000" dirty="0"/>
              <a:t>2</a:t>
            </a:r>
            <a:r>
              <a:rPr lang="en-US" dirty="0"/>
              <a:t>)</a:t>
            </a:r>
          </a:p>
          <a:p>
            <a:pPr lvl="1"/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data1.join(data2)</a:t>
            </a:r>
            <a:r>
              <a:rPr lang="en-US" dirty="0"/>
              <a:t>: (K, (V</a:t>
            </a:r>
            <a:r>
              <a:rPr lang="en-US" baseline="-25000" dirty="0"/>
              <a:t>1</a:t>
            </a:r>
            <a:r>
              <a:rPr lang="en-US" dirty="0"/>
              <a:t>, V</a:t>
            </a:r>
            <a:r>
              <a:rPr lang="en-US" baseline="-25000" dirty="0"/>
              <a:t>2</a:t>
            </a:r>
            <a:r>
              <a:rPr lang="en-US" dirty="0"/>
              <a:t>)), only common keys</a:t>
            </a:r>
          </a:p>
          <a:p>
            <a:pPr lvl="1"/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leftOuterJoin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sz="2000" dirty="0"/>
              <a:t>,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rightOuterJoin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sz="2000" dirty="0"/>
              <a:t>,</a:t>
            </a:r>
            <a:r>
              <a:rPr lang="en-US" dirty="0"/>
              <a:t>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fullOuterJoin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data1.cogroup(data2)</a:t>
            </a:r>
            <a:r>
              <a:rPr lang="en-US" dirty="0"/>
              <a:t>: (K, (</a:t>
            </a:r>
            <a:r>
              <a:rPr lang="en-US" dirty="0" err="1"/>
              <a:t>iterable</a:t>
            </a:r>
            <a:r>
              <a:rPr lang="en-US" dirty="0"/>
              <a:t> V</a:t>
            </a:r>
            <a:r>
              <a:rPr lang="en-US" baseline="-25000" dirty="0"/>
              <a:t>1</a:t>
            </a:r>
            <a:r>
              <a:rPr lang="en-US" dirty="0"/>
              <a:t>, </a:t>
            </a:r>
            <a:r>
              <a:rPr lang="en-US" dirty="0" err="1"/>
              <a:t>iterable</a:t>
            </a:r>
            <a:r>
              <a:rPr lang="en-US" dirty="0"/>
              <a:t> V</a:t>
            </a:r>
            <a:r>
              <a:rPr lang="en-US" baseline="-25000" dirty="0"/>
              <a:t>2</a:t>
            </a:r>
            <a:r>
              <a:rPr lang="en-US" dirty="0"/>
              <a:t>))</a:t>
            </a:r>
          </a:p>
        </p:txBody>
      </p:sp>
      <p:sp>
        <p:nvSpPr>
          <p:cNvPr id="5" name="TextBox 4"/>
          <p:cNvSpPr txBox="1"/>
          <p:nvPr/>
        </p:nvSpPr>
        <p:spPr>
          <a:xfrm rot="19862060">
            <a:off x="7260125" y="3017891"/>
            <a:ext cx="1591077" cy="369332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transformation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206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969234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Broadcast variables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/>
              <a:t>Read-only</a:t>
            </a:r>
            <a:r>
              <a:rPr lang="en-US" dirty="0"/>
              <a:t> variable cached on each worker, e.g.,</a:t>
            </a:r>
          </a:p>
          <a:p>
            <a:pPr lvl="1"/>
            <a:r>
              <a:rPr lang="en-US" dirty="0"/>
              <a:t>parameter settings for algorithm</a:t>
            </a:r>
          </a:p>
          <a:p>
            <a:pPr lvl="1"/>
            <a:r>
              <a:rPr lang="en-US" dirty="0"/>
              <a:t>input data for parameter sweep scenarios</a:t>
            </a:r>
          </a:p>
          <a:p>
            <a:r>
              <a:rPr lang="en-US" dirty="0"/>
              <a:t>Creation</a:t>
            </a:r>
            <a:br>
              <a:rPr lang="en-US" dirty="0"/>
            </a:b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params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[0.5, 12.3]</a:t>
            </a:r>
            <a:b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global_params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sc.broadcast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params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cs typeface="Courier New" panose="02070309020205020404" pitchFamily="49" charset="0"/>
              </a:rPr>
              <a:t>Never modify </a:t>
            </a:r>
            <a:r>
              <a:rPr lang="en-US" dirty="0" err="1">
                <a:cs typeface="Courier New" panose="02070309020205020404" pitchFamily="49" charset="0"/>
              </a:rPr>
              <a:t>global_params</a:t>
            </a:r>
            <a:r>
              <a:rPr lang="en-US" dirty="0">
                <a:cs typeface="Courier New" panose="02070309020205020404" pitchFamily="49" charset="0"/>
              </a:rPr>
              <a:t>, or even </a:t>
            </a:r>
            <a:r>
              <a:rPr lang="en-US" dirty="0" err="1">
                <a:cs typeface="Courier New" panose="02070309020205020404" pitchFamily="49" charset="0"/>
              </a:rPr>
              <a:t>params</a:t>
            </a:r>
            <a:r>
              <a:rPr lang="en-US" dirty="0">
                <a:cs typeface="Courier New" panose="02070309020205020404" pitchFamily="49" charset="0"/>
              </a:rPr>
              <a:t>!</a:t>
            </a:r>
          </a:p>
          <a:p>
            <a:r>
              <a:rPr lang="en-US" dirty="0">
                <a:cs typeface="Courier New" panose="02070309020205020404" pitchFamily="49" charset="0"/>
              </a:rPr>
              <a:t>Use value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global_params.value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207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58638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Accumulators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/>
              <a:t>Update-only</a:t>
            </a:r>
            <a:r>
              <a:rPr lang="en-US" dirty="0"/>
              <a:t> variable</a:t>
            </a:r>
          </a:p>
          <a:p>
            <a:pPr lvl="1"/>
            <a:r>
              <a:rPr lang="en-US" dirty="0"/>
              <a:t>Used for counters</a:t>
            </a:r>
          </a:p>
          <a:p>
            <a:pPr lvl="1"/>
            <a:r>
              <a:rPr lang="en-US" dirty="0"/>
              <a:t>Used for cumulative sums</a:t>
            </a:r>
          </a:p>
          <a:p>
            <a:r>
              <a:rPr lang="en-US" dirty="0"/>
              <a:t>Creation</a:t>
            </a:r>
            <a:br>
              <a:rPr lang="en-US" dirty="0"/>
            </a:b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accum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sc.accumulator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(0)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Update value</a:t>
            </a:r>
            <a:br>
              <a:rPr lang="en-US" dirty="0"/>
            </a:b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accum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+= value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Final result</a:t>
            </a:r>
            <a:br>
              <a:rPr lang="en-US" dirty="0"/>
            </a:b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accum.value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800577" y="4521196"/>
            <a:ext cx="2477025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Use accumulators,</a:t>
            </a:r>
          </a:p>
          <a:p>
            <a:r>
              <a:rPr lang="en-US" sz="2400" i="1" dirty="0"/>
              <a:t>not</a:t>
            </a:r>
            <a:r>
              <a:rPr lang="en-US" sz="2400" dirty="0"/>
              <a:t> closures!</a:t>
            </a:r>
            <a:endParaRPr lang="nl-BE" sz="24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208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523234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Seems simple?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Computational model is rich</a:t>
            </a:r>
          </a:p>
          <a:p>
            <a:r>
              <a:rPr lang="en-US" dirty="0"/>
              <a:t>Spark is fairly easy to use</a:t>
            </a:r>
          </a:p>
          <a:p>
            <a:r>
              <a:rPr lang="en-US" dirty="0"/>
              <a:t>However… </a:t>
            </a:r>
            <a:r>
              <a:rPr lang="en-US" i="1" dirty="0"/>
              <a:t>very slow </a:t>
            </a:r>
            <a:r>
              <a:rPr lang="en-US" dirty="0"/>
              <a:t>when used unwisely</a:t>
            </a:r>
          </a:p>
          <a:p>
            <a:r>
              <a:rPr lang="en-US" dirty="0"/>
              <a:t>Even then… lots of overhead with respect to worker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209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06169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Shuffle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RDDs consist of partitions, distributed</a:t>
            </a:r>
          </a:p>
          <a:p>
            <a:r>
              <a:rPr lang="en-US" dirty="0"/>
              <a:t>Some operation require non-local data,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ByKey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Shuffle: data is transferred between workers</a:t>
            </a:r>
          </a:p>
          <a:p>
            <a:pPr lvl="1"/>
            <a:r>
              <a:rPr lang="en-US" dirty="0"/>
              <a:t>Expensive operation in terms of performance</a:t>
            </a:r>
          </a:p>
          <a:p>
            <a:pPr lvl="1"/>
            <a:r>
              <a:rPr lang="en-US" dirty="0"/>
              <a:t>Order of operations impacts performance</a:t>
            </a:r>
          </a:p>
          <a:p>
            <a:pPr lvl="2"/>
            <a:r>
              <a:rPr lang="en-US" dirty="0"/>
              <a:t>Reduce data size as much as possible before shuffle</a:t>
            </a:r>
          </a:p>
          <a:p>
            <a:pPr lvl="1"/>
            <a:r>
              <a:rPr lang="en-US" dirty="0"/>
              <a:t>RDDs can be repartitioned: causes shuffle, but may improve data locality</a:t>
            </a:r>
          </a:p>
          <a:p>
            <a:pPr lvl="1"/>
            <a:r>
              <a:rPr lang="en-US" dirty="0"/>
              <a:t>RDDs can be coalesced: causes shuffle, but increases partition size, so more efficient computations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9913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Caching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Partitions can be dropped to free memory</a:t>
            </a:r>
          </a:p>
          <a:p>
            <a:pPr lvl="1"/>
            <a:r>
              <a:rPr lang="en-US" dirty="0"/>
              <a:t>Need to be recomputed when needed again</a:t>
            </a:r>
          </a:p>
          <a:p>
            <a:r>
              <a:rPr lang="en-US" dirty="0"/>
              <a:t>Caching/persistence: indicate that RDD will be reused later during computation: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data.cache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Several strategies</a:t>
            </a:r>
          </a:p>
          <a:p>
            <a:pPr lvl="1"/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MEMORY_ONLY</a:t>
            </a:r>
            <a:r>
              <a:rPr lang="en-US" dirty="0"/>
              <a:t>: keep as much as possible in memory</a:t>
            </a:r>
          </a:p>
          <a:p>
            <a:pPr lvl="1"/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MEMORY_AND_DISK</a:t>
            </a:r>
            <a:r>
              <a:rPr lang="en-US" dirty="0"/>
              <a:t>: overflow to disk storage if necessary</a:t>
            </a:r>
          </a:p>
          <a:p>
            <a:pPr lvl="1"/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MEMORY_SER</a:t>
            </a:r>
            <a:r>
              <a:rPr lang="en-US" sz="1800" dirty="0">
                <a:cs typeface="Courier New" panose="02070309020205020404" pitchFamily="49" charset="0"/>
              </a:rPr>
              <a:t>, </a:t>
            </a:r>
            <a:r>
              <a:rPr lang="en-US" dirty="0"/>
              <a:t>: better memory efficiency, CPU intensive reads</a:t>
            </a:r>
          </a:p>
          <a:p>
            <a:pPr lvl="1"/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MEMORY_ONLY_2</a:t>
            </a:r>
            <a:r>
              <a:rPr lang="en-US" dirty="0"/>
              <a:t>, …: replication on two workers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211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80186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Much more…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More details about Spark, RDDs</a:t>
            </a:r>
          </a:p>
          <a:p>
            <a:r>
              <a:rPr lang="en-US" dirty="0" err="1"/>
              <a:t>SQLContext</a:t>
            </a:r>
            <a:endParaRPr lang="en-US" dirty="0"/>
          </a:p>
          <a:p>
            <a:pPr lvl="1"/>
            <a:r>
              <a:rPr lang="en-US" dirty="0" err="1"/>
              <a:t>dataframes</a:t>
            </a:r>
            <a:r>
              <a:rPr lang="en-US" dirty="0"/>
              <a:t> from</a:t>
            </a:r>
          </a:p>
          <a:p>
            <a:pPr lvl="2"/>
            <a:r>
              <a:rPr lang="en-US" dirty="0"/>
              <a:t>JSON files</a:t>
            </a:r>
          </a:p>
          <a:p>
            <a:pPr lvl="2"/>
            <a:r>
              <a:rPr lang="en-US" dirty="0"/>
              <a:t>JDBC</a:t>
            </a:r>
          </a:p>
          <a:p>
            <a:pPr lvl="2"/>
            <a:r>
              <a:rPr lang="en-US" dirty="0"/>
              <a:t>Hive</a:t>
            </a:r>
          </a:p>
          <a:p>
            <a:pPr lvl="2"/>
            <a:r>
              <a:rPr lang="en-US" dirty="0"/>
              <a:t>Parquet files</a:t>
            </a:r>
          </a:p>
          <a:p>
            <a:r>
              <a:rPr lang="en-US" dirty="0"/>
              <a:t>Machine learning library </a:t>
            </a:r>
            <a:r>
              <a:rPr lang="en-US" dirty="0" err="1"/>
              <a:t>MLlib</a:t>
            </a:r>
            <a:endParaRPr lang="en-US" dirty="0"/>
          </a:p>
          <a:p>
            <a:pPr lvl="1"/>
            <a:r>
              <a:rPr lang="en-US" dirty="0"/>
              <a:t>statistics: hypothesis testing, significance testing</a:t>
            </a:r>
          </a:p>
          <a:p>
            <a:pPr lvl="1"/>
            <a:r>
              <a:rPr lang="en-US" dirty="0"/>
              <a:t>linear models</a:t>
            </a:r>
          </a:p>
          <a:p>
            <a:pPr lvl="1"/>
            <a:r>
              <a:rPr lang="en-US" dirty="0"/>
              <a:t>naïve Bayes</a:t>
            </a:r>
          </a:p>
          <a:p>
            <a:pPr lvl="1"/>
            <a:r>
              <a:rPr lang="en-US" dirty="0"/>
              <a:t>decision trees, random forest</a:t>
            </a:r>
          </a:p>
          <a:p>
            <a:pPr lvl="1"/>
            <a:r>
              <a:rPr lang="en-US" dirty="0"/>
              <a:t>SVD, PCA</a:t>
            </a:r>
          </a:p>
          <a:p>
            <a:pPr lvl="1"/>
            <a:r>
              <a:rPr lang="en-US" dirty="0"/>
              <a:t>pattern mining</a:t>
            </a:r>
          </a:p>
          <a:p>
            <a:r>
              <a:rPr lang="en-US" dirty="0"/>
              <a:t>Graph processing library </a:t>
            </a:r>
            <a:r>
              <a:rPr lang="en-US" dirty="0" err="1"/>
              <a:t>GraphX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5833533" y="5063067"/>
            <a:ext cx="2128853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Lot of potential</a:t>
            </a:r>
          </a:p>
          <a:p>
            <a:r>
              <a:rPr lang="en-US" sz="2400" dirty="0"/>
              <a:t>in data science!</a:t>
            </a:r>
            <a:endParaRPr lang="nl-BE" sz="24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6600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PySpark</a:t>
            </a:r>
            <a:r>
              <a:rPr lang="en-US" dirty="0"/>
              <a:t> Conclusions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(Relatively) rich programming paradigm</a:t>
            </a:r>
          </a:p>
          <a:p>
            <a:r>
              <a:rPr lang="en-US" dirty="0"/>
              <a:t>Efficient when used well</a:t>
            </a:r>
          </a:p>
          <a:p>
            <a:r>
              <a:rPr lang="en-US" dirty="0"/>
              <a:t>Support multiple models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50237965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I/O</a:t>
            </a:r>
            <a:endParaRPr lang="nl-B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GB" sz="1400" dirty="0">
                <a:hlinkClick r:id="rId2"/>
              </a:rPr>
              <a:t>https://github.com/gjbex/Python-for-HPC/tree/master/source-code/hdf5</a:t>
            </a:r>
            <a:r>
              <a:rPr lang="en-GB" sz="1400" dirty="0"/>
              <a:t> </a:t>
            </a:r>
          </a:p>
          <a:p>
            <a:r>
              <a:rPr lang="nl-BE" sz="1400" dirty="0">
                <a:hlinkClick r:id="rId3"/>
              </a:rPr>
              <a:t>https://github.com/gjbex/Python-for-HPC/tree/master/source-code/file-formats</a:t>
            </a:r>
            <a:r>
              <a:rPr lang="en-GB" sz="1400" dirty="0"/>
              <a:t> </a:t>
            </a:r>
            <a:endParaRPr lang="nl-BE" sz="1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214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1801406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issue…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I/O can be intensive</a:t>
            </a:r>
          </a:p>
          <a:p>
            <a:pPr lvl="1"/>
            <a:r>
              <a:rPr lang="en-US" dirty="0"/>
              <a:t>HPC applications need to checkpoint many processes</a:t>
            </a:r>
          </a:p>
          <a:p>
            <a:pPr lvl="1"/>
            <a:r>
              <a:rPr lang="en-US" dirty="0"/>
              <a:t>Bioinformatics applications (often) read/write many small files</a:t>
            </a:r>
          </a:p>
          <a:p>
            <a:pPr lvl="1"/>
            <a:r>
              <a:rPr lang="en-US" dirty="0"/>
              <a:t>Data sets can be (very) large</a:t>
            </a:r>
          </a:p>
          <a:p>
            <a:pPr lvl="1"/>
            <a:r>
              <a:rPr lang="en-US" dirty="0"/>
              <a:t>File formats are... diverse</a:t>
            </a:r>
          </a:p>
          <a:p>
            <a:r>
              <a:rPr lang="en-US" dirty="0"/>
              <a:t>But file systems are... slow</a:t>
            </a:r>
          </a:p>
          <a:p>
            <a:endParaRPr lang="nl-BE" dirty="0"/>
          </a:p>
        </p:txBody>
      </p:sp>
      <p:sp>
        <p:nvSpPr>
          <p:cNvPr id="6" name="TextBox 5"/>
          <p:cNvSpPr txBox="1"/>
          <p:nvPr/>
        </p:nvSpPr>
        <p:spPr>
          <a:xfrm>
            <a:off x="2663725" y="5209362"/>
            <a:ext cx="4311950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600" dirty="0"/>
              <a:t>Often not considered!</a:t>
            </a:r>
            <a:endParaRPr lang="nl-BE" sz="2800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215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9217037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6" grpId="0" animBg="1"/>
    </p:bldLst>
  </p:timing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Illustration: </a:t>
            </a:r>
            <a:r>
              <a:rPr lang="en-US" dirty="0" err="1"/>
              <a:t>numpy</a:t>
            </a:r>
            <a:r>
              <a:rPr lang="en-US" dirty="0"/>
              <a:t> I/O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Reading text file with 10</a:t>
            </a:r>
            <a:r>
              <a:rPr lang="en-US" baseline="30000" dirty="0"/>
              <a:t>9</a:t>
            </a:r>
            <a:r>
              <a:rPr lang="en-US" dirty="0"/>
              <a:t> 64-bit floats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np.fromfile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='\n')</a:t>
            </a:r>
            <a:r>
              <a:rPr lang="en-US" dirty="0"/>
              <a:t>: </a:t>
            </a:r>
            <a:r>
              <a:rPr lang="en-US" dirty="0">
                <a:solidFill>
                  <a:srgbClr val="FF0000"/>
                </a:solidFill>
              </a:rPr>
              <a:t>4.6 minutes</a:t>
            </a:r>
            <a:endParaRPr lang="en-US" dirty="0">
              <a:solidFill>
                <a:srgbClr val="0070C0"/>
              </a:solidFill>
            </a:endParaRPr>
          </a:p>
          <a:p>
            <a:pPr lvl="1"/>
            <a:r>
              <a:rPr lang="en-US" dirty="0"/>
              <a:t>Advantage: human readable</a:t>
            </a:r>
          </a:p>
          <a:p>
            <a:r>
              <a:rPr lang="en-US" dirty="0"/>
              <a:t>Reading binary file with  10</a:t>
            </a:r>
            <a:r>
              <a:rPr lang="en-US" baseline="30000" dirty="0"/>
              <a:t>9</a:t>
            </a:r>
            <a:r>
              <a:rPr lang="en-US" dirty="0"/>
              <a:t> 64-bit floats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np.fromfile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      </a:t>
            </a:r>
            <a:r>
              <a:rPr lang="en-US" dirty="0">
                <a:solidFill>
                  <a:srgbClr val="FF0000"/>
                </a:solidFill>
              </a:rPr>
              <a:t>8 seconds</a:t>
            </a:r>
          </a:p>
          <a:p>
            <a:pPr lvl="1"/>
            <a:r>
              <a:rPr lang="en-US" dirty="0"/>
              <a:t>Disadvantage: harder to </a:t>
            </a:r>
            <a:r>
              <a:rPr lang="en-US" dirty="0" err="1"/>
              <a:t>interprete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216</a:t>
            </a:fld>
            <a:endParaRPr lang="nl-BE"/>
          </a:p>
        </p:txBody>
      </p:sp>
      <p:sp>
        <p:nvSpPr>
          <p:cNvPr id="6" name="TextBox 5"/>
          <p:cNvSpPr txBox="1"/>
          <p:nvPr/>
        </p:nvSpPr>
        <p:spPr>
          <a:xfrm>
            <a:off x="2125336" y="4936337"/>
            <a:ext cx="489332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Not all data formats are equal: HDF5 to the rescue</a:t>
            </a:r>
            <a:endParaRPr lang="nl-BE" dirty="0"/>
          </a:p>
        </p:txBody>
      </p:sp>
      <p:grpSp>
        <p:nvGrpSpPr>
          <p:cNvPr id="7" name="Group 6"/>
          <p:cNvGrpSpPr/>
          <p:nvPr/>
        </p:nvGrpSpPr>
        <p:grpSpPr>
          <a:xfrm>
            <a:off x="7822124" y="2574912"/>
            <a:ext cx="934490" cy="1296792"/>
            <a:chOff x="7164288" y="4766367"/>
            <a:chExt cx="1245986" cy="1729056"/>
          </a:xfrm>
        </p:grpSpPr>
        <p:sp>
          <p:nvSpPr>
            <p:cNvPr id="8" name="Curved Left Arrow 7"/>
            <p:cNvSpPr/>
            <p:nvPr/>
          </p:nvSpPr>
          <p:spPr>
            <a:xfrm>
              <a:off x="7164288" y="4766367"/>
              <a:ext cx="288032" cy="1729056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>
                <a:solidFill>
                  <a:schemeClr val="tx1"/>
                </a:solidFill>
              </a:endParaRP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7452320" y="5334584"/>
              <a:ext cx="957954" cy="6155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rgbClr val="FF0000"/>
                  </a:solidFill>
                </a:rPr>
                <a:t>35 ×</a:t>
              </a:r>
              <a:endParaRPr lang="nl-BE" sz="240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62418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EF19DF-EEF3-92C2-C214-00F3715D7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Distributed I/O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C1935B-0D17-E299-88C9-B40CCB2422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MPI applications: many processes</a:t>
            </a:r>
          </a:p>
          <a:p>
            <a:pPr lvl="1"/>
            <a:r>
              <a:rPr lang="en-US" dirty="0"/>
              <a:t>One process doing I/O?</a:t>
            </a:r>
          </a:p>
          <a:p>
            <a:pPr lvl="1"/>
            <a:r>
              <a:rPr lang="en-US" dirty="0"/>
              <a:t>All processes doing I/O!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For instance</a:t>
            </a:r>
          </a:p>
          <a:p>
            <a:pPr lvl="1"/>
            <a:r>
              <a:rPr lang="en-US" dirty="0" err="1"/>
              <a:t>Lustre</a:t>
            </a:r>
            <a:endParaRPr lang="en-US" dirty="0"/>
          </a:p>
          <a:p>
            <a:pPr lvl="1"/>
            <a:r>
              <a:rPr lang="en-US" dirty="0"/>
              <a:t>IBM Spectrum Scale (GPFS)</a:t>
            </a:r>
          </a:p>
          <a:p>
            <a:pPr lvl="1"/>
            <a:r>
              <a:rPr lang="en-US" dirty="0" err="1"/>
              <a:t>BeeGFS</a:t>
            </a:r>
            <a:endParaRPr lang="en-US" dirty="0"/>
          </a:p>
          <a:p>
            <a:pPr lvl="1"/>
            <a:r>
              <a:rPr lang="en-US" dirty="0"/>
              <a:t>...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476040-C869-5C7E-6E0F-7D143659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217</a:t>
            </a:fld>
            <a:endParaRPr lang="nl-BE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270C2AF-3F3E-8C2A-A3B1-4FFABB6F3648}"/>
              </a:ext>
            </a:extLst>
          </p:cNvPr>
          <p:cNvGrpSpPr/>
          <p:nvPr/>
        </p:nvGrpSpPr>
        <p:grpSpPr>
          <a:xfrm>
            <a:off x="1127760" y="2225040"/>
            <a:ext cx="3627120" cy="355600"/>
            <a:chOff x="1127760" y="2336800"/>
            <a:chExt cx="3627120" cy="355600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5EEBD519-FB1F-1725-D148-BCB179528185}"/>
                </a:ext>
              </a:extLst>
            </p:cNvPr>
            <p:cNvCxnSpPr>
              <a:cxnSpLocks/>
            </p:cNvCxnSpPr>
            <p:nvPr/>
          </p:nvCxnSpPr>
          <p:spPr>
            <a:xfrm>
              <a:off x="1127760" y="2336800"/>
              <a:ext cx="3627120" cy="35560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7FE702CD-FAA7-3426-63B4-8786BE12684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27760" y="2336800"/>
              <a:ext cx="3627120" cy="35560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C018962E-13BA-B08C-4E3D-5B9C5D4ACC26}"/>
              </a:ext>
            </a:extLst>
          </p:cNvPr>
          <p:cNvSpPr txBox="1"/>
          <p:nvPr/>
        </p:nvSpPr>
        <p:spPr>
          <a:xfrm>
            <a:off x="1391920" y="3172083"/>
            <a:ext cx="5959260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600" dirty="0"/>
              <a:t>You need a parallel file system!</a:t>
            </a:r>
            <a:endParaRPr lang="LID4096" sz="3600" dirty="0"/>
          </a:p>
        </p:txBody>
      </p:sp>
    </p:spTree>
    <p:extLst>
      <p:ext uri="{BB962C8B-B14F-4D97-AF65-F5344CB8AC3E}">
        <p14:creationId xmlns:p14="http://schemas.microsoft.com/office/powerpoint/2010/main" val="8937321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 animBg="1"/>
    </p:bldLst>
  </p:timing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 what is it?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000" b="1" dirty="0"/>
              <a:t>H</a:t>
            </a:r>
            <a:r>
              <a:rPr lang="en-US" dirty="0"/>
              <a:t>ierarchical </a:t>
            </a:r>
            <a:r>
              <a:rPr lang="en-US" sz="3000" b="1" dirty="0"/>
              <a:t>D</a:t>
            </a:r>
            <a:r>
              <a:rPr lang="en-US" dirty="0"/>
              <a:t>ata </a:t>
            </a:r>
            <a:r>
              <a:rPr lang="en-US" sz="3000" b="1" dirty="0"/>
              <a:t>F</a:t>
            </a:r>
            <a:r>
              <a:rPr lang="en-US" dirty="0"/>
              <a:t>ormat</a:t>
            </a:r>
          </a:p>
          <a:p>
            <a:r>
              <a:rPr lang="en-US" dirty="0"/>
              <a:t>Abstract data model</a:t>
            </a:r>
          </a:p>
          <a:p>
            <a:pPr lvl="1"/>
            <a:r>
              <a:rPr lang="en-US" dirty="0"/>
              <a:t>File</a:t>
            </a:r>
          </a:p>
          <a:p>
            <a:pPr lvl="1"/>
            <a:r>
              <a:rPr lang="en-US" dirty="0"/>
              <a:t>Group</a:t>
            </a:r>
          </a:p>
          <a:p>
            <a:pPr lvl="1"/>
            <a:r>
              <a:rPr lang="en-US" dirty="0"/>
              <a:t>Dataset</a:t>
            </a:r>
          </a:p>
          <a:p>
            <a:pPr lvl="1"/>
            <a:r>
              <a:rPr lang="en-US" dirty="0"/>
              <a:t>Data type</a:t>
            </a:r>
          </a:p>
          <a:p>
            <a:pPr lvl="1"/>
            <a:r>
              <a:rPr lang="en-US" dirty="0"/>
              <a:t>Attribute</a:t>
            </a:r>
          </a:p>
          <a:p>
            <a:r>
              <a:rPr lang="en-US" dirty="0"/>
              <a:t>Storage model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grpSp>
        <p:nvGrpSpPr>
          <p:cNvPr id="16" name="Group 15"/>
          <p:cNvGrpSpPr/>
          <p:nvPr/>
        </p:nvGrpSpPr>
        <p:grpSpPr>
          <a:xfrm>
            <a:off x="4097798" y="2979627"/>
            <a:ext cx="1333486" cy="1597912"/>
            <a:chOff x="3939729" y="2888024"/>
            <a:chExt cx="1777980" cy="2130549"/>
          </a:xfrm>
        </p:grpSpPr>
        <p:sp>
          <p:nvSpPr>
            <p:cNvPr id="8" name="TextBox 7"/>
            <p:cNvSpPr txBox="1"/>
            <p:nvPr/>
          </p:nvSpPr>
          <p:spPr>
            <a:xfrm>
              <a:off x="3939729" y="2888024"/>
              <a:ext cx="1775956" cy="553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File</a:t>
              </a:r>
              <a:r>
                <a:rPr lang="en-US" sz="2100" dirty="0"/>
                <a:t> system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939729" y="3325576"/>
              <a:ext cx="1403460" cy="4924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Directory</a:t>
              </a:r>
              <a:endParaRPr lang="en-US" sz="2100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939729" y="3747069"/>
              <a:ext cx="682238" cy="4924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File</a:t>
              </a:r>
              <a:endParaRPr lang="en-US" sz="2100" dirty="0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3939729" y="4298493"/>
              <a:ext cx="1777980" cy="720080"/>
              <a:chOff x="4067944" y="4298493"/>
              <a:chExt cx="1777980" cy="720080"/>
            </a:xfrm>
          </p:grpSpPr>
          <p:sp>
            <p:nvSpPr>
              <p:cNvPr id="11" name="Right Brace 10"/>
              <p:cNvSpPr/>
              <p:nvPr/>
            </p:nvSpPr>
            <p:spPr>
              <a:xfrm>
                <a:off x="4067944" y="4298493"/>
                <a:ext cx="216024" cy="720080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2" name="TextBox 11"/>
              <p:cNvSpPr txBox="1"/>
              <p:nvPr/>
            </p:nvSpPr>
            <p:spPr>
              <a:xfrm>
                <a:off x="4384841" y="4387693"/>
                <a:ext cx="1461083" cy="4924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Metadata</a:t>
                </a:r>
                <a:endParaRPr lang="en-US" sz="2100" dirty="0"/>
              </a:p>
            </p:txBody>
          </p:sp>
        </p:grpSp>
      </p:grpSp>
      <p:sp>
        <p:nvSpPr>
          <p:cNvPr id="14" name="TextBox 13"/>
          <p:cNvSpPr txBox="1"/>
          <p:nvPr/>
        </p:nvSpPr>
        <p:spPr>
          <a:xfrm>
            <a:off x="5535895" y="1792163"/>
            <a:ext cx="2354362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System, OS,</a:t>
            </a:r>
            <a:br>
              <a:rPr lang="en-US" dirty="0"/>
            </a:br>
            <a:r>
              <a:rPr lang="en-US" dirty="0"/>
              <a:t>programming language</a:t>
            </a:r>
            <a:br>
              <a:rPr lang="en-US" dirty="0"/>
            </a:br>
            <a:r>
              <a:rPr lang="en-US" dirty="0"/>
              <a:t>independent way of</a:t>
            </a:r>
            <a:br>
              <a:rPr lang="en-US" dirty="0"/>
            </a:br>
            <a:r>
              <a:rPr lang="en-US" dirty="0"/>
              <a:t>storing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5453" y="4847318"/>
            <a:ext cx="3095399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Documentation, comments</a:t>
            </a:r>
            <a:br>
              <a:rPr lang="en-US" dirty="0"/>
            </a:br>
            <a:r>
              <a:rPr lang="en-US" dirty="0"/>
              <a:t>in data file itself, self contained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218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47373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 animBg="1"/>
      <p:bldP spid="15" grpId="0" uiExpand="1" animBg="1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Data stored in dataset as </a:t>
            </a:r>
            <a:r>
              <a:rPr lang="en-US" i="1" dirty="0"/>
              <a:t>n</a:t>
            </a:r>
            <a:r>
              <a:rPr lang="en-US" dirty="0"/>
              <a:t>-dimensional arrays</a:t>
            </a:r>
          </a:p>
          <a:p>
            <a:pPr lvl="1"/>
            <a:r>
              <a:rPr lang="en-US" dirty="0" err="1"/>
              <a:t>Dataspace</a:t>
            </a:r>
            <a:r>
              <a:rPr lang="en-US" dirty="0"/>
              <a:t> describes layout of data (</a:t>
            </a:r>
            <a:r>
              <a:rPr lang="en-US" dirty="0" err="1"/>
              <a:t>rank,dimensions</a:t>
            </a:r>
            <a:r>
              <a:rPr lang="en-US" dirty="0"/>
              <a:t>)</a:t>
            </a:r>
          </a:p>
          <a:p>
            <a:pPr lvl="1"/>
            <a:r>
              <a:rPr lang="en-US" dirty="0" err="1"/>
              <a:t>Datatype</a:t>
            </a:r>
            <a:r>
              <a:rPr lang="en-US" dirty="0"/>
              <a:t> describes single data element</a:t>
            </a:r>
          </a:p>
          <a:p>
            <a:pPr lvl="2"/>
            <a:r>
              <a:rPr lang="en-US" dirty="0"/>
              <a:t>Atomic</a:t>
            </a:r>
          </a:p>
          <a:p>
            <a:pPr lvl="3"/>
            <a:r>
              <a:rPr lang="en-US" dirty="0"/>
              <a:t>Integer, float</a:t>
            </a:r>
          </a:p>
          <a:p>
            <a:pPr lvl="3"/>
            <a:r>
              <a:rPr lang="en-US" dirty="0"/>
              <a:t>String, time</a:t>
            </a:r>
          </a:p>
          <a:p>
            <a:pPr lvl="3"/>
            <a:r>
              <a:rPr lang="en-US" dirty="0"/>
              <a:t>Opaque</a:t>
            </a:r>
          </a:p>
          <a:p>
            <a:pPr lvl="2"/>
            <a:r>
              <a:rPr lang="en-US" dirty="0"/>
              <a:t>Composite</a:t>
            </a:r>
          </a:p>
          <a:p>
            <a:pPr lvl="3"/>
            <a:r>
              <a:rPr lang="en-US" dirty="0"/>
              <a:t>Compound</a:t>
            </a:r>
          </a:p>
          <a:p>
            <a:pPr lvl="3"/>
            <a:r>
              <a:rPr lang="en-US" dirty="0"/>
              <a:t>Enumeration</a:t>
            </a:r>
          </a:p>
          <a:p>
            <a:pPr lvl="3"/>
            <a:r>
              <a:rPr lang="en-US" dirty="0"/>
              <a:t>Array</a:t>
            </a:r>
          </a:p>
          <a:p>
            <a:pPr lvl="3"/>
            <a:r>
              <a:rPr lang="en-US" dirty="0"/>
              <a:t>Variable length</a:t>
            </a:r>
          </a:p>
          <a:p>
            <a:pPr lvl="1"/>
            <a:r>
              <a:rPr lang="en-US" dirty="0"/>
              <a:t>Partial read/writes, </a:t>
            </a:r>
            <a:r>
              <a:rPr lang="en-US" dirty="0" err="1"/>
              <a:t>hyperslab</a:t>
            </a:r>
            <a:r>
              <a:rPr lang="en-US" dirty="0"/>
              <a:t>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36069" y="3269598"/>
            <a:ext cx="3728778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Data layout &amp; type description part of</a:t>
            </a:r>
            <a:br>
              <a:rPr lang="en-US" dirty="0"/>
            </a:br>
            <a:r>
              <a:rPr lang="en-US" dirty="0"/>
              <a:t> HDF5 file:</a:t>
            </a:r>
          </a:p>
          <a:p>
            <a:pPr lvl="1">
              <a:buFont typeface="Arial" pitchFamily="34" charset="0"/>
              <a:buChar char="•"/>
            </a:pPr>
            <a:r>
              <a:rPr lang="en-US" dirty="0"/>
              <a:t>self-documenting</a:t>
            </a:r>
          </a:p>
          <a:p>
            <a:pPr lvl="1">
              <a:buFont typeface="Arial" pitchFamily="34" charset="0"/>
              <a:buChar char="•"/>
            </a:pPr>
            <a:r>
              <a:rPr lang="en-US" dirty="0"/>
              <a:t>discovery!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219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663947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3"/>
      <p:bldP spid="4" grpId="0" animBg="1"/>
    </p:bldLst>
  </p:timing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storage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Filtering</a:t>
            </a:r>
          </a:p>
          <a:p>
            <a:pPr lvl="1"/>
            <a:r>
              <a:rPr lang="en-US" dirty="0"/>
              <a:t>Compression</a:t>
            </a:r>
          </a:p>
          <a:p>
            <a:pPr lvl="1"/>
            <a:r>
              <a:rPr lang="en-US" dirty="0"/>
              <a:t>Error detection</a:t>
            </a:r>
          </a:p>
          <a:p>
            <a:r>
              <a:rPr lang="en-US" dirty="0"/>
              <a:t>Datasets can be extended</a:t>
            </a:r>
          </a:p>
          <a:p>
            <a:r>
              <a:rPr lang="en-US" dirty="0"/>
              <a:t>Storage drivers</a:t>
            </a:r>
          </a:p>
          <a:p>
            <a:pPr lvl="1"/>
            <a:r>
              <a:rPr lang="en-US" dirty="0"/>
              <a:t>Single file</a:t>
            </a:r>
          </a:p>
          <a:p>
            <a:pPr lvl="1"/>
            <a:r>
              <a:rPr lang="en-US" dirty="0"/>
              <a:t>Multiple files</a:t>
            </a:r>
          </a:p>
          <a:p>
            <a:pPr lvl="1"/>
            <a:r>
              <a:rPr lang="en-US" dirty="0"/>
              <a:t>Multiple files on parallel file system</a:t>
            </a:r>
          </a:p>
          <a:p>
            <a:pPr lvl="1"/>
            <a:r>
              <a:rPr lang="en-US" dirty="0"/>
              <a:t>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220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29461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 how to use it?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C/C++</a:t>
            </a:r>
          </a:p>
          <a:p>
            <a:r>
              <a:rPr lang="en-US" dirty="0"/>
              <a:t>Fortran 90</a:t>
            </a:r>
          </a:p>
          <a:p>
            <a:r>
              <a:rPr lang="en-US" dirty="0"/>
              <a:t>Java</a:t>
            </a:r>
          </a:p>
          <a:p>
            <a:r>
              <a:rPr lang="en-US" dirty="0"/>
              <a:t>Python</a:t>
            </a:r>
          </a:p>
          <a:p>
            <a:pPr lvl="1"/>
            <a:r>
              <a:rPr lang="en-US" dirty="0" err="1"/>
              <a:t>PyTables</a:t>
            </a:r>
            <a:r>
              <a:rPr lang="en-US" dirty="0"/>
              <a:t>, </a:t>
            </a:r>
            <a:r>
              <a:rPr lang="en-US" b="1" dirty="0">
                <a:solidFill>
                  <a:srgbClr val="FF0000"/>
                </a:solidFill>
              </a:rPr>
              <a:t>h5py</a:t>
            </a:r>
            <a:endParaRPr lang="nl-BE" b="1" dirty="0">
              <a:solidFill>
                <a:srgbClr val="FF0000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781375" y="4401108"/>
            <a:ext cx="5589800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HDF5 file can be read by program in any language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09682" y="5142819"/>
            <a:ext cx="5806461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Not so easy in C/C++/Fortran, fairly trivial in Python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221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15148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importing modules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work with HDF5 files</a:t>
            </a:r>
          </a:p>
          <a:p>
            <a:pPr lvl="1"/>
            <a:r>
              <a:rPr lang="en-US" dirty="0"/>
              <a:t>import h5py</a:t>
            </a:r>
          </a:p>
          <a:p>
            <a:pPr lvl="1"/>
            <a:r>
              <a:rPr lang="en-US" dirty="0"/>
              <a:t>if necessary (almost certainly), import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776976" y="3610995"/>
            <a:ext cx="206017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import h5py</a:t>
            </a:r>
          </a:p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 as np</a:t>
            </a:r>
          </a:p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222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89959803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&amp; close HDF5 file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Create new HDF5 file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w</a:t>
            </a:r>
            <a:r>
              <a:rPr lang="en-US" dirty="0"/>
              <a:t> for write)</a:t>
            </a:r>
          </a:p>
          <a:p>
            <a:endParaRPr lang="en-US" dirty="0"/>
          </a:p>
          <a:p>
            <a:r>
              <a:rPr lang="en-US" dirty="0"/>
              <a:t>Open HDF5 file for modification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a</a:t>
            </a:r>
            <a:r>
              <a:rPr lang="en-US" dirty="0"/>
              <a:t> for append)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reading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r</a:t>
            </a:r>
            <a:r>
              <a:rPr lang="en-US" dirty="0"/>
              <a:t> for read)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Close file</a:t>
            </a:r>
          </a:p>
          <a:p>
            <a:endParaRPr lang="en-US" dirty="0"/>
          </a:p>
          <a:p>
            <a:r>
              <a:rPr lang="en-US" dirty="0"/>
              <a:t>Preferred alternative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613784" y="2434750"/>
            <a:ext cx="5037124" cy="3000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h5file = h5py.File('data.h5', mode='w')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1670" y="3314972"/>
            <a:ext cx="5052442" cy="3000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h5file = h5py.File('data.h5', mode='a')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16988" y="4199695"/>
            <a:ext cx="5037124" cy="3000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h5file = h5py.File('data.h5', mode='r')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16990" y="5087386"/>
            <a:ext cx="5037124" cy="3000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h5file.close()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5159" y="6052228"/>
            <a:ext cx="5027888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with h5py.File('data.h5', 'w', '…') as h5file:</a:t>
            </a:r>
          </a:p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3667568" y="1917159"/>
            <a:ext cx="3294307" cy="769185"/>
            <a:chOff x="1052443" y="1706713"/>
            <a:chExt cx="4392413" cy="1025580"/>
          </a:xfrm>
        </p:grpSpPr>
        <p:sp>
          <p:nvSpPr>
            <p:cNvPr id="9" name="TextBox 8"/>
            <p:cNvSpPr txBox="1"/>
            <p:nvPr/>
          </p:nvSpPr>
          <p:spPr>
            <a:xfrm>
              <a:off x="4322327" y="1706713"/>
              <a:ext cx="1122529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>
                  <a:solidFill>
                    <a:srgbClr val="FF0000"/>
                  </a:solidFill>
                </a:rPr>
                <a:t>file name</a:t>
              </a:r>
              <a:endParaRPr lang="nl-BE" sz="1350" dirty="0">
                <a:solidFill>
                  <a:srgbClr val="FF0000"/>
                </a:solidFill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1052443" y="2445526"/>
              <a:ext cx="1224137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12" name="Straight Arrow Connector 11"/>
            <p:cNvCxnSpPr>
              <a:cxnSpLocks/>
              <a:stCxn id="9" idx="1"/>
              <a:endCxn id="10" idx="0"/>
            </p:cNvCxnSpPr>
            <p:nvPr/>
          </p:nvCxnSpPr>
          <p:spPr>
            <a:xfrm flipH="1">
              <a:off x="1664512" y="1906768"/>
              <a:ext cx="2657816" cy="538759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223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3267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uiExpand="1" animBg="1"/>
      <p:bldP spid="6" grpId="0" uiExpand="1" animBg="1"/>
      <p:bldP spid="7" grpId="0" uiExpand="1" animBg="1"/>
      <p:bldP spid="8" grpId="0" animBg="1"/>
    </p:bldLst>
  </p:timing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 group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Groups start in root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Creating a subgroup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626226" y="2408936"/>
            <a:ext cx="5404769" cy="3000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 = h5file.create_group('input')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26226" y="3386094"/>
            <a:ext cx="5404769" cy="3000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input_group.create_group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('fields')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1624381" y="3730078"/>
            <a:ext cx="5406614" cy="588419"/>
            <a:chOff x="641840" y="5414447"/>
            <a:chExt cx="7208819" cy="784558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641840" y="5798896"/>
              <a:ext cx="7208819" cy="400109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350" dirty="0" err="1">
                  <a:latin typeface="Courier New" pitchFamily="49" charset="0"/>
                  <a:cs typeface="Courier New" pitchFamily="49" charset="0"/>
                </a:rPr>
                <a:t>field_group</a:t>
              </a:r>
              <a:r>
                <a:rPr lang="en-US" sz="1350" dirty="0">
                  <a:latin typeface="Courier New" pitchFamily="49" charset="0"/>
                  <a:cs typeface="Courier New" pitchFamily="49" charset="0"/>
                </a:rPr>
                <a:t> = h5file.create_group('/input/fields')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 rot="5400000">
              <a:off x="4466335" y="5392646"/>
              <a:ext cx="387285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1500" b="1" dirty="0">
                  <a:sym typeface="Symbol"/>
                </a:rPr>
                <a:t></a:t>
              </a:r>
              <a:endParaRPr lang="nl-BE" sz="1500" b="1" dirty="0"/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5169903" y="1888389"/>
            <a:ext cx="1203999" cy="770045"/>
            <a:chOff x="4927351" y="1995984"/>
            <a:chExt cx="1605332" cy="1026726"/>
          </a:xfrm>
        </p:grpSpPr>
        <p:sp>
          <p:nvSpPr>
            <p:cNvPr id="22" name="TextBox 21"/>
            <p:cNvSpPr txBox="1"/>
            <p:nvPr/>
          </p:nvSpPr>
          <p:spPr>
            <a:xfrm>
              <a:off x="5151022" y="1995984"/>
              <a:ext cx="1381661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>
                  <a:solidFill>
                    <a:srgbClr val="0070C0"/>
                  </a:solidFill>
                </a:rPr>
                <a:t>group name</a:t>
              </a:r>
              <a:endParaRPr lang="nl-BE" sz="1350" dirty="0">
                <a:solidFill>
                  <a:srgbClr val="0070C0"/>
                </a:solidFill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927351" y="2735943"/>
              <a:ext cx="953546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24" name="Straight Arrow Connector 23"/>
            <p:cNvCxnSpPr>
              <a:stCxn id="22" idx="2"/>
              <a:endCxn id="23" idx="0"/>
            </p:cNvCxnSpPr>
            <p:nvPr/>
          </p:nvCxnSpPr>
          <p:spPr>
            <a:xfrm flipH="1">
              <a:off x="5404124" y="2396093"/>
              <a:ext cx="437728" cy="339850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224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55252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6" grpId="0" animBg="1"/>
    </p:bldLst>
  </p:timing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a dataset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/>
              <a:t> arrays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 it to HDF5 file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331641" y="2564905"/>
            <a:ext cx="5290231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 = lambda x, y: x**2 + 2*x*y</a:t>
            </a:r>
          </a:p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X, Y = 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np.meshgrid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x_dim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),</a:t>
            </a:r>
            <a:br>
              <a:rPr lang="en-US" sz="1350" dirty="0">
                <a:latin typeface="Courier New" pitchFamily="49" charset="0"/>
                <a:cs typeface="Courier New" pitchFamily="49" charset="0"/>
              </a:rPr>
            </a:br>
            <a:r>
              <a:rPr lang="en-US" sz="1350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y_dim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))</a:t>
            </a:r>
          </a:p>
          <a:p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field_values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(X, 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1641" y="4976443"/>
            <a:ext cx="6445514" cy="113107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field = 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field_group.create_dataset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('magnetic', </a:t>
            </a:r>
            <a:br>
              <a:rPr lang="en-US" sz="1350" dirty="0">
                <a:latin typeface="Courier New" pitchFamily="49" charset="0"/>
                <a:cs typeface="Courier New" pitchFamily="49" charset="0"/>
              </a:rPr>
            </a:br>
            <a:r>
              <a:rPr lang="en-US" sz="1350" dirty="0">
                <a:latin typeface="Courier New" pitchFamily="49" charset="0"/>
                <a:cs typeface="Courier New" pitchFamily="49" charset="0"/>
              </a:rPr>
              <a:t>                                   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field_values.shape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sz="1350" dirty="0">
                <a:latin typeface="Courier New" pitchFamily="49" charset="0"/>
                <a:cs typeface="Courier New" pitchFamily="49" charset="0"/>
              </a:rPr>
            </a:br>
            <a:r>
              <a:rPr lang="en-US" sz="1350" dirty="0">
                <a:latin typeface="Courier New" pitchFamily="49" charset="0"/>
                <a:cs typeface="Courier New" pitchFamily="49" charset="0"/>
              </a:rPr>
              <a:t>                                   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field_values.dtype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field[:, :] = 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field_values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[:, :]</a:t>
            </a:r>
          </a:p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169993" y="4357249"/>
            <a:ext cx="2771574" cy="867758"/>
            <a:chOff x="2611539" y="1628800"/>
            <a:chExt cx="3695431" cy="1157011"/>
          </a:xfrm>
        </p:grpSpPr>
        <p:sp>
          <p:nvSpPr>
            <p:cNvPr id="7" name="TextBox 6"/>
            <p:cNvSpPr txBox="1"/>
            <p:nvPr/>
          </p:nvSpPr>
          <p:spPr>
            <a:xfrm>
              <a:off x="3619653" y="1628800"/>
              <a:ext cx="2687317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>
                  <a:solidFill>
                    <a:srgbClr val="FF0000"/>
                  </a:solidFill>
                </a:rPr>
                <a:t>array location in hierarchy</a:t>
              </a:r>
              <a:endParaRPr lang="nl-BE" sz="1350" dirty="0">
                <a:solidFill>
                  <a:srgbClr val="FF000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611539" y="2499044"/>
              <a:ext cx="1632713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3427896" y="2028909"/>
              <a:ext cx="1535416" cy="47013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4989555" y="4577361"/>
            <a:ext cx="2478422" cy="658703"/>
            <a:chOff x="2336262" y="2339588"/>
            <a:chExt cx="3304562" cy="878271"/>
          </a:xfrm>
        </p:grpSpPr>
        <p:sp>
          <p:nvSpPr>
            <p:cNvPr id="11" name="TextBox 10"/>
            <p:cNvSpPr txBox="1"/>
            <p:nvPr/>
          </p:nvSpPr>
          <p:spPr>
            <a:xfrm>
              <a:off x="4114167" y="2339588"/>
              <a:ext cx="1526657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>
                  <a:solidFill>
                    <a:srgbClr val="0070C0"/>
                  </a:solidFill>
                </a:rPr>
                <a:t>dataset name</a:t>
              </a:r>
              <a:endParaRPr lang="nl-BE" sz="1350" dirty="0">
                <a:solidFill>
                  <a:srgbClr val="0070C0"/>
                </a:solidFill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336262" y="2931092"/>
              <a:ext cx="1368152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13" name="Straight Arrow Connector 12"/>
            <p:cNvCxnSpPr>
              <a:stCxn id="11" idx="1"/>
              <a:endCxn id="12" idx="0"/>
            </p:cNvCxnSpPr>
            <p:nvPr/>
          </p:nvCxnSpPr>
          <p:spPr>
            <a:xfrm flipH="1">
              <a:off x="3020338" y="2539643"/>
              <a:ext cx="1093829" cy="391449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Slide Number Placeholder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225</a:t>
            </a:fld>
            <a:endParaRPr lang="nl-BE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01024A1-11B8-4225-9759-5E4D7CC0846A}"/>
              </a:ext>
            </a:extLst>
          </p:cNvPr>
          <p:cNvGrpSpPr/>
          <p:nvPr/>
        </p:nvGrpSpPr>
        <p:grpSpPr>
          <a:xfrm>
            <a:off x="4989555" y="4605247"/>
            <a:ext cx="2558355" cy="1233359"/>
            <a:chOff x="2183861" y="3050716"/>
            <a:chExt cx="3411140" cy="1644479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9463E5B-10E4-457C-B771-27D46257AC8C}"/>
                </a:ext>
              </a:extLst>
            </p:cNvPr>
            <p:cNvSpPr txBox="1"/>
            <p:nvPr/>
          </p:nvSpPr>
          <p:spPr>
            <a:xfrm>
              <a:off x="4396212" y="4295086"/>
              <a:ext cx="1198789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>
                  <a:solidFill>
                    <a:srgbClr val="00B050"/>
                  </a:solidFill>
                </a:rPr>
                <a:t>dataspace</a:t>
              </a:r>
              <a:endParaRPr lang="nl-BE" sz="1350" dirty="0">
                <a:solidFill>
                  <a:srgbClr val="00B050"/>
                </a:solidFill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B59DCA0-D392-4987-AEBA-C6EFED87EB0A}"/>
                </a:ext>
              </a:extLst>
            </p:cNvPr>
            <p:cNvSpPr/>
            <p:nvPr/>
          </p:nvSpPr>
          <p:spPr>
            <a:xfrm>
              <a:off x="2183861" y="3050716"/>
              <a:ext cx="2557163" cy="569241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AFCE6BE2-CBD9-46AF-8143-EDD1E5C8F4C6}"/>
                </a:ext>
              </a:extLst>
            </p:cNvPr>
            <p:cNvCxnSpPr>
              <a:cxnSpLocks/>
              <a:stCxn id="24" idx="1"/>
              <a:endCxn id="25" idx="2"/>
            </p:cNvCxnSpPr>
            <p:nvPr/>
          </p:nvCxnSpPr>
          <p:spPr>
            <a:xfrm flipH="1" flipV="1">
              <a:off x="3462442" y="3619957"/>
              <a:ext cx="933769" cy="875183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842088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animBg="1"/>
    </p:bld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an 2D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68297" y="2024845"/>
            <a:ext cx="6172200" cy="3394472"/>
          </a:xfrm>
        </p:spPr>
        <p:txBody>
          <a:bodyPr/>
          <a:lstStyle/>
          <a:p>
            <a:r>
              <a:rPr lang="en-US" dirty="0"/>
              <a:t>Create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/>
              <a:t> array</a:t>
            </a:r>
          </a:p>
          <a:p>
            <a:endParaRPr lang="en-US" dirty="0"/>
          </a:p>
          <a:p>
            <a:r>
              <a:rPr lang="en-US" dirty="0"/>
              <a:t>Add 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331638" y="2566307"/>
            <a:ext cx="6445517" cy="3000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position_values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np.random.normal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(scale=10.0, size=(20, 2))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1641" y="3651108"/>
            <a:ext cx="6445514" cy="113107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positions = h5file.create_dataset('/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/positions'</a:t>
            </a:r>
          </a:p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                                  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position_values.shape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                                  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=np.float32)</a:t>
            </a:r>
          </a:p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Positions[:, :] = 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position_values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[:, :]</a:t>
            </a:r>
          </a:p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226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8098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Metadata annotations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a unit annotation to array</a:t>
            </a:r>
          </a:p>
          <a:p>
            <a:endParaRPr lang="en-US" dirty="0"/>
          </a:p>
          <a:p>
            <a:r>
              <a:rPr lang="en-US" dirty="0"/>
              <a:t>Adding annotation to a group</a:t>
            </a:r>
          </a:p>
          <a:p>
            <a:endParaRPr lang="en-US" dirty="0"/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attrs</a:t>
            </a:r>
            <a:r>
              <a:rPr lang="en-US" dirty="0"/>
              <a:t> behave mostly like Python dictionaries, to set, get, remove an annotation</a:t>
            </a:r>
          </a:p>
          <a:p>
            <a:pPr lvl="1"/>
            <a:r>
              <a:rPr lang="en-US" dirty="0"/>
              <a:t>iterator over attribute names: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1871701" y="2587736"/>
            <a:ext cx="5035727" cy="3000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field_group.magnetic.attrs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['units'] = '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mT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71701" y="3372889"/>
            <a:ext cx="5035727" cy="3000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field_group.attrs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['warning'] = 'do not modify'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1701" y="5152142"/>
            <a:ext cx="5035727" cy="3000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field_group.attrs.keys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227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63424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7" grpId="0" animBg="1"/>
    </p:bldLst>
  </p:timing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 an array 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entire dataset, i.e., array</a:t>
            </a:r>
          </a:p>
          <a:p>
            <a:endParaRPr lang="en-US" dirty="0"/>
          </a:p>
          <a:p>
            <a:r>
              <a:rPr lang="en-US" dirty="0"/>
              <a:t>Read slice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Read non-consecutive 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331641" y="2306572"/>
            <a:ext cx="4931999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 = h5file['input/fields/magnetic']</a:t>
            </a:r>
            <a:br>
              <a:rPr lang="en-US" sz="1350" dirty="0">
                <a:latin typeface="Courier New" pitchFamily="49" charset="0"/>
                <a:cs typeface="Courier New" pitchFamily="49" charset="0"/>
              </a:rPr>
            </a:br>
            <a:r>
              <a:rPr lang="en-US" sz="1350" dirty="0">
                <a:latin typeface="Courier New" pitchFamily="49" charset="0"/>
                <a:cs typeface="Courier New" pitchFamily="49" charset="0"/>
              </a:rPr>
              <a:t>print(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np.average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1641" y="3320988"/>
            <a:ext cx="4931999" cy="3000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pos = h5file['/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/positions'][3:7, :]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4782306" y="3350440"/>
            <a:ext cx="2608452" cy="965740"/>
            <a:chOff x="3704414" y="1421602"/>
            <a:chExt cx="3477935" cy="1287652"/>
          </a:xfrm>
        </p:grpSpPr>
        <p:sp>
          <p:nvSpPr>
            <p:cNvPr id="7" name="TextBox 6"/>
            <p:cNvSpPr txBox="1"/>
            <p:nvPr/>
          </p:nvSpPr>
          <p:spPr>
            <a:xfrm>
              <a:off x="4550774" y="2032146"/>
              <a:ext cx="2631575" cy="67710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sz="1350" dirty="0">
                  <a:solidFill>
                    <a:srgbClr val="7030A0"/>
                  </a:solidFill>
                </a:rPr>
              </a:br>
              <a:r>
                <a:rPr lang="en-US" sz="1350" dirty="0">
                  <a:solidFill>
                    <a:srgbClr val="7030A0"/>
                  </a:solidFill>
                </a:rPr>
                <a:t>of 4 particles</a:t>
              </a:r>
              <a:endParaRPr lang="nl-BE" sz="1350" dirty="0">
                <a:solidFill>
                  <a:srgbClr val="7030A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3704414" y="1421602"/>
              <a:ext cx="1071088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9" name="Straight Arrow Connector 8"/>
            <p:cNvCxnSpPr>
              <a:cxnSpLocks/>
            </p:cNvCxnSpPr>
            <p:nvPr/>
          </p:nvCxnSpPr>
          <p:spPr>
            <a:xfrm flipH="1" flipV="1">
              <a:off x="4567755" y="1708369"/>
              <a:ext cx="1595046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1331641" y="4893176"/>
            <a:ext cx="4931999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indices = [2, 4, 6]</a:t>
            </a:r>
          </a:p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pos = h5file['/c0ords/positions'][indices, :]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4791798" y="5138651"/>
            <a:ext cx="2608452" cy="965740"/>
            <a:chOff x="3704414" y="1421602"/>
            <a:chExt cx="3477935" cy="1287652"/>
          </a:xfrm>
        </p:grpSpPr>
        <p:sp>
          <p:nvSpPr>
            <p:cNvPr id="13" name="TextBox 12"/>
            <p:cNvSpPr txBox="1"/>
            <p:nvPr/>
          </p:nvSpPr>
          <p:spPr>
            <a:xfrm>
              <a:off x="4550774" y="2032146"/>
              <a:ext cx="2631575" cy="67710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sz="1350" dirty="0">
                  <a:solidFill>
                    <a:srgbClr val="7030A0"/>
                  </a:solidFill>
                </a:rPr>
              </a:br>
              <a:r>
                <a:rPr lang="en-US" sz="1350" dirty="0">
                  <a:solidFill>
                    <a:srgbClr val="7030A0"/>
                  </a:solidFill>
                </a:rPr>
                <a:t>of 3</a:t>
              </a:r>
              <a:r>
                <a:rPr lang="en-US" sz="1350" baseline="30000" dirty="0">
                  <a:solidFill>
                    <a:srgbClr val="7030A0"/>
                  </a:solidFill>
                </a:rPr>
                <a:t>rd</a:t>
              </a:r>
              <a:r>
                <a:rPr lang="en-US" sz="1350" dirty="0">
                  <a:solidFill>
                    <a:srgbClr val="7030A0"/>
                  </a:solidFill>
                </a:rPr>
                <a:t>, 5</a:t>
              </a:r>
              <a:r>
                <a:rPr lang="en-US" sz="1350" baseline="30000" dirty="0">
                  <a:solidFill>
                    <a:srgbClr val="7030A0"/>
                  </a:solidFill>
                </a:rPr>
                <a:t>th</a:t>
              </a:r>
              <a:r>
                <a:rPr lang="en-US" sz="1350" dirty="0">
                  <a:solidFill>
                    <a:srgbClr val="7030A0"/>
                  </a:solidFill>
                </a:rPr>
                <a:t>, and 7</a:t>
              </a:r>
              <a:r>
                <a:rPr lang="en-US" sz="1350" baseline="30000" dirty="0">
                  <a:solidFill>
                    <a:srgbClr val="7030A0"/>
                  </a:solidFill>
                </a:rPr>
                <a:t>th</a:t>
              </a:r>
              <a:r>
                <a:rPr lang="en-US" sz="1350" dirty="0">
                  <a:solidFill>
                    <a:srgbClr val="7030A0"/>
                  </a:solidFill>
                </a:rPr>
                <a:t> particle</a:t>
              </a:r>
              <a:endParaRPr lang="nl-BE" sz="1350" dirty="0">
                <a:solidFill>
                  <a:srgbClr val="7030A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704414" y="1421602"/>
              <a:ext cx="1584176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15" name="Straight Arrow Connector 14"/>
            <p:cNvCxnSpPr>
              <a:stCxn id="13" idx="0"/>
              <a:endCxn id="14" idx="2"/>
            </p:cNvCxnSpPr>
            <p:nvPr/>
          </p:nvCxnSpPr>
          <p:spPr>
            <a:xfrm flipH="1" flipV="1">
              <a:off x="4496502" y="1708368"/>
              <a:ext cx="1370060" cy="323777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/>
          <p:cNvSpPr txBox="1"/>
          <p:nvPr/>
        </p:nvSpPr>
        <p:spPr>
          <a:xfrm>
            <a:off x="2339310" y="5946098"/>
            <a:ext cx="1470724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 err="1"/>
              <a:t>Hyperslabs</a:t>
            </a:r>
            <a:r>
              <a:rPr lang="en-US" sz="2100" dirty="0"/>
              <a:t>!</a:t>
            </a:r>
            <a:endParaRPr lang="nl-BE" sz="2100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228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262853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1" grpId="0" animBg="1"/>
      <p:bldP spid="16" grpId="0" animBg="1"/>
    </p:bldLst>
  </p:timing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Open file for parallel I/O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Each process writes its own data, location based on MPI rank</a:t>
            </a:r>
          </a:p>
          <a:p>
            <a:endParaRPr lang="en-US" dirty="0"/>
          </a:p>
          <a:p>
            <a:endParaRPr lang="nl-B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F14853A-C698-1340-9635-11C49E471950}"/>
              </a:ext>
            </a:extLst>
          </p:cNvPr>
          <p:cNvSpPr txBox="1"/>
          <p:nvPr/>
        </p:nvSpPr>
        <p:spPr>
          <a:xfrm>
            <a:off x="992162" y="2756880"/>
            <a:ext cx="7285642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with h5py.File(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file_name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, 'w', driver='</a:t>
            </a:r>
            <a:r>
              <a:rPr lang="en-US" sz="1350" dirty="0" err="1">
                <a:latin typeface="Courier New" pitchFamily="49" charset="0"/>
                <a:cs typeface="Courier New" pitchFamily="49" charset="0"/>
              </a:rPr>
              <a:t>mpio</a:t>
            </a:r>
            <a:r>
              <a:rPr lang="en-US" sz="1350" dirty="0">
                <a:latin typeface="Courier New" pitchFamily="49" charset="0"/>
                <a:cs typeface="Courier New" pitchFamily="49" charset="0"/>
              </a:rPr>
              <a:t>', comm=comm) as h5file:</a:t>
            </a:r>
          </a:p>
          <a:p>
            <a:r>
              <a:rPr lang="en-US" sz="1350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Parallel I/O with HDF5</a:t>
            </a:r>
            <a:endParaRPr lang="nl-BE" dirty="0"/>
          </a:p>
        </p:txBody>
      </p:sp>
      <p:grpSp>
        <p:nvGrpSpPr>
          <p:cNvPr id="13" name="Group 12"/>
          <p:cNvGrpSpPr/>
          <p:nvPr/>
        </p:nvGrpSpPr>
        <p:grpSpPr>
          <a:xfrm>
            <a:off x="3584984" y="2260829"/>
            <a:ext cx="2041976" cy="735849"/>
            <a:chOff x="-595117" y="2476569"/>
            <a:chExt cx="2722641" cy="981128"/>
          </a:xfrm>
        </p:grpSpPr>
        <p:sp>
          <p:nvSpPr>
            <p:cNvPr id="9" name="TextBox 8"/>
            <p:cNvSpPr txBox="1"/>
            <p:nvPr/>
          </p:nvSpPr>
          <p:spPr>
            <a:xfrm>
              <a:off x="-595117" y="2476569"/>
              <a:ext cx="1376874" cy="40010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>
                  <a:solidFill>
                    <a:srgbClr val="FF0000"/>
                  </a:solidFill>
                </a:rPr>
                <a:t>Use MPI I/O</a:t>
              </a:r>
              <a:endParaRPr lang="nl-BE" sz="1350" dirty="0">
                <a:solidFill>
                  <a:srgbClr val="FF0000"/>
                </a:solidFill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291845" y="3170929"/>
              <a:ext cx="1835679" cy="286768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12" name="Straight Arrow Connector 11"/>
            <p:cNvCxnSpPr>
              <a:cxnSpLocks/>
              <a:stCxn id="9" idx="2"/>
              <a:endCxn id="10" idx="0"/>
            </p:cNvCxnSpPr>
            <p:nvPr/>
          </p:nvCxnSpPr>
          <p:spPr>
            <a:xfrm>
              <a:off x="93321" y="2876677"/>
              <a:ext cx="1116364" cy="29425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229</a:t>
            </a:fld>
            <a:endParaRPr lang="nl-BE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2FA5093-1A18-C26E-FE7B-673AF619EEAE}"/>
              </a:ext>
            </a:extLst>
          </p:cNvPr>
          <p:cNvGrpSpPr/>
          <p:nvPr/>
        </p:nvGrpSpPr>
        <p:grpSpPr>
          <a:xfrm>
            <a:off x="5773022" y="2275006"/>
            <a:ext cx="1624370" cy="728764"/>
            <a:chOff x="392030" y="2486017"/>
            <a:chExt cx="2165832" cy="97168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DAFFBF0-CAB8-5F21-B4CE-36B7D5CDF698}"/>
                </a:ext>
              </a:extLst>
            </p:cNvPr>
            <p:cNvSpPr txBox="1"/>
            <p:nvPr/>
          </p:nvSpPr>
          <p:spPr>
            <a:xfrm>
              <a:off x="520121" y="2486017"/>
              <a:ext cx="2037741" cy="4001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>
                  <a:solidFill>
                    <a:srgbClr val="0070C0"/>
                  </a:solidFill>
                </a:rPr>
                <a:t>MPI communicator</a:t>
              </a:r>
              <a:endParaRPr lang="nl-BE" sz="1350" dirty="0">
                <a:solidFill>
                  <a:srgbClr val="0070C0"/>
                </a:solidFill>
              </a:endParaRP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DEA2F28B-0C10-4C0B-A003-C6BB66DD67D8}"/>
                </a:ext>
              </a:extLst>
            </p:cNvPr>
            <p:cNvSpPr/>
            <p:nvPr/>
          </p:nvSpPr>
          <p:spPr>
            <a:xfrm>
              <a:off x="392030" y="3170929"/>
              <a:ext cx="1385206" cy="286768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>
                <a:solidFill>
                  <a:srgbClr val="0070C0"/>
                </a:solidFill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A5199A-8F0D-0CDF-B15B-549BADD789D8}"/>
                </a:ext>
              </a:extLst>
            </p:cNvPr>
            <p:cNvCxnSpPr>
              <a:cxnSpLocks/>
              <a:stCxn id="20" idx="2"/>
              <a:endCxn id="21" idx="0"/>
            </p:cNvCxnSpPr>
            <p:nvPr/>
          </p:nvCxnSpPr>
          <p:spPr>
            <a:xfrm flipH="1">
              <a:off x="1084633" y="2886124"/>
              <a:ext cx="454358" cy="284805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6774C090-D8E4-FED3-D4A8-F05423A54177}"/>
              </a:ext>
            </a:extLst>
          </p:cNvPr>
          <p:cNvSpPr txBox="1"/>
          <p:nvPr/>
        </p:nvSpPr>
        <p:spPr>
          <a:xfrm>
            <a:off x="992162" y="4270247"/>
            <a:ext cx="7285642" cy="3000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350" dirty="0">
                <a:latin typeface="Courier New" pitchFamily="49" charset="0"/>
                <a:cs typeface="Courier New" pitchFamily="49" charset="0"/>
              </a:rPr>
              <a:t>data_set[offset:offset + nr_values] = data</a:t>
            </a:r>
            <a:endParaRPr lang="en-US" sz="135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74ED6FDF-4C2F-7AE3-C5CF-5597B0837DF4}"/>
              </a:ext>
            </a:extLst>
          </p:cNvPr>
          <p:cNvGrpSpPr/>
          <p:nvPr/>
        </p:nvGrpSpPr>
        <p:grpSpPr>
          <a:xfrm>
            <a:off x="1840113" y="4270248"/>
            <a:ext cx="2838214" cy="883956"/>
            <a:chOff x="231360" y="3070898"/>
            <a:chExt cx="3784294" cy="1178601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E20D842-2704-2C89-FEED-60A5964E0D2C}"/>
                </a:ext>
              </a:extLst>
            </p:cNvPr>
            <p:cNvSpPr txBox="1"/>
            <p:nvPr/>
          </p:nvSpPr>
          <p:spPr>
            <a:xfrm>
              <a:off x="231360" y="3849392"/>
              <a:ext cx="2875923" cy="4001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>
                  <a:solidFill>
                    <a:srgbClr val="0070C0"/>
                  </a:solidFill>
                </a:rPr>
                <a:t>Based on MPI rank, MPI size</a:t>
              </a:r>
              <a:endParaRPr lang="nl-BE" sz="1350" dirty="0">
                <a:solidFill>
                  <a:srgbClr val="0070C0"/>
                </a:solidFill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7EBBCA0F-2C55-692D-EE9B-795D2011BC92}"/>
                </a:ext>
              </a:extLst>
            </p:cNvPr>
            <p:cNvSpPr/>
            <p:nvPr/>
          </p:nvSpPr>
          <p:spPr>
            <a:xfrm>
              <a:off x="325872" y="3070898"/>
              <a:ext cx="3689782" cy="386799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>
                <a:solidFill>
                  <a:srgbClr val="0070C0"/>
                </a:solidFill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CE0E8A89-259C-B07C-F2D0-FB9F47A2A92A}"/>
                </a:ext>
              </a:extLst>
            </p:cNvPr>
            <p:cNvCxnSpPr>
              <a:cxnSpLocks/>
              <a:stCxn id="30" idx="0"/>
            </p:cNvCxnSpPr>
            <p:nvPr/>
          </p:nvCxnSpPr>
          <p:spPr>
            <a:xfrm flipV="1">
              <a:off x="1669322" y="3457697"/>
              <a:ext cx="701824" cy="391695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068334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4" grpId="0" animBg="1"/>
      <p:bldP spid="27" grpId="0" animBg="1"/>
    </p:bldLst>
  </p:timing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command line utilities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11277"/>
            <a:ext cx="7886700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h5dump</a:t>
            </a:r>
          </a:p>
          <a:p>
            <a:pPr lvl="1"/>
            <a:r>
              <a:rPr lang="en-US" dirty="0"/>
              <a:t>Print a textual representation of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h5ls</a:t>
            </a:r>
          </a:p>
          <a:p>
            <a:pPr lvl="1"/>
            <a:r>
              <a:rPr lang="en-US" dirty="0"/>
              <a:t>Explore structure of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h5copy</a:t>
            </a:r>
          </a:p>
          <a:p>
            <a:pPr lvl="1"/>
            <a:r>
              <a:rPr lang="en-US" dirty="0"/>
              <a:t>Copy data set from one HDF5 file to another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h5mkgrp</a:t>
            </a:r>
          </a:p>
          <a:p>
            <a:pPr lvl="1"/>
            <a:r>
              <a:rPr lang="en-US" dirty="0"/>
              <a:t>Create a group in an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h5cc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h5c++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h5fc</a:t>
            </a:r>
          </a:p>
          <a:p>
            <a:pPr lvl="1"/>
            <a:r>
              <a:rPr lang="en-US" dirty="0"/>
              <a:t>Compile wrappers</a:t>
            </a:r>
          </a:p>
          <a:p>
            <a:pPr lvl="1"/>
            <a:r>
              <a:rPr lang="en-US" dirty="0"/>
              <a:t>With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showconfig</a:t>
            </a:r>
            <a:r>
              <a:rPr lang="en-US" dirty="0"/>
              <a:t> shows library features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230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19707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684DA-F2D0-D444-D26B-58FDF02F0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science &amp; large files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971086-317F-2DC6-BA70-09EDD4D0B9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HDF5 for machine learning</a:t>
            </a:r>
          </a:p>
          <a:p>
            <a:r>
              <a:rPr lang="en-US" dirty="0"/>
              <a:t>pandas storing large </a:t>
            </a:r>
            <a:r>
              <a:rPr lang="en-US" dirty="0" err="1"/>
              <a:t>dataframes</a:t>
            </a:r>
            <a:endParaRPr lang="en-US" dirty="0"/>
          </a:p>
          <a:p>
            <a:pPr lvl="1"/>
            <a:r>
              <a:rPr lang="en-US" dirty="0"/>
              <a:t>CSV files</a:t>
            </a:r>
          </a:p>
          <a:p>
            <a:pPr lvl="1"/>
            <a:r>
              <a:rPr lang="en-US" dirty="0"/>
              <a:t>HDF5</a:t>
            </a:r>
          </a:p>
          <a:p>
            <a:pPr lvl="1"/>
            <a:r>
              <a:rPr lang="en-US" dirty="0"/>
              <a:t>Parquet files</a:t>
            </a:r>
          </a:p>
          <a:p>
            <a:pPr lvl="1"/>
            <a:r>
              <a:rPr lang="en-US" dirty="0"/>
              <a:t>Feather files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2B9B9B-9A48-704B-F633-0A9D38AD4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231</a:t>
            </a:fld>
            <a:endParaRPr lang="nl-BE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29EDE45-25AF-6EEC-F696-EDAA61809E32}"/>
              </a:ext>
            </a:extLst>
          </p:cNvPr>
          <p:cNvGrpSpPr/>
          <p:nvPr/>
        </p:nvGrpSpPr>
        <p:grpSpPr>
          <a:xfrm>
            <a:off x="1388962" y="2861647"/>
            <a:ext cx="1074131" cy="177800"/>
            <a:chOff x="3680749" y="2336800"/>
            <a:chExt cx="1074131" cy="177800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8B39F748-6A5B-2080-CB76-9CFCE2D5D09A}"/>
                </a:ext>
              </a:extLst>
            </p:cNvPr>
            <p:cNvCxnSpPr>
              <a:cxnSpLocks/>
            </p:cNvCxnSpPr>
            <p:nvPr/>
          </p:nvCxnSpPr>
          <p:spPr>
            <a:xfrm>
              <a:off x="3680749" y="2336800"/>
              <a:ext cx="937549" cy="17780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3BA5CDC1-BB48-B496-A50F-30A06C20055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80749" y="2336800"/>
              <a:ext cx="1074131" cy="17780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8BFA702A-875C-4E8F-99FF-D12F0CFC4C9B}"/>
              </a:ext>
            </a:extLst>
          </p:cNvPr>
          <p:cNvSpPr txBox="1"/>
          <p:nvPr/>
        </p:nvSpPr>
        <p:spPr>
          <a:xfrm>
            <a:off x="4178629" y="4861367"/>
            <a:ext cx="3308021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 notebook for benchmarks</a:t>
            </a:r>
            <a:endParaRPr lang="LID4096" sz="2000" dirty="0"/>
          </a:p>
        </p:txBody>
      </p:sp>
    </p:spTree>
    <p:extLst>
      <p:ext uri="{BB962C8B-B14F-4D97-AF65-F5344CB8AC3E}">
        <p14:creationId xmlns:p14="http://schemas.microsoft.com/office/powerpoint/2010/main" val="9621195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 animBg="1"/>
    </p:bldLst>
  </p:timing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533EC8-4B86-78A5-CA66-DF931906A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065933-8943-1DD7-85E0-AB428FA368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the right file format!</a:t>
            </a:r>
          </a:p>
          <a:p>
            <a:r>
              <a:rPr lang="en-US" dirty="0"/>
              <a:t>Use parallel I/O when possible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69B9C6-67F6-E8BC-DD26-319C49A1A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8D7BD-8F5D-4544-8D4B-27B7BC6C32CD}" type="slidenum">
              <a:rPr lang="nl-BE" smtClean="0"/>
              <a:t>232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03628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3900</TotalTime>
  <Words>17806</Words>
  <Application>Microsoft Office PowerPoint</Application>
  <PresentationFormat>On-screen Show (4:3)</PresentationFormat>
  <Paragraphs>3194</Paragraphs>
  <Slides>232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232</vt:i4>
      </vt:variant>
    </vt:vector>
  </HeadingPairs>
  <TitlesOfParts>
    <vt:vector size="242" baseType="lpstr">
      <vt:lpstr>Arial</vt:lpstr>
      <vt:lpstr>Calibri</vt:lpstr>
      <vt:lpstr>Calibri Light</vt:lpstr>
      <vt:lpstr>Cambria Math</vt:lpstr>
      <vt:lpstr>Courier New</vt:lpstr>
      <vt:lpstr>Symbol</vt:lpstr>
      <vt:lpstr>Tahoma</vt:lpstr>
      <vt:lpstr>Times New Roman</vt:lpstr>
      <vt:lpstr>Office Theme</vt:lpstr>
      <vt:lpstr>Equation</vt:lpstr>
      <vt:lpstr>Python for HPC</vt:lpstr>
      <vt:lpstr>PowerPoint Presentation</vt:lpstr>
      <vt:lpstr>PowerPoint Presentation</vt:lpstr>
      <vt:lpstr>Typographical conventions I</vt:lpstr>
      <vt:lpstr>Typographical conventions II</vt:lpstr>
      <vt:lpstr>General considerations</vt:lpstr>
      <vt:lpstr>Out of the box</vt:lpstr>
      <vt:lpstr>Python performance</vt:lpstr>
      <vt:lpstr>Libraries for numeric computation</vt:lpstr>
      <vt:lpstr>Python using numpy</vt:lpstr>
      <vt:lpstr>Intel &amp; Python</vt:lpstr>
      <vt:lpstr>Alternative interpreter</vt:lpstr>
      <vt:lpstr>numpy &amp; numexpr</vt:lpstr>
      <vt:lpstr>numexpr examples</vt:lpstr>
      <vt:lpstr>Further reading</vt:lpstr>
      <vt:lpstr>Profiling</vt:lpstr>
      <vt:lpstr>Profiling approaches</vt:lpstr>
      <vt:lpstr>Timing functions</vt:lpstr>
      <vt:lpstr>Profiler</vt:lpstr>
      <vt:lpstr>Visual profiles: snakeviz</vt:lpstr>
      <vt:lpstr>line_profiler</vt:lpstr>
      <vt:lpstr>Optimization workflow</vt:lpstr>
      <vt:lpstr>If you don't profile…</vt:lpstr>
      <vt:lpstr>numba to speed up Python</vt:lpstr>
      <vt:lpstr>numba</vt:lpstr>
      <vt:lpstr>Motivating example: timings</vt:lpstr>
      <vt:lpstr>Motivating example: code</vt:lpstr>
      <vt:lpstr>Does it always work?</vt:lpstr>
      <vt:lpstr>Does it always work: timings?</vt:lpstr>
      <vt:lpstr>Eager JIT</vt:lpstr>
      <vt:lpstr>Type mapping</vt:lpstr>
      <vt:lpstr>numpy ufunc</vt:lpstr>
      <vt:lpstr>ufunc example</vt:lpstr>
      <vt:lpstr>numba conclusions</vt:lpstr>
      <vt:lpstr>Cython to speed up Python</vt:lpstr>
      <vt:lpstr>Cython</vt:lpstr>
      <vt:lpstr>Motivating example: timings</vt:lpstr>
      <vt:lpstr>Motivating example: code</vt:lpstr>
      <vt:lpstr>Motivating example: setup.py, building &amp; using</vt:lpstr>
      <vt:lpstr>Alternative: .pyx files</vt:lpstr>
      <vt:lpstr>Cython &amp; cProfile</vt:lpstr>
      <vt:lpstr>Switching on profiling</vt:lpstr>
      <vt:lpstr>Where to start?</vt:lpstr>
      <vt:lpstr>Python type declarations</vt:lpstr>
      <vt:lpstr>Cython type declarations</vt:lpstr>
      <vt:lpstr>Type mapping</vt:lpstr>
      <vt:lpstr>Type casts &amp; typedefs</vt:lpstr>
      <vt:lpstr>Type casts &amp; typedefs</vt:lpstr>
      <vt:lpstr>Cython structures</vt:lpstr>
      <vt:lpstr>Python structures</vt:lpstr>
      <vt:lpstr>Cython pointers</vt:lpstr>
      <vt:lpstr>Python pointers</vt:lpstr>
      <vt:lpstr>Buffer protocol</vt:lpstr>
      <vt:lpstr>numpy arrays</vt:lpstr>
      <vt:lpstr>memoryview</vt:lpstr>
      <vt:lpstr>Cython: three types of functions</vt:lpstr>
      <vt:lpstr>Python: three types of functions</vt:lpstr>
      <vt:lpstr>Cython function signature</vt:lpstr>
      <vt:lpstr>Python function signature</vt:lpstr>
      <vt:lpstr>Cython error return value</vt:lpstr>
      <vt:lpstr>Python error return value</vt:lpstr>
      <vt:lpstr>Extension types aka cdef classes</vt:lpstr>
      <vt:lpstr>Cython extension types</vt:lpstr>
      <vt:lpstr>Python extension types</vt:lpstr>
      <vt:lpstr>Cython attribute access control</vt:lpstr>
      <vt:lpstr>Python attribute access control</vt:lpstr>
      <vt:lpstr>Getter/setters</vt:lpstr>
      <vt:lpstr>Allocating/deallocating memory</vt:lpstr>
      <vt:lpstr>Inheritance</vt:lpstr>
      <vt:lpstr>Python &amp; thread safety</vt:lpstr>
      <vt:lpstr>Parallelization in Cython</vt:lpstr>
      <vt:lpstr>Julia set</vt:lpstr>
      <vt:lpstr>Julia set timings</vt:lpstr>
      <vt:lpstr>Schedules</vt:lpstr>
      <vt:lpstr>Reductions</vt:lpstr>
      <vt:lpstr>Setup file</vt:lpstr>
      <vt:lpstr>File types and import</vt:lpstr>
      <vt:lpstr>Declaration/implementation</vt:lpstr>
      <vt:lpstr>Cython conclusions</vt:lpstr>
      <vt:lpstr>References</vt:lpstr>
      <vt:lpstr>Interfacing Python and C/C++/Fortran</vt:lpstr>
      <vt:lpstr>Motivation</vt:lpstr>
      <vt:lpstr>Options</vt:lpstr>
      <vt:lpstr>ctypes</vt:lpstr>
      <vt:lpstr>Logistic map</vt:lpstr>
      <vt:lpstr>Simple example: logistic map</vt:lpstr>
      <vt:lpstr>Creating a shared library</vt:lpstr>
      <vt:lpstr>Test the library</vt:lpstr>
      <vt:lpstr>Using library from Python</vt:lpstr>
      <vt:lpstr>Putting it all together</vt:lpstr>
      <vt:lpstr>Fundamental types</vt:lpstr>
      <vt:lpstr>C structures: points</vt:lpstr>
      <vt:lpstr>Python structures</vt:lpstr>
      <vt:lpstr>C arrays: statistics</vt:lpstr>
      <vt:lpstr>Python arrays</vt:lpstr>
      <vt:lpstr>Doing the math…</vt:lpstr>
      <vt:lpstr>ctypes conclusions</vt:lpstr>
      <vt:lpstr>SWIG &amp; C++</vt:lpstr>
      <vt:lpstr>Point class</vt:lpstr>
      <vt:lpstr>SWIG interface file</vt:lpstr>
      <vt:lpstr>Shared library</vt:lpstr>
      <vt:lpstr>Makefile</vt:lpstr>
      <vt:lpstr>Dealing with C arrays</vt:lpstr>
      <vt:lpstr>Using from Python</vt:lpstr>
      <vt:lpstr>SWIG conclusions</vt:lpstr>
      <vt:lpstr>pybind11</vt:lpstr>
      <vt:lpstr>C++ functions</vt:lpstr>
      <vt:lpstr>Building</vt:lpstr>
      <vt:lpstr>C++ classes</vt:lpstr>
      <vt:lpstr>Bindings</vt:lpstr>
      <vt:lpstr>pybind11 conclusions</vt:lpstr>
      <vt:lpstr>f2py3</vt:lpstr>
      <vt:lpstr>Computing π</vt:lpstr>
      <vt:lpstr>Using the Fortran routine</vt:lpstr>
      <vt:lpstr>Using arrays</vt:lpstr>
      <vt:lpstr>Using Python list/numpy arrays</vt:lpstr>
      <vt:lpstr>Makefile</vt:lpstr>
      <vt:lpstr>f2py3 conclusions</vt:lpstr>
      <vt:lpstr>Wrapping conclusions</vt:lpstr>
      <vt:lpstr>Multicore programming in Python</vt:lpstr>
      <vt:lpstr>Concurrent programming</vt:lpstr>
      <vt:lpstr>Threads in Python</vt:lpstr>
      <vt:lpstr>numpy</vt:lpstr>
      <vt:lpstr>Linear algebra</vt:lpstr>
      <vt:lpstr>Scaling numpy.dot</vt:lpstr>
      <vt:lpstr>Scaling sp.linalg.svd</vt:lpstr>
      <vt:lpstr>multiprocessing</vt:lpstr>
      <vt:lpstr>Example</vt:lpstr>
      <vt:lpstr>Count a chunk</vt:lpstr>
      <vt:lpstr>Throw'em in the pool!</vt:lpstr>
      <vt:lpstr>Scaling</vt:lpstr>
      <vt:lpstr>Pool methods</vt:lpstr>
      <vt:lpstr>Results</vt:lpstr>
      <vt:lpstr>Shared memory</vt:lpstr>
      <vt:lpstr>Computing a part of </vt:lpstr>
      <vt:lpstr>Computing it all</vt:lpstr>
      <vt:lpstr>Sharing chunks of bytes</vt:lpstr>
      <vt:lpstr>Creating shared memory</vt:lpstr>
      <vt:lpstr>Passing shared memory</vt:lpstr>
      <vt:lpstr>Using shared memory</vt:lpstr>
      <vt:lpstr>Scaling</vt:lpstr>
      <vt:lpstr>futures</vt:lpstr>
      <vt:lpstr>Pools again</vt:lpstr>
      <vt:lpstr>Future objects</vt:lpstr>
      <vt:lpstr> from the future</vt:lpstr>
      <vt:lpstr>Multicore conclusions</vt:lpstr>
      <vt:lpstr>Dask for out-of-core &amp; distributed computing</vt:lpstr>
      <vt:lpstr>Motivation</vt:lpstr>
      <vt:lpstr>Out of core computation</vt:lpstr>
      <vt:lpstr>Dask solution</vt:lpstr>
      <vt:lpstr>Efficiency</vt:lpstr>
      <vt:lpstr>Data structures</vt:lpstr>
      <vt:lpstr>Dask: distributed computing</vt:lpstr>
      <vt:lpstr>Setting up &amp; executing</vt:lpstr>
      <vt:lpstr>Dask client</vt:lpstr>
      <vt:lpstr>Dask &amp; futures</vt:lpstr>
      <vt:lpstr>Dask conclusions</vt:lpstr>
      <vt:lpstr>References</vt:lpstr>
      <vt:lpstr>Distributed programming with Python using mpi4py</vt:lpstr>
      <vt:lpstr>Motivation</vt:lpstr>
      <vt:lpstr>What is MPI?</vt:lpstr>
      <vt:lpstr>Usage of MPI</vt:lpstr>
      <vt:lpstr>Hardware characteristics</vt:lpstr>
      <vt:lpstr>Programming model</vt:lpstr>
      <vt:lpstr>Hello world</vt:lpstr>
      <vt:lpstr>Communicators</vt:lpstr>
      <vt:lpstr>Hello again</vt:lpstr>
      <vt:lpstr>Communication</vt:lpstr>
      <vt:lpstr>Peer to peer: Python objects</vt:lpstr>
      <vt:lpstr>Anatomy of comm.ssend/comm.recv</vt:lpstr>
      <vt:lpstr>Semantics of comm.ssend/comm.recv</vt:lpstr>
      <vt:lpstr>Collective operations</vt:lpstr>
      <vt:lpstr>comm.bcast</vt:lpstr>
      <vt:lpstr>comm.scatter</vt:lpstr>
      <vt:lpstr>comm.gather</vt:lpstr>
      <vt:lpstr>comm.reduce</vt:lpstr>
      <vt:lpstr>comm.reduce operators</vt:lpstr>
      <vt:lpstr>comm.alltoall</vt:lpstr>
      <vt:lpstr>Example: calculate</vt:lpstr>
      <vt:lpstr>Implementation for calculating</vt:lpstr>
      <vt:lpstr>Data types</vt:lpstr>
      <vt:lpstr>comm.Ssend/comm.Recv</vt:lpstr>
      <vt:lpstr>comm.Reduce</vt:lpstr>
      <vt:lpstr>Limitations</vt:lpstr>
      <vt:lpstr>Topology</vt:lpstr>
      <vt:lpstr>comm.Create_cart</vt:lpstr>
      <vt:lpstr>Coordinates</vt:lpstr>
      <vt:lpstr>Halo exchange</vt:lpstr>
      <vt:lpstr>Halo exchange &amp; comm.Sendrecv</vt:lpstr>
      <vt:lpstr>Why the wait?</vt:lpstr>
      <vt:lpstr>comm.isend/comm.irecv &amp; wait</vt:lpstr>
      <vt:lpstr>Much more…</vt:lpstr>
      <vt:lpstr>Pitfalls</vt:lpstr>
      <vt:lpstr>mpi4py Conclusions</vt:lpstr>
      <vt:lpstr>pyspark</vt:lpstr>
      <vt:lpstr>The issue…</vt:lpstr>
      <vt:lpstr>The solution, take 1: Hadoop</vt:lpstr>
      <vt:lpstr>Problems</vt:lpstr>
      <vt:lpstr>The solution, take 2: Spark</vt:lpstr>
      <vt:lpstr>Architecture</vt:lpstr>
      <vt:lpstr>Creating RDDs</vt:lpstr>
      <vt:lpstr>Peeking at RDDs</vt:lpstr>
      <vt:lpstr>Simple operations on RDDs</vt:lpstr>
      <vt:lpstr>Set operations</vt:lpstr>
      <vt:lpstr>Key/value pairs</vt:lpstr>
      <vt:lpstr>Combining RDDs</vt:lpstr>
      <vt:lpstr>Broadcast variables</vt:lpstr>
      <vt:lpstr>Accumulators</vt:lpstr>
      <vt:lpstr>Seems simple?</vt:lpstr>
      <vt:lpstr>Shuffle</vt:lpstr>
      <vt:lpstr>Caching</vt:lpstr>
      <vt:lpstr>Much more…</vt:lpstr>
      <vt:lpstr>PySpark Conclusions</vt:lpstr>
      <vt:lpstr>I/O</vt:lpstr>
      <vt:lpstr>The issue…</vt:lpstr>
      <vt:lpstr>Illustration: numpy I/O</vt:lpstr>
      <vt:lpstr>Distributed I/O</vt:lpstr>
      <vt:lpstr>HDF5: what is it?</vt:lpstr>
      <vt:lpstr>HDF5 data</vt:lpstr>
      <vt:lpstr>HDF5 storage</vt:lpstr>
      <vt:lpstr>HDF5: how to use it?</vt:lpstr>
      <vt:lpstr>h5py: importing modules</vt:lpstr>
      <vt:lpstr>Open &amp; close HDF5 file</vt:lpstr>
      <vt:lpstr>Creating a group</vt:lpstr>
      <vt:lpstr>Adding a dataset</vt:lpstr>
      <vt:lpstr>Adding an 2D array</vt:lpstr>
      <vt:lpstr>Metadata annotations</vt:lpstr>
      <vt:lpstr>Reading an array </vt:lpstr>
      <vt:lpstr>Parallel I/O with HDF5</vt:lpstr>
      <vt:lpstr>HDF5 command line utilities</vt:lpstr>
      <vt:lpstr>Data science &amp; large files</vt:lpstr>
      <vt:lpstr>Conclusions</vt:lpstr>
    </vt:vector>
  </TitlesOfParts>
  <Company>KU Leuven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&amp; HPC</dc:title>
  <dc:creator>Geert Jan Bex</dc:creator>
  <cp:lastModifiedBy>Geert Jan Bex</cp:lastModifiedBy>
  <cp:revision>190</cp:revision>
  <dcterms:created xsi:type="dcterms:W3CDTF">2016-03-16T14:21:03Z</dcterms:created>
  <dcterms:modified xsi:type="dcterms:W3CDTF">2025-12-09T07:29:13Z</dcterms:modified>
</cp:coreProperties>
</file>